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Lst>
  <p:sldSz cx="18288000" cy="10287000"/>
  <p:notesSz cx="6858000" cy="9144000"/>
  <p:embeddedFontLst>
    <p:embeddedFont>
      <p:font typeface="Ramabhadra" panose="020B0604020202020204" charset="0"/>
      <p:regular r:id="rId16"/>
    </p:embeddedFont>
    <p:embeddedFont>
      <p:font typeface="Roboto" panose="02000000000000000000" pitchFamily="2" charset="0"/>
      <p:regular r:id="rId17"/>
    </p:embeddedFont>
    <p:embeddedFont>
      <p:font typeface="Roboto Bold" panose="02000000000000000000"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38"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128113" y="350591"/>
            <a:ext cx="15854591" cy="1585459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D7B">
                <a:alpha val="4706"/>
              </a:srgbClr>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5400000">
            <a:off x="7886577" y="-7216886"/>
            <a:ext cx="3415416" cy="19188571"/>
            <a:chOff x="0" y="0"/>
            <a:chExt cx="899533" cy="5053780"/>
          </a:xfrm>
        </p:grpSpPr>
        <p:sp>
          <p:nvSpPr>
            <p:cNvPr id="6" name="Freeform 6"/>
            <p:cNvSpPr/>
            <p:nvPr/>
          </p:nvSpPr>
          <p:spPr>
            <a:xfrm>
              <a:off x="0" y="0"/>
              <a:ext cx="899533" cy="5053780"/>
            </a:xfrm>
            <a:custGeom>
              <a:avLst/>
              <a:gdLst/>
              <a:ahLst/>
              <a:cxnLst/>
              <a:rect l="l" t="t" r="r" b="b"/>
              <a:pathLst>
                <a:path w="899533" h="5053780">
                  <a:moveTo>
                    <a:pt x="0" y="0"/>
                  </a:moveTo>
                  <a:lnTo>
                    <a:pt x="899533" y="0"/>
                  </a:lnTo>
                  <a:lnTo>
                    <a:pt x="899533" y="5053780"/>
                  </a:lnTo>
                  <a:lnTo>
                    <a:pt x="0" y="5053780"/>
                  </a:lnTo>
                  <a:close/>
                </a:path>
              </a:pathLst>
            </a:custGeom>
            <a:gradFill rotWithShape="1">
              <a:gsLst>
                <a:gs pos="0">
                  <a:srgbClr val="0092C8">
                    <a:alpha val="100000"/>
                  </a:srgbClr>
                </a:gs>
                <a:gs pos="100000">
                  <a:srgbClr val="FFFFFF">
                    <a:alpha val="0"/>
                  </a:srgbClr>
                </a:gs>
              </a:gsLst>
              <a:lin ang="0"/>
            </a:gradFill>
          </p:spPr>
        </p:sp>
        <p:sp>
          <p:nvSpPr>
            <p:cNvPr id="7" name="TextBox 7"/>
            <p:cNvSpPr txBox="1"/>
            <p:nvPr/>
          </p:nvSpPr>
          <p:spPr>
            <a:xfrm>
              <a:off x="0" y="-38100"/>
              <a:ext cx="899533" cy="509188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rot="5400000">
            <a:off x="2650730" y="3890011"/>
            <a:ext cx="2646389" cy="8933278"/>
            <a:chOff x="0" y="0"/>
            <a:chExt cx="696991" cy="2352798"/>
          </a:xfrm>
        </p:grpSpPr>
        <p:sp>
          <p:nvSpPr>
            <p:cNvPr id="9" name="Freeform 9"/>
            <p:cNvSpPr/>
            <p:nvPr/>
          </p:nvSpPr>
          <p:spPr>
            <a:xfrm>
              <a:off x="0" y="0"/>
              <a:ext cx="696991" cy="2352798"/>
            </a:xfrm>
            <a:custGeom>
              <a:avLst/>
              <a:gdLst/>
              <a:ahLst/>
              <a:cxnLst/>
              <a:rect l="l" t="t" r="r" b="b"/>
              <a:pathLst>
                <a:path w="696991" h="2352798">
                  <a:moveTo>
                    <a:pt x="0" y="0"/>
                  </a:moveTo>
                  <a:lnTo>
                    <a:pt x="696991" y="0"/>
                  </a:lnTo>
                  <a:lnTo>
                    <a:pt x="696991" y="2352798"/>
                  </a:lnTo>
                  <a:lnTo>
                    <a:pt x="0" y="2352798"/>
                  </a:lnTo>
                  <a:close/>
                </a:path>
              </a:pathLst>
            </a:custGeom>
            <a:gradFill rotWithShape="1">
              <a:gsLst>
                <a:gs pos="0">
                  <a:srgbClr val="0092C8">
                    <a:alpha val="100000"/>
                  </a:srgbClr>
                </a:gs>
                <a:gs pos="100000">
                  <a:srgbClr val="FFFFFF">
                    <a:alpha val="0"/>
                  </a:srgbClr>
                </a:gs>
              </a:gsLst>
              <a:lin ang="0"/>
            </a:gradFill>
          </p:spPr>
        </p:sp>
        <p:sp>
          <p:nvSpPr>
            <p:cNvPr id="10" name="TextBox 10"/>
            <p:cNvSpPr txBox="1"/>
            <p:nvPr/>
          </p:nvSpPr>
          <p:spPr>
            <a:xfrm>
              <a:off x="0" y="-38100"/>
              <a:ext cx="696991" cy="2390898"/>
            </a:xfrm>
            <a:prstGeom prst="rect">
              <a:avLst/>
            </a:prstGeom>
          </p:spPr>
          <p:txBody>
            <a:bodyPr lIns="50800" tIns="50800" rIns="50800" bIns="50800" rtlCol="0" anchor="ctr"/>
            <a:lstStyle/>
            <a:p>
              <a:pPr marL="0" lvl="0" indent="0" algn="ctr">
                <a:lnSpc>
                  <a:spcPts val="2659"/>
                </a:lnSpc>
              </a:pPr>
              <a:endParaRPr/>
            </a:p>
          </p:txBody>
        </p:sp>
      </p:grpSp>
      <p:grpSp>
        <p:nvGrpSpPr>
          <p:cNvPr id="11" name="Group 11"/>
          <p:cNvGrpSpPr/>
          <p:nvPr/>
        </p:nvGrpSpPr>
        <p:grpSpPr>
          <a:xfrm>
            <a:off x="-935601" y="2736408"/>
            <a:ext cx="12156235" cy="5582288"/>
            <a:chOff x="0" y="0"/>
            <a:chExt cx="6351016" cy="2916462"/>
          </a:xfrm>
        </p:grpSpPr>
        <p:sp>
          <p:nvSpPr>
            <p:cNvPr id="12" name="Freeform 12"/>
            <p:cNvSpPr/>
            <p:nvPr/>
          </p:nvSpPr>
          <p:spPr>
            <a:xfrm>
              <a:off x="-58" y="3254"/>
              <a:ext cx="6351044" cy="2898084"/>
            </a:xfrm>
            <a:custGeom>
              <a:avLst/>
              <a:gdLst/>
              <a:ahLst/>
              <a:cxnLst/>
              <a:rect l="l" t="t" r="r" b="b"/>
              <a:pathLst>
                <a:path w="6351044" h="2898084">
                  <a:moveTo>
                    <a:pt x="5167307" y="2642249"/>
                  </a:moveTo>
                  <a:cubicBezTo>
                    <a:pt x="4705535" y="2658496"/>
                    <a:pt x="4236524" y="2724205"/>
                    <a:pt x="3754813" y="2625281"/>
                  </a:cubicBezTo>
                  <a:cubicBezTo>
                    <a:pt x="3585649" y="2724747"/>
                    <a:pt x="3397308" y="2651998"/>
                    <a:pt x="3199950" y="2624198"/>
                  </a:cubicBezTo>
                  <a:cubicBezTo>
                    <a:pt x="2897944" y="2677270"/>
                    <a:pt x="2508308" y="2654164"/>
                    <a:pt x="2015929" y="2720956"/>
                  </a:cubicBezTo>
                  <a:cubicBezTo>
                    <a:pt x="1688904" y="2733231"/>
                    <a:pt x="1373436" y="2731967"/>
                    <a:pt x="1034854" y="2792802"/>
                  </a:cubicBezTo>
                  <a:cubicBezTo>
                    <a:pt x="847529" y="2792983"/>
                    <a:pt x="646488" y="2786484"/>
                    <a:pt x="451797" y="2834863"/>
                  </a:cubicBezTo>
                  <a:cubicBezTo>
                    <a:pt x="-141166" y="2948133"/>
                    <a:pt x="34856" y="3017348"/>
                    <a:pt x="1328" y="2048342"/>
                  </a:cubicBezTo>
                  <a:cubicBezTo>
                    <a:pt x="16314" y="1596143"/>
                    <a:pt x="-7054" y="1093578"/>
                    <a:pt x="7424" y="584154"/>
                  </a:cubicBezTo>
                  <a:cubicBezTo>
                    <a:pt x="3614" y="463929"/>
                    <a:pt x="-196" y="316806"/>
                    <a:pt x="7678" y="176001"/>
                  </a:cubicBezTo>
                  <a:cubicBezTo>
                    <a:pt x="8821" y="131594"/>
                    <a:pt x="-48456" y="-36020"/>
                    <a:pt x="133408" y="25448"/>
                  </a:cubicBezTo>
                  <a:cubicBezTo>
                    <a:pt x="308033" y="72203"/>
                    <a:pt x="494723" y="29059"/>
                    <a:pt x="666808" y="83034"/>
                  </a:cubicBezTo>
                  <a:cubicBezTo>
                    <a:pt x="758121" y="29239"/>
                    <a:pt x="854260" y="-22558"/>
                    <a:pt x="964750" y="21477"/>
                  </a:cubicBezTo>
                  <a:cubicBezTo>
                    <a:pt x="1098354" y="-20780"/>
                    <a:pt x="1254310" y="10826"/>
                    <a:pt x="1399217" y="19672"/>
                  </a:cubicBezTo>
                  <a:cubicBezTo>
                    <a:pt x="1539552" y="-36020"/>
                    <a:pt x="1776534" y="82492"/>
                    <a:pt x="2055172" y="24726"/>
                  </a:cubicBezTo>
                  <a:cubicBezTo>
                    <a:pt x="2267262" y="174377"/>
                    <a:pt x="2502212" y="9021"/>
                    <a:pt x="2851081" y="141703"/>
                  </a:cubicBezTo>
                  <a:cubicBezTo>
                    <a:pt x="2911914" y="146035"/>
                    <a:pt x="2964492" y="169503"/>
                    <a:pt x="3102287" y="131233"/>
                  </a:cubicBezTo>
                  <a:cubicBezTo>
                    <a:pt x="3179757" y="190082"/>
                    <a:pt x="3272086" y="209036"/>
                    <a:pt x="3397054" y="239363"/>
                  </a:cubicBezTo>
                  <a:cubicBezTo>
                    <a:pt x="3441250" y="287923"/>
                    <a:pt x="3554407" y="125997"/>
                    <a:pt x="3753670" y="222214"/>
                  </a:cubicBezTo>
                  <a:cubicBezTo>
                    <a:pt x="3808915" y="240266"/>
                    <a:pt x="3830759" y="153075"/>
                    <a:pt x="4076631" y="239002"/>
                  </a:cubicBezTo>
                  <a:cubicBezTo>
                    <a:pt x="4174421" y="382876"/>
                    <a:pt x="4238810" y="251278"/>
                    <a:pt x="4457631" y="295144"/>
                  </a:cubicBezTo>
                  <a:cubicBezTo>
                    <a:pt x="4501192" y="272759"/>
                    <a:pt x="4549579" y="311210"/>
                    <a:pt x="4603046" y="346230"/>
                  </a:cubicBezTo>
                  <a:cubicBezTo>
                    <a:pt x="4689914" y="341898"/>
                    <a:pt x="4789355" y="337746"/>
                    <a:pt x="4899972" y="359228"/>
                  </a:cubicBezTo>
                  <a:cubicBezTo>
                    <a:pt x="5029004" y="300740"/>
                    <a:pt x="5169212" y="302184"/>
                    <a:pt x="5311071" y="407787"/>
                  </a:cubicBezTo>
                  <a:cubicBezTo>
                    <a:pt x="5399082" y="442266"/>
                    <a:pt x="5489506" y="389374"/>
                    <a:pt x="5599234" y="371503"/>
                  </a:cubicBezTo>
                  <a:cubicBezTo>
                    <a:pt x="5671116" y="402913"/>
                    <a:pt x="5757984" y="431796"/>
                    <a:pt x="5852218" y="440461"/>
                  </a:cubicBezTo>
                  <a:cubicBezTo>
                    <a:pt x="5911527" y="423492"/>
                    <a:pt x="5975154" y="479092"/>
                    <a:pt x="6041956" y="465192"/>
                  </a:cubicBezTo>
                  <a:cubicBezTo>
                    <a:pt x="6094915" y="415550"/>
                    <a:pt x="6157526" y="402552"/>
                    <a:pt x="6237282" y="463568"/>
                  </a:cubicBezTo>
                  <a:cubicBezTo>
                    <a:pt x="6379395" y="507975"/>
                    <a:pt x="6340533" y="511947"/>
                    <a:pt x="6350566" y="895549"/>
                  </a:cubicBezTo>
                  <a:cubicBezTo>
                    <a:pt x="6339009" y="1398114"/>
                    <a:pt x="6351328" y="1910787"/>
                    <a:pt x="6346883" y="2448914"/>
                  </a:cubicBezTo>
                  <a:cubicBezTo>
                    <a:pt x="6335199" y="2791719"/>
                    <a:pt x="6535097" y="2641527"/>
                    <a:pt x="5167307" y="2642249"/>
                  </a:cubicBezTo>
                  <a:close/>
                </a:path>
              </a:pathLst>
            </a:custGeom>
            <a:blipFill>
              <a:blip r:embed="rId2"/>
              <a:stretch>
                <a:fillRect t="-22911" b="-23321"/>
              </a:stretch>
            </a:blipFill>
          </p:spPr>
        </p:sp>
      </p:grpSp>
      <p:grpSp>
        <p:nvGrpSpPr>
          <p:cNvPr id="13" name="Group 13"/>
          <p:cNvGrpSpPr/>
          <p:nvPr/>
        </p:nvGrpSpPr>
        <p:grpSpPr>
          <a:xfrm>
            <a:off x="7006102" y="1228580"/>
            <a:ext cx="14098611" cy="1409861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D7B">
                <a:alpha val="12941"/>
              </a:srgbClr>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16" name="Group 16"/>
          <p:cNvGrpSpPr/>
          <p:nvPr/>
        </p:nvGrpSpPr>
        <p:grpSpPr>
          <a:xfrm>
            <a:off x="12754590" y="669691"/>
            <a:ext cx="4504710" cy="718017"/>
            <a:chOff x="0" y="0"/>
            <a:chExt cx="1186426" cy="189107"/>
          </a:xfrm>
        </p:grpSpPr>
        <p:sp>
          <p:nvSpPr>
            <p:cNvPr id="17" name="Freeform 17"/>
            <p:cNvSpPr/>
            <p:nvPr/>
          </p:nvSpPr>
          <p:spPr>
            <a:xfrm>
              <a:off x="0" y="0"/>
              <a:ext cx="1186426" cy="189107"/>
            </a:xfrm>
            <a:custGeom>
              <a:avLst/>
              <a:gdLst/>
              <a:ahLst/>
              <a:cxnLst/>
              <a:rect l="l" t="t" r="r" b="b"/>
              <a:pathLst>
                <a:path w="1186426" h="189107">
                  <a:moveTo>
                    <a:pt x="94554" y="0"/>
                  </a:moveTo>
                  <a:lnTo>
                    <a:pt x="1091872" y="0"/>
                  </a:lnTo>
                  <a:cubicBezTo>
                    <a:pt x="1116949" y="0"/>
                    <a:pt x="1140999" y="9962"/>
                    <a:pt x="1158732" y="27694"/>
                  </a:cubicBezTo>
                  <a:cubicBezTo>
                    <a:pt x="1176464" y="45426"/>
                    <a:pt x="1186426" y="69477"/>
                    <a:pt x="1186426" y="94554"/>
                  </a:cubicBezTo>
                  <a:lnTo>
                    <a:pt x="1186426" y="94554"/>
                  </a:lnTo>
                  <a:cubicBezTo>
                    <a:pt x="1186426" y="119631"/>
                    <a:pt x="1176464" y="143681"/>
                    <a:pt x="1158732" y="161413"/>
                  </a:cubicBezTo>
                  <a:cubicBezTo>
                    <a:pt x="1140999" y="179146"/>
                    <a:pt x="1116949" y="189107"/>
                    <a:pt x="1091872" y="189107"/>
                  </a:cubicBezTo>
                  <a:lnTo>
                    <a:pt x="94554" y="189107"/>
                  </a:lnTo>
                  <a:cubicBezTo>
                    <a:pt x="69477" y="189107"/>
                    <a:pt x="45426" y="179146"/>
                    <a:pt x="27694" y="161413"/>
                  </a:cubicBezTo>
                  <a:cubicBezTo>
                    <a:pt x="9962" y="143681"/>
                    <a:pt x="0" y="119631"/>
                    <a:pt x="0" y="94554"/>
                  </a:cubicBezTo>
                  <a:lnTo>
                    <a:pt x="0" y="94554"/>
                  </a:lnTo>
                  <a:cubicBezTo>
                    <a:pt x="0" y="69477"/>
                    <a:pt x="9962" y="45426"/>
                    <a:pt x="27694" y="27694"/>
                  </a:cubicBezTo>
                  <a:cubicBezTo>
                    <a:pt x="45426" y="9962"/>
                    <a:pt x="69477" y="0"/>
                    <a:pt x="94554" y="0"/>
                  </a:cubicBezTo>
                  <a:close/>
                </a:path>
              </a:pathLst>
            </a:custGeom>
            <a:solidFill>
              <a:srgbClr val="0092C8"/>
            </a:solidFill>
          </p:spPr>
        </p:sp>
        <p:sp>
          <p:nvSpPr>
            <p:cNvPr id="18" name="TextBox 18"/>
            <p:cNvSpPr txBox="1"/>
            <p:nvPr/>
          </p:nvSpPr>
          <p:spPr>
            <a:xfrm>
              <a:off x="0" y="-38100"/>
              <a:ext cx="1186426" cy="227207"/>
            </a:xfrm>
            <a:prstGeom prst="rect">
              <a:avLst/>
            </a:prstGeom>
          </p:spPr>
          <p:txBody>
            <a:bodyPr lIns="50800" tIns="50800" rIns="50800" bIns="50800" rtlCol="0" anchor="ctr"/>
            <a:lstStyle/>
            <a:p>
              <a:pPr marL="0" lvl="0" indent="0" algn="ctr">
                <a:lnSpc>
                  <a:spcPts val="2659"/>
                </a:lnSpc>
              </a:pPr>
              <a:endParaRPr/>
            </a:p>
          </p:txBody>
        </p:sp>
      </p:grpSp>
      <p:grpSp>
        <p:nvGrpSpPr>
          <p:cNvPr id="19" name="Group 19"/>
          <p:cNvGrpSpPr/>
          <p:nvPr/>
        </p:nvGrpSpPr>
        <p:grpSpPr>
          <a:xfrm>
            <a:off x="7902529" y="2165816"/>
            <a:ext cx="12305759" cy="1230575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2C8"/>
            </a:solidFill>
          </p:spPr>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sp>
        <p:nvSpPr>
          <p:cNvPr id="22" name="TextBox 22"/>
          <p:cNvSpPr txBox="1"/>
          <p:nvPr/>
        </p:nvSpPr>
        <p:spPr>
          <a:xfrm>
            <a:off x="9594285" y="4720319"/>
            <a:ext cx="7733739" cy="1963802"/>
          </a:xfrm>
          <a:prstGeom prst="rect">
            <a:avLst/>
          </a:prstGeom>
        </p:spPr>
        <p:txBody>
          <a:bodyPr lIns="0" tIns="0" rIns="0" bIns="0" rtlCol="0" anchor="t">
            <a:spAutoFit/>
          </a:bodyPr>
          <a:lstStyle/>
          <a:p>
            <a:pPr marL="0" lvl="0" indent="0" algn="r">
              <a:lnSpc>
                <a:spcPts val="5065"/>
              </a:lnSpc>
            </a:pPr>
            <a:r>
              <a:rPr lang="en-US" sz="5506">
                <a:solidFill>
                  <a:srgbClr val="FFFFFF"/>
                </a:solidFill>
                <a:latin typeface="Ramabhadra"/>
                <a:ea typeface="Ramabhadra"/>
                <a:cs typeface="Ramabhadra"/>
                <a:sym typeface="Ramabhadra"/>
              </a:rPr>
              <a:t>HOSPITAL OPERATIONS &amp; PATIENT ANALYTICS</a:t>
            </a:r>
          </a:p>
        </p:txBody>
      </p:sp>
      <p:sp>
        <p:nvSpPr>
          <p:cNvPr id="23" name="TextBox 23"/>
          <p:cNvSpPr txBox="1"/>
          <p:nvPr/>
        </p:nvSpPr>
        <p:spPr>
          <a:xfrm>
            <a:off x="9584732" y="6985831"/>
            <a:ext cx="7674568" cy="666115"/>
          </a:xfrm>
          <a:prstGeom prst="rect">
            <a:avLst/>
          </a:prstGeom>
        </p:spPr>
        <p:txBody>
          <a:bodyPr lIns="0" tIns="0" rIns="0" bIns="0" rtlCol="0" anchor="t">
            <a:spAutoFit/>
          </a:bodyPr>
          <a:lstStyle/>
          <a:p>
            <a:pPr marL="0" lvl="0" indent="0" algn="just">
              <a:lnSpc>
                <a:spcPts val="2659"/>
              </a:lnSpc>
              <a:spcBef>
                <a:spcPct val="0"/>
              </a:spcBef>
            </a:pPr>
            <a:r>
              <a:rPr lang="en-US" sz="1899">
                <a:solidFill>
                  <a:srgbClr val="FFFFFF"/>
                </a:solidFill>
                <a:latin typeface="Roboto"/>
                <a:ea typeface="Roboto"/>
                <a:cs typeface="Roboto"/>
                <a:sym typeface="Roboto"/>
              </a:rPr>
              <a:t>A Tableau Dashboard for Hospital Management | Operational Insights · Patient Flow · Resource Utilization · KPI Monitoring</a:t>
            </a:r>
          </a:p>
        </p:txBody>
      </p:sp>
      <p:sp>
        <p:nvSpPr>
          <p:cNvPr id="24" name="TextBox 24"/>
          <p:cNvSpPr txBox="1"/>
          <p:nvPr/>
        </p:nvSpPr>
        <p:spPr>
          <a:xfrm>
            <a:off x="12908304" y="771670"/>
            <a:ext cx="4197282" cy="456958"/>
          </a:xfrm>
          <a:prstGeom prst="rect">
            <a:avLst/>
          </a:prstGeom>
        </p:spPr>
        <p:txBody>
          <a:bodyPr lIns="0" tIns="0" rIns="0" bIns="0" rtlCol="0" anchor="t">
            <a:spAutoFit/>
          </a:bodyPr>
          <a:lstStyle/>
          <a:p>
            <a:pPr marL="0" lvl="0" indent="0" algn="ctr">
              <a:lnSpc>
                <a:spcPts val="3688"/>
              </a:lnSpc>
              <a:spcBef>
                <a:spcPct val="0"/>
              </a:spcBef>
            </a:pPr>
            <a:r>
              <a:rPr lang="en-US" sz="2634" b="1">
                <a:solidFill>
                  <a:srgbClr val="FFFFFF"/>
                </a:solidFill>
                <a:latin typeface="Roboto Bold"/>
                <a:ea typeface="Roboto Bold"/>
                <a:cs typeface="Roboto Bold"/>
                <a:sym typeface="Roboto Bold"/>
              </a:rPr>
              <a:t>Core Health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679154" y="2002059"/>
            <a:ext cx="21043921" cy="10565045"/>
            <a:chOff x="0" y="0"/>
            <a:chExt cx="834782" cy="419100"/>
          </a:xfrm>
        </p:grpSpPr>
        <p:sp>
          <p:nvSpPr>
            <p:cNvPr id="3" name="Freeform 3"/>
            <p:cNvSpPr/>
            <p:nvPr/>
          </p:nvSpPr>
          <p:spPr>
            <a:xfrm>
              <a:off x="6121" y="0"/>
              <a:ext cx="822540" cy="419100"/>
            </a:xfrm>
            <a:custGeom>
              <a:avLst/>
              <a:gdLst/>
              <a:ahLst/>
              <a:cxnLst/>
              <a:rect l="l" t="t" r="r" b="b"/>
              <a:pathLst>
                <a:path w="822540" h="419100">
                  <a:moveTo>
                    <a:pt x="22046" y="0"/>
                  </a:moveTo>
                  <a:lnTo>
                    <a:pt x="800494" y="0"/>
                  </a:lnTo>
                  <a:cubicBezTo>
                    <a:pt x="807273" y="0"/>
                    <a:pt x="813676" y="3119"/>
                    <a:pt x="817855" y="8458"/>
                  </a:cubicBezTo>
                  <a:cubicBezTo>
                    <a:pt x="822033" y="13797"/>
                    <a:pt x="823523" y="20761"/>
                    <a:pt x="821894" y="27342"/>
                  </a:cubicBezTo>
                  <a:lnTo>
                    <a:pt x="731710" y="391758"/>
                  </a:lnTo>
                  <a:cubicBezTo>
                    <a:pt x="727736" y="407819"/>
                    <a:pt x="713322" y="419100"/>
                    <a:pt x="696777" y="419100"/>
                  </a:cubicBezTo>
                  <a:lnTo>
                    <a:pt x="125763" y="419100"/>
                  </a:lnTo>
                  <a:cubicBezTo>
                    <a:pt x="109217" y="419100"/>
                    <a:pt x="94804" y="407819"/>
                    <a:pt x="90829" y="391758"/>
                  </a:cubicBezTo>
                  <a:lnTo>
                    <a:pt x="645" y="27342"/>
                  </a:lnTo>
                  <a:cubicBezTo>
                    <a:pt x="-983" y="20761"/>
                    <a:pt x="507" y="13797"/>
                    <a:pt x="4685" y="8458"/>
                  </a:cubicBezTo>
                  <a:cubicBezTo>
                    <a:pt x="8864" y="3119"/>
                    <a:pt x="15266" y="0"/>
                    <a:pt x="22046" y="0"/>
                  </a:cubicBezTo>
                  <a:close/>
                </a:path>
              </a:pathLst>
            </a:custGeom>
            <a:solidFill>
              <a:srgbClr val="0B5D7B"/>
            </a:solidFill>
          </p:spPr>
        </p:sp>
        <p:sp>
          <p:nvSpPr>
            <p:cNvPr id="4" name="TextBox 4"/>
            <p:cNvSpPr txBox="1"/>
            <p:nvPr/>
          </p:nvSpPr>
          <p:spPr>
            <a:xfrm>
              <a:off x="127000" y="-38100"/>
              <a:ext cx="580782" cy="4572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rot="-10800000">
            <a:off x="8052040" y="-6305075"/>
            <a:ext cx="14929090" cy="10054285"/>
            <a:chOff x="0" y="0"/>
            <a:chExt cx="622300" cy="419100"/>
          </a:xfrm>
        </p:grpSpPr>
        <p:sp>
          <p:nvSpPr>
            <p:cNvPr id="6" name="Freeform 6"/>
            <p:cNvSpPr/>
            <p:nvPr/>
          </p:nvSpPr>
          <p:spPr>
            <a:xfrm>
              <a:off x="8628" y="0"/>
              <a:ext cx="605045" cy="419100"/>
            </a:xfrm>
            <a:custGeom>
              <a:avLst/>
              <a:gdLst/>
              <a:ahLst/>
              <a:cxnLst/>
              <a:rect l="l" t="t" r="r" b="b"/>
              <a:pathLst>
                <a:path w="605045" h="419100">
                  <a:moveTo>
                    <a:pt x="31076" y="0"/>
                  </a:moveTo>
                  <a:lnTo>
                    <a:pt x="573968" y="0"/>
                  </a:lnTo>
                  <a:cubicBezTo>
                    <a:pt x="583525" y="0"/>
                    <a:pt x="592550" y="4397"/>
                    <a:pt x="598440" y="11922"/>
                  </a:cubicBezTo>
                  <a:cubicBezTo>
                    <a:pt x="604330" y="19448"/>
                    <a:pt x="606430" y="29265"/>
                    <a:pt x="604134" y="38541"/>
                  </a:cubicBezTo>
                  <a:lnTo>
                    <a:pt x="519493" y="380559"/>
                  </a:lnTo>
                  <a:cubicBezTo>
                    <a:pt x="513890" y="403198"/>
                    <a:pt x="493573" y="419100"/>
                    <a:pt x="470251" y="419100"/>
                  </a:cubicBezTo>
                  <a:lnTo>
                    <a:pt x="134792" y="419100"/>
                  </a:lnTo>
                  <a:cubicBezTo>
                    <a:pt x="111470" y="419100"/>
                    <a:pt x="91153" y="403198"/>
                    <a:pt x="85551" y="380559"/>
                  </a:cubicBezTo>
                  <a:lnTo>
                    <a:pt x="910" y="38541"/>
                  </a:lnTo>
                  <a:cubicBezTo>
                    <a:pt x="-1386" y="29265"/>
                    <a:pt x="714" y="19448"/>
                    <a:pt x="6604" y="11922"/>
                  </a:cubicBezTo>
                  <a:cubicBezTo>
                    <a:pt x="12494" y="4397"/>
                    <a:pt x="21519" y="0"/>
                    <a:pt x="31076" y="0"/>
                  </a:cubicBezTo>
                  <a:close/>
                </a:path>
              </a:pathLst>
            </a:custGeom>
            <a:solidFill>
              <a:srgbClr val="0092C8"/>
            </a:solidFill>
          </p:spPr>
        </p:sp>
        <p:sp>
          <p:nvSpPr>
            <p:cNvPr id="7" name="TextBox 7"/>
            <p:cNvSpPr txBox="1"/>
            <p:nvPr/>
          </p:nvSpPr>
          <p:spPr>
            <a:xfrm>
              <a:off x="127000" y="-38100"/>
              <a:ext cx="368300" cy="4572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788312" y="3012758"/>
            <a:ext cx="6245542" cy="624554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sp>
      </p:grpSp>
      <p:sp>
        <p:nvSpPr>
          <p:cNvPr id="10" name="TextBox 10"/>
          <p:cNvSpPr txBox="1"/>
          <p:nvPr/>
        </p:nvSpPr>
        <p:spPr>
          <a:xfrm>
            <a:off x="7367905" y="1557524"/>
            <a:ext cx="9891395" cy="1095335"/>
          </a:xfrm>
          <a:prstGeom prst="rect">
            <a:avLst/>
          </a:prstGeom>
        </p:spPr>
        <p:txBody>
          <a:bodyPr lIns="0" tIns="0" rIns="0" bIns="0" rtlCol="0" anchor="t">
            <a:spAutoFit/>
          </a:bodyPr>
          <a:lstStyle/>
          <a:p>
            <a:pPr marL="0" lvl="0" indent="0" algn="r">
              <a:lnSpc>
                <a:spcPts val="8543"/>
              </a:lnSpc>
            </a:pPr>
            <a:r>
              <a:rPr lang="en-US" sz="7494">
                <a:solidFill>
                  <a:srgbClr val="FFFFFF"/>
                </a:solidFill>
                <a:latin typeface="Ramabhadra"/>
                <a:ea typeface="Ramabhadra"/>
                <a:cs typeface="Ramabhadra"/>
                <a:sym typeface="Ramabhadra"/>
              </a:rPr>
              <a:t>THE PROBLEM</a:t>
            </a:r>
          </a:p>
        </p:txBody>
      </p:sp>
      <p:sp>
        <p:nvSpPr>
          <p:cNvPr id="11" name="TextBox 11"/>
          <p:cNvSpPr txBox="1"/>
          <p:nvPr/>
        </p:nvSpPr>
        <p:spPr>
          <a:xfrm>
            <a:off x="8052040" y="4305245"/>
            <a:ext cx="9207260" cy="4568592"/>
          </a:xfrm>
          <a:prstGeom prst="rect">
            <a:avLst/>
          </a:prstGeom>
        </p:spPr>
        <p:txBody>
          <a:bodyPr lIns="0" tIns="0" rIns="0" bIns="0" rtlCol="0" anchor="t">
            <a:spAutoFit/>
          </a:bodyPr>
          <a:lstStyle/>
          <a:p>
            <a:pPr marL="0" lvl="0" indent="0" algn="just">
              <a:lnSpc>
                <a:spcPts val="2287"/>
              </a:lnSpc>
              <a:spcBef>
                <a:spcPct val="0"/>
              </a:spcBef>
            </a:pPr>
            <a:r>
              <a:rPr lang="en-US" sz="1634">
                <a:solidFill>
                  <a:srgbClr val="FFFFFF"/>
                </a:solidFill>
                <a:latin typeface="Roboto"/>
                <a:ea typeface="Roboto"/>
                <a:cs typeface="Roboto"/>
                <a:sym typeface="Roboto"/>
              </a:rPr>
              <a:t>Hospital administrators and clinical managers face critical challenges in monitoring and optimizing operations across multiple departments simultaneously. Without a unified analytical view, key decisions are delayed and inefficiencies go undetected.</a:t>
            </a:r>
          </a:p>
          <a:p>
            <a:pPr marL="0" lvl="0" indent="0" algn="just">
              <a:lnSpc>
                <a:spcPts val="2287"/>
              </a:lnSpc>
              <a:spcBef>
                <a:spcPct val="0"/>
              </a:spcBef>
            </a:pPr>
            <a:r>
              <a:rPr lang="en-US" sz="1634">
                <a:solidFill>
                  <a:srgbClr val="FFFFFF"/>
                </a:solidFill>
                <a:latin typeface="Roboto"/>
                <a:ea typeface="Roboto"/>
                <a:cs typeface="Roboto"/>
                <a:sym typeface="Roboto"/>
              </a:rPr>
              <a:t>Core challenges include:</a:t>
            </a:r>
          </a:p>
          <a:p>
            <a:pPr marL="0" lvl="0" indent="0" algn="just">
              <a:lnSpc>
                <a:spcPts val="2287"/>
              </a:lnSpc>
              <a:spcBef>
                <a:spcPct val="0"/>
              </a:spcBef>
            </a:pPr>
            <a:r>
              <a:rPr lang="en-US" sz="1634">
                <a:solidFill>
                  <a:srgbClr val="FFFFFF"/>
                </a:solidFill>
                <a:latin typeface="Roboto"/>
                <a:ea typeface="Roboto"/>
                <a:cs typeface="Roboto"/>
                <a:sym typeface="Roboto"/>
              </a:rPr>
              <a:t>• Patient Flow: Admissions, discharges, and transfers lack real-time visibility, leading to bottlenecks and extended wait times.</a:t>
            </a:r>
          </a:p>
          <a:p>
            <a:pPr marL="0" lvl="0" indent="0" algn="just">
              <a:lnSpc>
                <a:spcPts val="2287"/>
              </a:lnSpc>
              <a:spcBef>
                <a:spcPct val="0"/>
              </a:spcBef>
            </a:pPr>
            <a:r>
              <a:rPr lang="en-US" sz="1634">
                <a:solidFill>
                  <a:srgbClr val="FFFFFF"/>
                </a:solidFill>
                <a:latin typeface="Roboto"/>
                <a:ea typeface="Roboto"/>
                <a:cs typeface="Roboto"/>
                <a:sym typeface="Roboto"/>
              </a:rPr>
              <a:t>• Demand Forecasting: Seasonal and weekly patient volume trends are not systematically tracked, making staffing and resource planning reactive rather than proactive.</a:t>
            </a:r>
          </a:p>
          <a:p>
            <a:pPr marL="0" lvl="0" indent="0" algn="just">
              <a:lnSpc>
                <a:spcPts val="2287"/>
              </a:lnSpc>
              <a:spcBef>
                <a:spcPct val="0"/>
              </a:spcBef>
            </a:pPr>
            <a:r>
              <a:rPr lang="en-US" sz="1634">
                <a:solidFill>
                  <a:srgbClr val="FFFFFF"/>
                </a:solidFill>
                <a:latin typeface="Roboto"/>
                <a:ea typeface="Roboto"/>
                <a:cs typeface="Roboto"/>
                <a:sym typeface="Roboto"/>
              </a:rPr>
              <a:t>• Department Performance: No consolidated view exists to compare utilization rates, patient outcomes, and throughput across departments.</a:t>
            </a:r>
          </a:p>
          <a:p>
            <a:pPr marL="0" lvl="0" indent="0" algn="just">
              <a:lnSpc>
                <a:spcPts val="2287"/>
              </a:lnSpc>
              <a:spcBef>
                <a:spcPct val="0"/>
              </a:spcBef>
            </a:pPr>
            <a:r>
              <a:rPr lang="en-US" sz="1634">
                <a:solidFill>
                  <a:srgbClr val="FFFFFF"/>
                </a:solidFill>
                <a:latin typeface="Roboto"/>
                <a:ea typeface="Roboto"/>
                <a:cs typeface="Roboto"/>
                <a:sym typeface="Roboto"/>
              </a:rPr>
              <a:t>• Resource Utilization: Bed occupancy, equipment usage, and staff allocation are managed in silos, resulting in underuse or overload.</a:t>
            </a:r>
          </a:p>
          <a:p>
            <a:pPr marL="0" lvl="0" indent="0" algn="just">
              <a:lnSpc>
                <a:spcPts val="2287"/>
              </a:lnSpc>
              <a:spcBef>
                <a:spcPct val="0"/>
              </a:spcBef>
            </a:pPr>
            <a:r>
              <a:rPr lang="en-US" sz="1634">
                <a:solidFill>
                  <a:srgbClr val="FFFFFF"/>
                </a:solidFill>
                <a:latin typeface="Roboto"/>
                <a:ea typeface="Roboto"/>
                <a:cs typeface="Roboto"/>
                <a:sym typeface="Roboto"/>
              </a:rPr>
              <a:t>• Patient Characteristics: Demographics, diagnoses, and length-of-stay patterns are not synthesized to support targeted care improvements.</a:t>
            </a:r>
          </a:p>
          <a:p>
            <a:pPr marL="0" lvl="0" indent="0" algn="just">
              <a:lnSpc>
                <a:spcPts val="2287"/>
              </a:lnSpc>
              <a:spcBef>
                <a:spcPct val="0"/>
              </a:spcBef>
            </a:pPr>
            <a:r>
              <a:rPr lang="en-US" sz="1634">
                <a:solidFill>
                  <a:srgbClr val="FFFFFF"/>
                </a:solidFill>
                <a:latin typeface="Roboto"/>
                <a:ea typeface="Roboto"/>
                <a:cs typeface="Roboto"/>
                <a:sym typeface="Roboto"/>
              </a:rPr>
              <a:t>A centralized Hospital Operations &amp; Patient Analytics Dashboard is essential to give management the unified, data-driven visibility needed for informed, timely decisions.</a:t>
            </a:r>
          </a:p>
        </p:txBody>
      </p:sp>
      <p:sp>
        <p:nvSpPr>
          <p:cNvPr id="12" name="TextBox 12"/>
          <p:cNvSpPr txBox="1"/>
          <p:nvPr/>
        </p:nvSpPr>
        <p:spPr>
          <a:xfrm>
            <a:off x="1812442" y="1062513"/>
            <a:ext cx="4197282" cy="456958"/>
          </a:xfrm>
          <a:prstGeom prst="rect">
            <a:avLst/>
          </a:prstGeom>
        </p:spPr>
        <p:txBody>
          <a:bodyPr lIns="0" tIns="0" rIns="0" bIns="0" rtlCol="0" anchor="t">
            <a:spAutoFit/>
          </a:bodyPr>
          <a:lstStyle/>
          <a:p>
            <a:pPr marL="0" lvl="0" indent="0" algn="l">
              <a:lnSpc>
                <a:spcPts val="3688"/>
              </a:lnSpc>
              <a:spcBef>
                <a:spcPct val="0"/>
              </a:spcBef>
            </a:pPr>
            <a:r>
              <a:rPr lang="en-US" sz="2634" b="1">
                <a:solidFill>
                  <a:srgbClr val="0B5D7B"/>
                </a:solidFill>
                <a:latin typeface="Roboto Bold"/>
                <a:ea typeface="Roboto Bold"/>
                <a:cs typeface="Roboto Bold"/>
                <a:sym typeface="Roboto Bold"/>
              </a:rPr>
              <a:t>Core Health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92C8"/>
        </a:solidFill>
        <a:effectLst/>
      </p:bgPr>
    </p:bg>
    <p:spTree>
      <p:nvGrpSpPr>
        <p:cNvPr id="1" name=""/>
        <p:cNvGrpSpPr/>
        <p:nvPr/>
      </p:nvGrpSpPr>
      <p:grpSpPr>
        <a:xfrm>
          <a:off x="0" y="0"/>
          <a:ext cx="0" cy="0"/>
          <a:chOff x="0" y="0"/>
          <a:chExt cx="0" cy="0"/>
        </a:xfrm>
      </p:grpSpPr>
      <p:grpSp>
        <p:nvGrpSpPr>
          <p:cNvPr id="2" name="Group 2"/>
          <p:cNvGrpSpPr/>
          <p:nvPr/>
        </p:nvGrpSpPr>
        <p:grpSpPr>
          <a:xfrm>
            <a:off x="542826" y="4299237"/>
            <a:ext cx="5467416" cy="5467416"/>
            <a:chOff x="0" y="0"/>
            <a:chExt cx="558800" cy="558800"/>
          </a:xfrm>
        </p:grpSpPr>
        <p:sp>
          <p:nvSpPr>
            <p:cNvPr id="3" name="Freeform 3"/>
            <p:cNvSpPr/>
            <p:nvPr/>
          </p:nvSpPr>
          <p:spPr>
            <a:xfrm>
              <a:off x="0" y="0"/>
              <a:ext cx="558800" cy="558800"/>
            </a:xfrm>
            <a:prstGeom prst="roundRect">
              <a:avLst/>
            </a:prstGeom>
            <a:solidFill>
              <a:srgbClr val="0B5D7B"/>
            </a:solidFill>
          </p:spPr>
        </p:sp>
        <p:sp>
          <p:nvSpPr>
            <p:cNvPr id="4" name="TextBox 4"/>
            <p:cNvSpPr txBox="1"/>
            <p:nvPr/>
          </p:nvSpPr>
          <p:spPr>
            <a:xfrm>
              <a:off x="44450" y="6350"/>
              <a:ext cx="469900" cy="508000"/>
            </a:xfrm>
            <a:prstGeom prst="round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2555839">
            <a:off x="9099246" y="-268779"/>
            <a:ext cx="13022504" cy="13022504"/>
            <a:chOff x="0" y="0"/>
            <a:chExt cx="558800" cy="558800"/>
          </a:xfrm>
        </p:grpSpPr>
        <p:sp>
          <p:nvSpPr>
            <p:cNvPr id="6" name="Freeform 6"/>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FFFFF"/>
            </a:solidFill>
          </p:spPr>
        </p:sp>
        <p:sp>
          <p:nvSpPr>
            <p:cNvPr id="7" name="TextBox 7"/>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1812442" y="1795649"/>
            <a:ext cx="8512818" cy="1857208"/>
          </a:xfrm>
          <a:prstGeom prst="rect">
            <a:avLst/>
          </a:prstGeom>
        </p:spPr>
        <p:txBody>
          <a:bodyPr lIns="0" tIns="0" rIns="0" bIns="0" rtlCol="0" anchor="t">
            <a:spAutoFit/>
          </a:bodyPr>
          <a:lstStyle/>
          <a:p>
            <a:pPr marL="0" lvl="0" indent="0" algn="l">
              <a:lnSpc>
                <a:spcPts val="7119"/>
              </a:lnSpc>
            </a:pPr>
            <a:r>
              <a:rPr lang="en-US" sz="7494">
                <a:solidFill>
                  <a:srgbClr val="FFFFFF"/>
                </a:solidFill>
                <a:latin typeface="Ramabhadra"/>
                <a:ea typeface="Ramabhadra"/>
                <a:cs typeface="Ramabhadra"/>
                <a:sym typeface="Ramabhadra"/>
              </a:rPr>
              <a:t>MANAGEMENT QUESTIONS</a:t>
            </a:r>
          </a:p>
        </p:txBody>
      </p:sp>
      <p:sp>
        <p:nvSpPr>
          <p:cNvPr id="9" name="TextBox 9"/>
          <p:cNvSpPr txBox="1"/>
          <p:nvPr/>
        </p:nvSpPr>
        <p:spPr>
          <a:xfrm>
            <a:off x="1500446" y="6515671"/>
            <a:ext cx="3552175" cy="1804752"/>
          </a:xfrm>
          <a:prstGeom prst="rect">
            <a:avLst/>
          </a:prstGeom>
        </p:spPr>
        <p:txBody>
          <a:bodyPr lIns="0" tIns="0" rIns="0" bIns="0" rtlCol="0" anchor="t">
            <a:spAutoFit/>
          </a:bodyPr>
          <a:lstStyle/>
          <a:p>
            <a:pPr marL="0" lvl="0" indent="0" algn="just">
              <a:lnSpc>
                <a:spcPts val="2900"/>
              </a:lnSpc>
              <a:spcBef>
                <a:spcPct val="0"/>
              </a:spcBef>
            </a:pPr>
            <a:r>
              <a:rPr lang="en-US" sz="2071">
                <a:solidFill>
                  <a:srgbClr val="FFFFFF"/>
                </a:solidFill>
                <a:latin typeface="Roboto"/>
                <a:ea typeface="Roboto"/>
                <a:cs typeface="Roboto"/>
                <a:sym typeface="Roboto"/>
              </a:rPr>
              <a:t>Where are bottlenecks occurring in patient flow? Are admission, transfer, and discharge processes running efficiently across units?</a:t>
            </a:r>
          </a:p>
        </p:txBody>
      </p:sp>
      <p:sp>
        <p:nvSpPr>
          <p:cNvPr id="10" name="TextBox 10"/>
          <p:cNvSpPr txBox="1"/>
          <p:nvPr/>
        </p:nvSpPr>
        <p:spPr>
          <a:xfrm>
            <a:off x="1812442" y="1072038"/>
            <a:ext cx="4197282" cy="422714"/>
          </a:xfrm>
          <a:prstGeom prst="rect">
            <a:avLst/>
          </a:prstGeom>
        </p:spPr>
        <p:txBody>
          <a:bodyPr lIns="0" tIns="0" rIns="0" bIns="0" rtlCol="0" anchor="t">
            <a:spAutoFit/>
          </a:bodyPr>
          <a:lstStyle/>
          <a:p>
            <a:pPr marL="0" lvl="0" indent="0" algn="l">
              <a:lnSpc>
                <a:spcPts val="3475"/>
              </a:lnSpc>
              <a:spcBef>
                <a:spcPct val="0"/>
              </a:spcBef>
            </a:pPr>
            <a:r>
              <a:rPr lang="en-US" sz="2482" b="1">
                <a:solidFill>
                  <a:srgbClr val="FFFFFF"/>
                </a:solidFill>
                <a:latin typeface="Roboto Bold"/>
                <a:ea typeface="Roboto Bold"/>
                <a:cs typeface="Roboto Bold"/>
                <a:sym typeface="Roboto Bold"/>
              </a:rPr>
              <a:t>Core Health Systems</a:t>
            </a:r>
          </a:p>
        </p:txBody>
      </p:sp>
      <p:grpSp>
        <p:nvGrpSpPr>
          <p:cNvPr id="11" name="Group 11"/>
          <p:cNvGrpSpPr/>
          <p:nvPr/>
        </p:nvGrpSpPr>
        <p:grpSpPr>
          <a:xfrm>
            <a:off x="6410292" y="4299237"/>
            <a:ext cx="5467416" cy="5467416"/>
            <a:chOff x="0" y="0"/>
            <a:chExt cx="558800" cy="558800"/>
          </a:xfrm>
        </p:grpSpPr>
        <p:sp>
          <p:nvSpPr>
            <p:cNvPr id="12" name="Freeform 12"/>
            <p:cNvSpPr/>
            <p:nvPr/>
          </p:nvSpPr>
          <p:spPr>
            <a:xfrm>
              <a:off x="0" y="0"/>
              <a:ext cx="558800" cy="558800"/>
            </a:xfrm>
            <a:prstGeom prst="roundRect">
              <a:avLst/>
            </a:prstGeom>
            <a:solidFill>
              <a:srgbClr val="0B5D7B"/>
            </a:solidFill>
          </p:spPr>
        </p:sp>
        <p:sp>
          <p:nvSpPr>
            <p:cNvPr id="13" name="TextBox 13"/>
            <p:cNvSpPr txBox="1"/>
            <p:nvPr/>
          </p:nvSpPr>
          <p:spPr>
            <a:xfrm>
              <a:off x="44450" y="6350"/>
              <a:ext cx="469900" cy="508000"/>
            </a:xfrm>
            <a:prstGeom prst="roundRect">
              <a:avLst/>
            </a:prstGeom>
          </p:spPr>
          <p:txBody>
            <a:bodyPr lIns="50800" tIns="50800" rIns="50800" bIns="50800" rtlCol="0" anchor="ctr"/>
            <a:lstStyle/>
            <a:p>
              <a:pPr marL="0" lvl="0" indent="0" algn="ctr">
                <a:lnSpc>
                  <a:spcPts val="2659"/>
                </a:lnSpc>
              </a:pPr>
              <a:endParaRPr/>
            </a:p>
          </p:txBody>
        </p:sp>
      </p:grpSp>
      <p:grpSp>
        <p:nvGrpSpPr>
          <p:cNvPr id="14" name="Group 14"/>
          <p:cNvGrpSpPr/>
          <p:nvPr/>
        </p:nvGrpSpPr>
        <p:grpSpPr>
          <a:xfrm>
            <a:off x="12277758" y="4299237"/>
            <a:ext cx="5467416" cy="5467416"/>
            <a:chOff x="0" y="0"/>
            <a:chExt cx="558800" cy="558800"/>
          </a:xfrm>
        </p:grpSpPr>
        <p:sp>
          <p:nvSpPr>
            <p:cNvPr id="15" name="Freeform 15"/>
            <p:cNvSpPr/>
            <p:nvPr/>
          </p:nvSpPr>
          <p:spPr>
            <a:xfrm>
              <a:off x="0" y="0"/>
              <a:ext cx="558800" cy="558800"/>
            </a:xfrm>
            <a:prstGeom prst="roundRect">
              <a:avLst/>
            </a:prstGeom>
            <a:solidFill>
              <a:srgbClr val="0B5D7B"/>
            </a:solidFill>
          </p:spPr>
        </p:sp>
        <p:sp>
          <p:nvSpPr>
            <p:cNvPr id="16" name="TextBox 16"/>
            <p:cNvSpPr txBox="1"/>
            <p:nvPr/>
          </p:nvSpPr>
          <p:spPr>
            <a:xfrm>
              <a:off x="44450" y="6350"/>
              <a:ext cx="469900" cy="508000"/>
            </a:xfrm>
            <a:prstGeom prst="roundRect">
              <a:avLst/>
            </a:prstGeom>
          </p:spPr>
          <p:txBody>
            <a:bodyPr lIns="50800" tIns="50800" rIns="50800" bIns="50800" rtlCol="0" anchor="ctr"/>
            <a:lstStyle/>
            <a:p>
              <a:pPr marL="0" lvl="0" indent="0" algn="ctr">
                <a:lnSpc>
                  <a:spcPts val="2659"/>
                </a:lnSpc>
              </a:pPr>
              <a:endParaRPr/>
            </a:p>
          </p:txBody>
        </p:sp>
      </p:grpSp>
      <p:sp>
        <p:nvSpPr>
          <p:cNvPr id="17" name="TextBox 17"/>
          <p:cNvSpPr txBox="1"/>
          <p:nvPr/>
        </p:nvSpPr>
        <p:spPr>
          <a:xfrm>
            <a:off x="1121932" y="4695536"/>
            <a:ext cx="4393010" cy="821981"/>
          </a:xfrm>
          <a:prstGeom prst="rect">
            <a:avLst/>
          </a:prstGeom>
        </p:spPr>
        <p:txBody>
          <a:bodyPr lIns="0" tIns="0" rIns="0" bIns="0" rtlCol="0" anchor="t">
            <a:spAutoFit/>
          </a:bodyPr>
          <a:lstStyle/>
          <a:p>
            <a:pPr marL="0" lvl="0" indent="0" algn="ctr">
              <a:lnSpc>
                <a:spcPts val="3273"/>
              </a:lnSpc>
            </a:pPr>
            <a:r>
              <a:rPr lang="en-US" sz="2871">
                <a:solidFill>
                  <a:srgbClr val="FFFFFF"/>
                </a:solidFill>
                <a:latin typeface="Ramabhadra"/>
                <a:ea typeface="Ramabhadra"/>
                <a:cs typeface="Ramabhadra"/>
                <a:sym typeface="Ramabhadra"/>
              </a:rPr>
              <a:t>How are patients moving through the hospital?</a:t>
            </a:r>
          </a:p>
        </p:txBody>
      </p:sp>
      <p:sp>
        <p:nvSpPr>
          <p:cNvPr id="18" name="TextBox 18"/>
          <p:cNvSpPr txBox="1"/>
          <p:nvPr/>
        </p:nvSpPr>
        <p:spPr>
          <a:xfrm>
            <a:off x="6904647" y="4695536"/>
            <a:ext cx="4478706" cy="1231556"/>
          </a:xfrm>
          <a:prstGeom prst="rect">
            <a:avLst/>
          </a:prstGeom>
        </p:spPr>
        <p:txBody>
          <a:bodyPr lIns="0" tIns="0" rIns="0" bIns="0" rtlCol="0" anchor="t">
            <a:spAutoFit/>
          </a:bodyPr>
          <a:lstStyle/>
          <a:p>
            <a:pPr marL="0" lvl="0" indent="0" algn="ctr">
              <a:lnSpc>
                <a:spcPts val="3273"/>
              </a:lnSpc>
            </a:pPr>
            <a:r>
              <a:rPr lang="en-US" sz="2871" dirty="0">
                <a:solidFill>
                  <a:srgbClr val="FFFFFF"/>
                </a:solidFill>
                <a:latin typeface="Ramabhadra"/>
                <a:ea typeface="Ramabhadra"/>
                <a:cs typeface="Ramabhadra"/>
                <a:sym typeface="Ramabhadra"/>
              </a:rPr>
              <a:t>Which departments and resources require urgent attention?</a:t>
            </a:r>
          </a:p>
        </p:txBody>
      </p:sp>
      <p:sp>
        <p:nvSpPr>
          <p:cNvPr id="19" name="TextBox 19"/>
          <p:cNvSpPr txBox="1"/>
          <p:nvPr/>
        </p:nvSpPr>
        <p:spPr>
          <a:xfrm>
            <a:off x="7261914" y="6512405"/>
            <a:ext cx="3552175" cy="1804752"/>
          </a:xfrm>
          <a:prstGeom prst="rect">
            <a:avLst/>
          </a:prstGeom>
        </p:spPr>
        <p:txBody>
          <a:bodyPr lIns="0" tIns="0" rIns="0" bIns="0" rtlCol="0" anchor="t">
            <a:spAutoFit/>
          </a:bodyPr>
          <a:lstStyle/>
          <a:p>
            <a:pPr marL="0" lvl="0" indent="0" algn="just">
              <a:lnSpc>
                <a:spcPts val="2900"/>
              </a:lnSpc>
              <a:spcBef>
                <a:spcPct val="0"/>
              </a:spcBef>
            </a:pPr>
            <a:r>
              <a:rPr lang="en-US" sz="2071" dirty="0">
                <a:solidFill>
                  <a:srgbClr val="FFFFFF"/>
                </a:solidFill>
                <a:latin typeface="Roboto"/>
                <a:ea typeface="Roboto"/>
                <a:cs typeface="Roboto"/>
                <a:sym typeface="Roboto"/>
              </a:rPr>
              <a:t>Are bed occupancy, staffing levels, and equipment utilization aligned with patient demand across all departments?</a:t>
            </a:r>
          </a:p>
        </p:txBody>
      </p:sp>
      <p:sp>
        <p:nvSpPr>
          <p:cNvPr id="20" name="TextBox 20"/>
          <p:cNvSpPr txBox="1"/>
          <p:nvPr/>
        </p:nvSpPr>
        <p:spPr>
          <a:xfrm>
            <a:off x="13296933" y="6515671"/>
            <a:ext cx="3552175" cy="1804752"/>
          </a:xfrm>
          <a:prstGeom prst="rect">
            <a:avLst/>
          </a:prstGeom>
        </p:spPr>
        <p:txBody>
          <a:bodyPr lIns="0" tIns="0" rIns="0" bIns="0" rtlCol="0" anchor="t">
            <a:spAutoFit/>
          </a:bodyPr>
          <a:lstStyle/>
          <a:p>
            <a:pPr marL="0" lvl="0" indent="0" algn="just">
              <a:lnSpc>
                <a:spcPts val="2900"/>
              </a:lnSpc>
              <a:spcBef>
                <a:spcPct val="0"/>
              </a:spcBef>
            </a:pPr>
            <a:r>
              <a:rPr lang="en-US" sz="2071">
                <a:solidFill>
                  <a:srgbClr val="FFFFFF"/>
                </a:solidFill>
                <a:latin typeface="Roboto"/>
                <a:ea typeface="Roboto"/>
                <a:cs typeface="Roboto"/>
                <a:sym typeface="Roboto"/>
              </a:rPr>
              <a:t>Which diagnoses, demographics, and seasonal patterns are driving volume? How can leadership anticipate and plan for future demand?</a:t>
            </a:r>
          </a:p>
        </p:txBody>
      </p:sp>
      <p:sp>
        <p:nvSpPr>
          <p:cNvPr id="21" name="TextBox 21"/>
          <p:cNvSpPr txBox="1"/>
          <p:nvPr/>
        </p:nvSpPr>
        <p:spPr>
          <a:xfrm>
            <a:off x="13049393" y="4695536"/>
            <a:ext cx="4047253" cy="1231556"/>
          </a:xfrm>
          <a:prstGeom prst="rect">
            <a:avLst/>
          </a:prstGeom>
        </p:spPr>
        <p:txBody>
          <a:bodyPr lIns="0" tIns="0" rIns="0" bIns="0" rtlCol="0" anchor="t">
            <a:spAutoFit/>
          </a:bodyPr>
          <a:lstStyle/>
          <a:p>
            <a:pPr marL="0" lvl="0" indent="0" algn="ctr">
              <a:lnSpc>
                <a:spcPts val="3273"/>
              </a:lnSpc>
            </a:pPr>
            <a:r>
              <a:rPr lang="en-US" sz="2871" dirty="0">
                <a:solidFill>
                  <a:srgbClr val="FFFFFF"/>
                </a:solidFill>
                <a:latin typeface="Ramabhadra"/>
                <a:ea typeface="Ramabhadra"/>
                <a:cs typeface="Ramabhadra"/>
                <a:sym typeface="Ramabhadra"/>
              </a:rPr>
              <a:t>What trends and patient patterns should management monitor?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271733">
            <a:off x="-8170491" y="1172557"/>
            <a:ext cx="10120464" cy="9474477"/>
            <a:chOff x="0" y="0"/>
            <a:chExt cx="596900" cy="558800"/>
          </a:xfrm>
        </p:grpSpPr>
        <p:sp>
          <p:nvSpPr>
            <p:cNvPr id="3" name="Freeform 3"/>
            <p:cNvSpPr/>
            <p:nvPr/>
          </p:nvSpPr>
          <p:spPr>
            <a:xfrm>
              <a:off x="0" y="0"/>
              <a:ext cx="596900" cy="558800"/>
            </a:xfrm>
            <a:custGeom>
              <a:avLst/>
              <a:gdLst/>
              <a:ahLst/>
              <a:cxnLst/>
              <a:rect l="l" t="t" r="r" b="b"/>
              <a:pathLst>
                <a:path w="596900" h="558800">
                  <a:moveTo>
                    <a:pt x="596900" y="0"/>
                  </a:moveTo>
                  <a:lnTo>
                    <a:pt x="596900" y="304800"/>
                  </a:lnTo>
                  <a:lnTo>
                    <a:pt x="330200" y="558800"/>
                  </a:lnTo>
                  <a:lnTo>
                    <a:pt x="0" y="558800"/>
                  </a:lnTo>
                  <a:lnTo>
                    <a:pt x="0" y="248920"/>
                  </a:lnTo>
                  <a:lnTo>
                    <a:pt x="262890" y="0"/>
                  </a:lnTo>
                  <a:lnTo>
                    <a:pt x="596900" y="0"/>
                  </a:lnTo>
                  <a:close/>
                </a:path>
              </a:pathLst>
            </a:custGeom>
            <a:solidFill>
              <a:srgbClr val="0092C8"/>
            </a:solidFill>
          </p:spPr>
        </p:sp>
        <p:sp>
          <p:nvSpPr>
            <p:cNvPr id="4" name="TextBox 4"/>
            <p:cNvSpPr txBox="1"/>
            <p:nvPr/>
          </p:nvSpPr>
          <p:spPr>
            <a:xfrm>
              <a:off x="101600" y="95250"/>
              <a:ext cx="393700" cy="33147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8423860" y="-2068602"/>
            <a:ext cx="11546704" cy="7212102"/>
            <a:chOff x="0" y="0"/>
            <a:chExt cx="959843" cy="599520"/>
          </a:xfrm>
        </p:grpSpPr>
        <p:sp>
          <p:nvSpPr>
            <p:cNvPr id="6" name="Freeform 6"/>
            <p:cNvSpPr/>
            <p:nvPr/>
          </p:nvSpPr>
          <p:spPr>
            <a:xfrm>
              <a:off x="0" y="0"/>
              <a:ext cx="959843" cy="599520"/>
            </a:xfrm>
            <a:custGeom>
              <a:avLst/>
              <a:gdLst/>
              <a:ahLst/>
              <a:cxnLst/>
              <a:rect l="l" t="t" r="r" b="b"/>
              <a:pathLst>
                <a:path w="959843" h="599520">
                  <a:moveTo>
                    <a:pt x="203200" y="0"/>
                  </a:moveTo>
                  <a:lnTo>
                    <a:pt x="959843" y="0"/>
                  </a:lnTo>
                  <a:lnTo>
                    <a:pt x="756643" y="599520"/>
                  </a:lnTo>
                  <a:lnTo>
                    <a:pt x="0" y="599520"/>
                  </a:lnTo>
                  <a:lnTo>
                    <a:pt x="203200" y="0"/>
                  </a:lnTo>
                  <a:close/>
                </a:path>
              </a:pathLst>
            </a:custGeom>
            <a:solidFill>
              <a:srgbClr val="0B5D7B"/>
            </a:solidFill>
          </p:spPr>
        </p:sp>
        <p:sp>
          <p:nvSpPr>
            <p:cNvPr id="7" name="TextBox 7"/>
            <p:cNvSpPr txBox="1"/>
            <p:nvPr/>
          </p:nvSpPr>
          <p:spPr>
            <a:xfrm>
              <a:off x="101600" y="-38100"/>
              <a:ext cx="756643" cy="637620"/>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9569288" y="1440151"/>
            <a:ext cx="7177114" cy="2318342"/>
          </a:xfrm>
          <a:prstGeom prst="rect">
            <a:avLst/>
          </a:prstGeom>
        </p:spPr>
        <p:txBody>
          <a:bodyPr lIns="0" tIns="0" rIns="0" bIns="0" rtlCol="0" anchor="t">
            <a:spAutoFit/>
          </a:bodyPr>
          <a:lstStyle/>
          <a:p>
            <a:pPr marL="0" lvl="0" indent="0" algn="r">
              <a:lnSpc>
                <a:spcPts val="9113"/>
              </a:lnSpc>
            </a:pPr>
            <a:r>
              <a:rPr lang="en-US" sz="7994">
                <a:solidFill>
                  <a:srgbClr val="FFFFFF"/>
                </a:solidFill>
                <a:latin typeface="Ramabhadra"/>
                <a:ea typeface="Ramabhadra"/>
                <a:cs typeface="Ramabhadra"/>
                <a:sym typeface="Ramabhadra"/>
              </a:rPr>
              <a:t>PROJECT OBJECTIVES</a:t>
            </a:r>
          </a:p>
        </p:txBody>
      </p:sp>
      <p:sp>
        <p:nvSpPr>
          <p:cNvPr id="9" name="TextBox 9"/>
          <p:cNvSpPr txBox="1"/>
          <p:nvPr/>
        </p:nvSpPr>
        <p:spPr>
          <a:xfrm>
            <a:off x="2180408" y="3720436"/>
            <a:ext cx="5134955" cy="1433862"/>
          </a:xfrm>
          <a:prstGeom prst="rect">
            <a:avLst/>
          </a:prstGeom>
        </p:spPr>
        <p:txBody>
          <a:bodyPr lIns="0" tIns="0" rIns="0" bIns="0" rtlCol="0" anchor="t">
            <a:spAutoFit/>
          </a:bodyPr>
          <a:lstStyle/>
          <a:p>
            <a:pPr marL="0" lvl="0" indent="0" algn="just">
              <a:lnSpc>
                <a:spcPts val="2868"/>
              </a:lnSpc>
              <a:spcBef>
                <a:spcPct val="0"/>
              </a:spcBef>
            </a:pPr>
            <a:r>
              <a:rPr lang="en-US" sz="2048">
                <a:solidFill>
                  <a:srgbClr val="0B5D7B"/>
                </a:solidFill>
                <a:latin typeface="Roboto"/>
                <a:ea typeface="Roboto"/>
                <a:cs typeface="Roboto"/>
                <a:sym typeface="Roboto"/>
              </a:rPr>
              <a:t>Design and develop an interactive Tableau dashboard that provides real-time visibility into hospital operations, patient flow, and resource utilization across all departments.</a:t>
            </a:r>
          </a:p>
        </p:txBody>
      </p:sp>
      <p:sp>
        <p:nvSpPr>
          <p:cNvPr id="10" name="TextBox 10"/>
          <p:cNvSpPr txBox="1"/>
          <p:nvPr/>
        </p:nvSpPr>
        <p:spPr>
          <a:xfrm>
            <a:off x="1812442" y="1052988"/>
            <a:ext cx="4197282" cy="432940"/>
          </a:xfrm>
          <a:prstGeom prst="rect">
            <a:avLst/>
          </a:prstGeom>
        </p:spPr>
        <p:txBody>
          <a:bodyPr lIns="0" tIns="0" rIns="0" bIns="0" rtlCol="0" anchor="t">
            <a:spAutoFit/>
          </a:bodyPr>
          <a:lstStyle/>
          <a:p>
            <a:pPr marL="0" lvl="0" indent="0" algn="l">
              <a:lnSpc>
                <a:spcPts val="3437"/>
              </a:lnSpc>
              <a:spcBef>
                <a:spcPct val="0"/>
              </a:spcBef>
            </a:pPr>
            <a:r>
              <a:rPr lang="en-US" sz="2455" b="1">
                <a:solidFill>
                  <a:srgbClr val="0B5D7B"/>
                </a:solidFill>
                <a:latin typeface="Roboto Bold"/>
                <a:ea typeface="Roboto Bold"/>
                <a:cs typeface="Roboto Bold"/>
                <a:sym typeface="Roboto Bold"/>
              </a:rPr>
              <a:t>Core Health Systems</a:t>
            </a:r>
          </a:p>
        </p:txBody>
      </p:sp>
      <p:sp>
        <p:nvSpPr>
          <p:cNvPr id="11" name="TextBox 11"/>
          <p:cNvSpPr txBox="1"/>
          <p:nvPr/>
        </p:nvSpPr>
        <p:spPr>
          <a:xfrm>
            <a:off x="2180408" y="2278298"/>
            <a:ext cx="5337883" cy="1252030"/>
          </a:xfrm>
          <a:prstGeom prst="rect">
            <a:avLst/>
          </a:prstGeom>
        </p:spPr>
        <p:txBody>
          <a:bodyPr lIns="0" tIns="0" rIns="0" bIns="0" rtlCol="0" anchor="t">
            <a:spAutoFit/>
          </a:bodyPr>
          <a:lstStyle/>
          <a:p>
            <a:pPr marL="0" lvl="0" indent="0" algn="l">
              <a:lnSpc>
                <a:spcPts val="4911"/>
              </a:lnSpc>
            </a:pPr>
            <a:r>
              <a:rPr lang="en-US" sz="4308">
                <a:solidFill>
                  <a:srgbClr val="0B5D7B"/>
                </a:solidFill>
                <a:latin typeface="Ramabhadra"/>
                <a:ea typeface="Ramabhadra"/>
                <a:cs typeface="Ramabhadra"/>
                <a:sym typeface="Ramabhadra"/>
              </a:rPr>
              <a:t>Build an Operational Tableau Dashboard</a:t>
            </a:r>
          </a:p>
        </p:txBody>
      </p:sp>
      <p:sp>
        <p:nvSpPr>
          <p:cNvPr id="12" name="TextBox 12"/>
          <p:cNvSpPr txBox="1"/>
          <p:nvPr/>
        </p:nvSpPr>
        <p:spPr>
          <a:xfrm>
            <a:off x="2180408" y="5795596"/>
            <a:ext cx="5337883" cy="1252030"/>
          </a:xfrm>
          <a:prstGeom prst="rect">
            <a:avLst/>
          </a:prstGeom>
        </p:spPr>
        <p:txBody>
          <a:bodyPr lIns="0" tIns="0" rIns="0" bIns="0" rtlCol="0" anchor="t">
            <a:spAutoFit/>
          </a:bodyPr>
          <a:lstStyle/>
          <a:p>
            <a:pPr marL="0" lvl="0" indent="0" algn="l">
              <a:lnSpc>
                <a:spcPts val="4911"/>
              </a:lnSpc>
            </a:pPr>
            <a:r>
              <a:rPr lang="en-US" sz="4308">
                <a:solidFill>
                  <a:srgbClr val="0B5D7B"/>
                </a:solidFill>
                <a:latin typeface="Ramabhadra"/>
                <a:ea typeface="Ramabhadra"/>
                <a:cs typeface="Ramabhadra"/>
                <a:sym typeface="Ramabhadra"/>
              </a:rPr>
              <a:t>Identify Patient &amp; Utilization Patterns</a:t>
            </a:r>
          </a:p>
        </p:txBody>
      </p:sp>
      <p:sp>
        <p:nvSpPr>
          <p:cNvPr id="13" name="TextBox 13"/>
          <p:cNvSpPr txBox="1"/>
          <p:nvPr/>
        </p:nvSpPr>
        <p:spPr>
          <a:xfrm>
            <a:off x="8423860" y="5795596"/>
            <a:ext cx="5134955" cy="1252030"/>
          </a:xfrm>
          <a:prstGeom prst="rect">
            <a:avLst/>
          </a:prstGeom>
        </p:spPr>
        <p:txBody>
          <a:bodyPr lIns="0" tIns="0" rIns="0" bIns="0" rtlCol="0" anchor="t">
            <a:spAutoFit/>
          </a:bodyPr>
          <a:lstStyle/>
          <a:p>
            <a:pPr marL="0" lvl="0" indent="0" algn="l">
              <a:lnSpc>
                <a:spcPts val="4911"/>
              </a:lnSpc>
            </a:pPr>
            <a:r>
              <a:rPr lang="en-US" sz="4308">
                <a:solidFill>
                  <a:srgbClr val="0B5D7B"/>
                </a:solidFill>
                <a:latin typeface="Ramabhadra"/>
                <a:ea typeface="Ramabhadra"/>
                <a:cs typeface="Ramabhadra"/>
                <a:sym typeface="Ramabhadra"/>
              </a:rPr>
              <a:t>Support Evidence-Based Management</a:t>
            </a:r>
          </a:p>
        </p:txBody>
      </p:sp>
      <p:sp>
        <p:nvSpPr>
          <p:cNvPr id="14" name="TextBox 14"/>
          <p:cNvSpPr txBox="1"/>
          <p:nvPr/>
        </p:nvSpPr>
        <p:spPr>
          <a:xfrm>
            <a:off x="2180408" y="7080399"/>
            <a:ext cx="5134955" cy="1433862"/>
          </a:xfrm>
          <a:prstGeom prst="rect">
            <a:avLst/>
          </a:prstGeom>
        </p:spPr>
        <p:txBody>
          <a:bodyPr lIns="0" tIns="0" rIns="0" bIns="0" rtlCol="0" anchor="t">
            <a:spAutoFit/>
          </a:bodyPr>
          <a:lstStyle/>
          <a:p>
            <a:pPr marL="0" lvl="0" indent="0" algn="just">
              <a:lnSpc>
                <a:spcPts val="2868"/>
              </a:lnSpc>
              <a:spcBef>
                <a:spcPct val="0"/>
              </a:spcBef>
            </a:pPr>
            <a:r>
              <a:rPr lang="en-US" sz="2048">
                <a:solidFill>
                  <a:srgbClr val="0B5D7B"/>
                </a:solidFill>
                <a:latin typeface="Roboto"/>
                <a:ea typeface="Roboto"/>
                <a:cs typeface="Roboto"/>
                <a:sym typeface="Roboto"/>
              </a:rPr>
              <a:t>Analyze patient admission trends, length of stay, department throughput, and resource utilization to uncover meaningful operational patterns and inefficiencies.</a:t>
            </a:r>
          </a:p>
        </p:txBody>
      </p:sp>
      <p:sp>
        <p:nvSpPr>
          <p:cNvPr id="15" name="TextBox 15"/>
          <p:cNvSpPr txBox="1"/>
          <p:nvPr/>
        </p:nvSpPr>
        <p:spPr>
          <a:xfrm>
            <a:off x="8423860" y="7080399"/>
            <a:ext cx="5134955" cy="1433862"/>
          </a:xfrm>
          <a:prstGeom prst="rect">
            <a:avLst/>
          </a:prstGeom>
        </p:spPr>
        <p:txBody>
          <a:bodyPr lIns="0" tIns="0" rIns="0" bIns="0" rtlCol="0" anchor="t">
            <a:spAutoFit/>
          </a:bodyPr>
          <a:lstStyle/>
          <a:p>
            <a:pPr marL="0" lvl="0" indent="0" algn="just">
              <a:lnSpc>
                <a:spcPts val="2868"/>
              </a:lnSpc>
              <a:spcBef>
                <a:spcPct val="0"/>
              </a:spcBef>
            </a:pPr>
            <a:r>
              <a:rPr lang="en-US" sz="2048">
                <a:solidFill>
                  <a:srgbClr val="0B5D7B"/>
                </a:solidFill>
                <a:latin typeface="Roboto"/>
                <a:ea typeface="Roboto"/>
                <a:cs typeface="Roboto"/>
                <a:sym typeface="Roboto"/>
              </a:rPr>
              <a:t>Equip hospital management with data-driven insights and KPI tracking to enable informed, timely decisions that improve patient outcomes and operational efficiency.</a:t>
            </a:r>
          </a:p>
        </p:txBody>
      </p:sp>
      <p:grpSp>
        <p:nvGrpSpPr>
          <p:cNvPr id="16" name="Group 16"/>
          <p:cNvGrpSpPr/>
          <p:nvPr/>
        </p:nvGrpSpPr>
        <p:grpSpPr>
          <a:xfrm rot="-10800000">
            <a:off x="12351468" y="6637556"/>
            <a:ext cx="10120464" cy="6492538"/>
            <a:chOff x="0" y="0"/>
            <a:chExt cx="596900" cy="382927"/>
          </a:xfrm>
        </p:grpSpPr>
        <p:sp>
          <p:nvSpPr>
            <p:cNvPr id="17" name="Freeform 17"/>
            <p:cNvSpPr/>
            <p:nvPr/>
          </p:nvSpPr>
          <p:spPr>
            <a:xfrm>
              <a:off x="0" y="0"/>
              <a:ext cx="596900" cy="382927"/>
            </a:xfrm>
            <a:custGeom>
              <a:avLst/>
              <a:gdLst/>
              <a:ahLst/>
              <a:cxnLst/>
              <a:rect l="l" t="t" r="r" b="b"/>
              <a:pathLst>
                <a:path w="596900" h="382927">
                  <a:moveTo>
                    <a:pt x="596900" y="0"/>
                  </a:moveTo>
                  <a:lnTo>
                    <a:pt x="596900" y="208869"/>
                  </a:lnTo>
                  <a:lnTo>
                    <a:pt x="330200" y="382927"/>
                  </a:lnTo>
                  <a:lnTo>
                    <a:pt x="0" y="382927"/>
                  </a:lnTo>
                  <a:lnTo>
                    <a:pt x="0" y="170576"/>
                  </a:lnTo>
                  <a:lnTo>
                    <a:pt x="262890" y="0"/>
                  </a:lnTo>
                  <a:lnTo>
                    <a:pt x="596900" y="0"/>
                  </a:lnTo>
                  <a:close/>
                </a:path>
              </a:pathLst>
            </a:custGeom>
            <a:solidFill>
              <a:srgbClr val="0092C8"/>
            </a:solidFill>
          </p:spPr>
        </p:sp>
        <p:sp>
          <p:nvSpPr>
            <p:cNvPr id="18" name="TextBox 18"/>
            <p:cNvSpPr txBox="1"/>
            <p:nvPr/>
          </p:nvSpPr>
          <p:spPr>
            <a:xfrm>
              <a:off x="101600" y="53280"/>
              <a:ext cx="393700" cy="239137"/>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5D7B"/>
        </a:solidFill>
        <a:effectLst/>
      </p:bgPr>
    </p:bg>
    <p:spTree>
      <p:nvGrpSpPr>
        <p:cNvPr id="1" name=""/>
        <p:cNvGrpSpPr/>
        <p:nvPr/>
      </p:nvGrpSpPr>
      <p:grpSpPr>
        <a:xfrm>
          <a:off x="0" y="0"/>
          <a:ext cx="0" cy="0"/>
          <a:chOff x="0" y="0"/>
          <a:chExt cx="0" cy="0"/>
        </a:xfrm>
      </p:grpSpPr>
      <p:grpSp>
        <p:nvGrpSpPr>
          <p:cNvPr id="2" name="Group 2"/>
          <p:cNvGrpSpPr/>
          <p:nvPr/>
        </p:nvGrpSpPr>
        <p:grpSpPr>
          <a:xfrm>
            <a:off x="-514350" y="-223507"/>
            <a:ext cx="19323151" cy="4844620"/>
            <a:chOff x="0" y="0"/>
            <a:chExt cx="5089225" cy="1275949"/>
          </a:xfrm>
        </p:grpSpPr>
        <p:sp>
          <p:nvSpPr>
            <p:cNvPr id="3" name="Freeform 3"/>
            <p:cNvSpPr/>
            <p:nvPr/>
          </p:nvSpPr>
          <p:spPr>
            <a:xfrm>
              <a:off x="0" y="0"/>
              <a:ext cx="5089225" cy="1275949"/>
            </a:xfrm>
            <a:custGeom>
              <a:avLst/>
              <a:gdLst/>
              <a:ahLst/>
              <a:cxnLst/>
              <a:rect l="l" t="t" r="r" b="b"/>
              <a:pathLst>
                <a:path w="5089225" h="1275949">
                  <a:moveTo>
                    <a:pt x="0" y="0"/>
                  </a:moveTo>
                  <a:lnTo>
                    <a:pt x="5089225" y="0"/>
                  </a:lnTo>
                  <a:lnTo>
                    <a:pt x="5089225" y="1275949"/>
                  </a:lnTo>
                  <a:lnTo>
                    <a:pt x="0" y="1275949"/>
                  </a:lnTo>
                  <a:close/>
                </a:path>
              </a:pathLst>
            </a:custGeom>
            <a:solidFill>
              <a:srgbClr val="FFFFFF"/>
            </a:solidFill>
          </p:spPr>
        </p:sp>
        <p:sp>
          <p:nvSpPr>
            <p:cNvPr id="4" name="TextBox 4"/>
            <p:cNvSpPr txBox="1"/>
            <p:nvPr/>
          </p:nvSpPr>
          <p:spPr>
            <a:xfrm>
              <a:off x="0" y="-38100"/>
              <a:ext cx="5089225" cy="1314049"/>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514350" y="-1319433"/>
            <a:ext cx="19339510" cy="2000946"/>
            <a:chOff x="0" y="0"/>
            <a:chExt cx="5093534" cy="526998"/>
          </a:xfrm>
        </p:grpSpPr>
        <p:sp>
          <p:nvSpPr>
            <p:cNvPr id="6" name="Freeform 6"/>
            <p:cNvSpPr/>
            <p:nvPr/>
          </p:nvSpPr>
          <p:spPr>
            <a:xfrm>
              <a:off x="0" y="0"/>
              <a:ext cx="5093534" cy="526998"/>
            </a:xfrm>
            <a:custGeom>
              <a:avLst/>
              <a:gdLst/>
              <a:ahLst/>
              <a:cxnLst/>
              <a:rect l="l" t="t" r="r" b="b"/>
              <a:pathLst>
                <a:path w="5093534" h="526998">
                  <a:moveTo>
                    <a:pt x="0" y="0"/>
                  </a:moveTo>
                  <a:lnTo>
                    <a:pt x="5093534" y="0"/>
                  </a:lnTo>
                  <a:lnTo>
                    <a:pt x="5093534" y="526998"/>
                  </a:lnTo>
                  <a:lnTo>
                    <a:pt x="0" y="526998"/>
                  </a:lnTo>
                  <a:close/>
                </a:path>
              </a:pathLst>
            </a:custGeom>
            <a:solidFill>
              <a:srgbClr val="0092C8"/>
            </a:solidFill>
          </p:spPr>
        </p:sp>
        <p:sp>
          <p:nvSpPr>
            <p:cNvPr id="7" name="TextBox 7"/>
            <p:cNvSpPr txBox="1"/>
            <p:nvPr/>
          </p:nvSpPr>
          <p:spPr>
            <a:xfrm>
              <a:off x="0" y="-38100"/>
              <a:ext cx="5093534" cy="565098"/>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1125200" y="-1092854"/>
            <a:ext cx="5691164" cy="5321957"/>
            <a:chOff x="0" y="77220"/>
            <a:chExt cx="812800" cy="812800"/>
          </a:xfrm>
        </p:grpSpPr>
        <p:sp>
          <p:nvSpPr>
            <p:cNvPr id="9" name="Freeform 9"/>
            <p:cNvSpPr/>
            <p:nvPr/>
          </p:nvSpPr>
          <p:spPr>
            <a:xfrm>
              <a:off x="0" y="7722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2"/>
              <a:stretch>
                <a:fillRect/>
              </a:stretch>
            </a:blipFill>
          </p:spPr>
        </p:sp>
      </p:grpSp>
      <p:sp>
        <p:nvSpPr>
          <p:cNvPr id="10" name="TextBox 10"/>
          <p:cNvSpPr txBox="1"/>
          <p:nvPr/>
        </p:nvSpPr>
        <p:spPr>
          <a:xfrm>
            <a:off x="1812442" y="2470935"/>
            <a:ext cx="8598956" cy="963347"/>
          </a:xfrm>
          <a:prstGeom prst="rect">
            <a:avLst/>
          </a:prstGeom>
        </p:spPr>
        <p:txBody>
          <a:bodyPr lIns="0" tIns="0" rIns="0" bIns="0" rtlCol="0" anchor="t">
            <a:spAutoFit/>
          </a:bodyPr>
          <a:lstStyle/>
          <a:p>
            <a:pPr marL="0" lvl="0" indent="0" algn="l">
              <a:lnSpc>
                <a:spcPts val="7093"/>
              </a:lnSpc>
            </a:pPr>
            <a:r>
              <a:rPr lang="en-US" sz="7794" dirty="0">
                <a:solidFill>
                  <a:srgbClr val="0B5D7B"/>
                </a:solidFill>
                <a:latin typeface="Ramabhadra"/>
                <a:ea typeface="Ramabhadra"/>
                <a:cs typeface="Ramabhadra"/>
                <a:sym typeface="Ramabhadra"/>
              </a:rPr>
              <a:t>OUR PURPOSE</a:t>
            </a:r>
          </a:p>
        </p:txBody>
      </p:sp>
      <p:sp>
        <p:nvSpPr>
          <p:cNvPr id="11" name="TextBox 11"/>
          <p:cNvSpPr txBox="1"/>
          <p:nvPr/>
        </p:nvSpPr>
        <p:spPr>
          <a:xfrm>
            <a:off x="1812442" y="6114415"/>
            <a:ext cx="6210220" cy="2334934"/>
          </a:xfrm>
          <a:prstGeom prst="rect">
            <a:avLst/>
          </a:prstGeom>
        </p:spPr>
        <p:txBody>
          <a:bodyPr lIns="0" tIns="0" rIns="0" bIns="0" rtlCol="0" anchor="t">
            <a:spAutoFit/>
          </a:bodyPr>
          <a:lstStyle/>
          <a:p>
            <a:pPr marL="0" lvl="0" indent="0" algn="just">
              <a:lnSpc>
                <a:spcPts val="3077"/>
              </a:lnSpc>
              <a:spcBef>
                <a:spcPct val="0"/>
              </a:spcBef>
            </a:pPr>
            <a:r>
              <a:rPr lang="en-US" sz="2198">
                <a:solidFill>
                  <a:srgbClr val="FFFFFF"/>
                </a:solidFill>
                <a:latin typeface="Roboto"/>
                <a:ea typeface="Roboto"/>
                <a:cs typeface="Roboto"/>
                <a:sym typeface="Roboto"/>
              </a:rPr>
              <a:t>Improve hospital operations and patient care quality through accessible, data-driven analytics. By transforming raw hospital data into clear Tableau dashboards, we enable management to monitor performance, identify bottlenecks, and make informed decisions in real time.</a:t>
            </a:r>
          </a:p>
        </p:txBody>
      </p:sp>
      <p:sp>
        <p:nvSpPr>
          <p:cNvPr id="12" name="TextBox 12"/>
          <p:cNvSpPr txBox="1"/>
          <p:nvPr/>
        </p:nvSpPr>
        <p:spPr>
          <a:xfrm>
            <a:off x="1812442" y="1062513"/>
            <a:ext cx="4197282" cy="456958"/>
          </a:xfrm>
          <a:prstGeom prst="rect">
            <a:avLst/>
          </a:prstGeom>
        </p:spPr>
        <p:txBody>
          <a:bodyPr lIns="0" tIns="0" rIns="0" bIns="0" rtlCol="0" anchor="t">
            <a:spAutoFit/>
          </a:bodyPr>
          <a:lstStyle/>
          <a:p>
            <a:pPr marL="0" lvl="0" indent="0" algn="l">
              <a:lnSpc>
                <a:spcPts val="3688"/>
              </a:lnSpc>
              <a:spcBef>
                <a:spcPct val="0"/>
              </a:spcBef>
            </a:pPr>
            <a:r>
              <a:rPr lang="en-US" sz="2634" b="1">
                <a:solidFill>
                  <a:srgbClr val="0B5D7B"/>
                </a:solidFill>
                <a:latin typeface="Roboto Bold"/>
                <a:ea typeface="Roboto Bold"/>
                <a:cs typeface="Roboto Bold"/>
                <a:sym typeface="Roboto Bold"/>
              </a:rPr>
              <a:t>Core Health Systems</a:t>
            </a:r>
          </a:p>
        </p:txBody>
      </p:sp>
      <p:sp>
        <p:nvSpPr>
          <p:cNvPr id="13" name="TextBox 13"/>
          <p:cNvSpPr txBox="1"/>
          <p:nvPr/>
        </p:nvSpPr>
        <p:spPr>
          <a:xfrm>
            <a:off x="2498330" y="5052455"/>
            <a:ext cx="4838445" cy="714348"/>
          </a:xfrm>
          <a:prstGeom prst="rect">
            <a:avLst/>
          </a:prstGeom>
        </p:spPr>
        <p:txBody>
          <a:bodyPr lIns="0" tIns="0" rIns="0" bIns="0" rtlCol="0" anchor="t">
            <a:spAutoFit/>
          </a:bodyPr>
          <a:lstStyle/>
          <a:p>
            <a:pPr marL="0" lvl="0" indent="0" algn="ctr">
              <a:lnSpc>
                <a:spcPts val="5695"/>
              </a:lnSpc>
            </a:pPr>
            <a:r>
              <a:rPr lang="en-US" sz="4996">
                <a:solidFill>
                  <a:srgbClr val="FFFFFF"/>
                </a:solidFill>
                <a:latin typeface="Ramabhadra"/>
                <a:ea typeface="Ramabhadra"/>
                <a:cs typeface="Ramabhadra"/>
                <a:sym typeface="Ramabhadra"/>
              </a:rPr>
              <a:t>Vision</a:t>
            </a:r>
          </a:p>
        </p:txBody>
      </p:sp>
      <p:sp>
        <p:nvSpPr>
          <p:cNvPr id="14" name="TextBox 14"/>
          <p:cNvSpPr txBox="1"/>
          <p:nvPr/>
        </p:nvSpPr>
        <p:spPr>
          <a:xfrm>
            <a:off x="10411398" y="5042930"/>
            <a:ext cx="5097735" cy="714348"/>
          </a:xfrm>
          <a:prstGeom prst="rect">
            <a:avLst/>
          </a:prstGeom>
        </p:spPr>
        <p:txBody>
          <a:bodyPr lIns="0" tIns="0" rIns="0" bIns="0" rtlCol="0" anchor="t">
            <a:spAutoFit/>
          </a:bodyPr>
          <a:lstStyle/>
          <a:p>
            <a:pPr marL="0" lvl="0" indent="0" algn="ctr">
              <a:lnSpc>
                <a:spcPts val="5695"/>
              </a:lnSpc>
            </a:pPr>
            <a:r>
              <a:rPr lang="en-US" sz="4996">
                <a:solidFill>
                  <a:srgbClr val="FFFFFF"/>
                </a:solidFill>
                <a:latin typeface="Ramabhadra"/>
                <a:ea typeface="Ramabhadra"/>
                <a:cs typeface="Ramabhadra"/>
                <a:sym typeface="Ramabhadra"/>
              </a:rPr>
              <a:t>Mission</a:t>
            </a:r>
          </a:p>
        </p:txBody>
      </p:sp>
      <p:sp>
        <p:nvSpPr>
          <p:cNvPr id="15" name="TextBox 15"/>
          <p:cNvSpPr txBox="1"/>
          <p:nvPr/>
        </p:nvSpPr>
        <p:spPr>
          <a:xfrm>
            <a:off x="9855156" y="6154816"/>
            <a:ext cx="6210220" cy="2334934"/>
          </a:xfrm>
          <a:prstGeom prst="rect">
            <a:avLst/>
          </a:prstGeom>
        </p:spPr>
        <p:txBody>
          <a:bodyPr lIns="0" tIns="0" rIns="0" bIns="0" rtlCol="0" anchor="t">
            <a:spAutoFit/>
          </a:bodyPr>
          <a:lstStyle/>
          <a:p>
            <a:pPr marL="0" lvl="0" indent="0" algn="just">
              <a:lnSpc>
                <a:spcPts val="3077"/>
              </a:lnSpc>
              <a:spcBef>
                <a:spcPct val="0"/>
              </a:spcBef>
            </a:pPr>
            <a:r>
              <a:rPr lang="en-US" sz="2198">
                <a:solidFill>
                  <a:srgbClr val="FFFFFF"/>
                </a:solidFill>
                <a:latin typeface="Roboto"/>
                <a:ea typeface="Roboto"/>
                <a:cs typeface="Roboto"/>
                <a:sym typeface="Roboto"/>
              </a:rPr>
              <a:t>Analyze the available hospital dataset in Tableau using validated measures across patient flow, admission trends, department utilization, resource indicators, and patient profiles — providing management with a reliable, evidence-based foundation for operational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92C8"/>
        </a:solidFill>
        <a:effectLst/>
      </p:bgPr>
    </p:bg>
    <p:spTree>
      <p:nvGrpSpPr>
        <p:cNvPr id="1" name=""/>
        <p:cNvGrpSpPr/>
        <p:nvPr/>
      </p:nvGrpSpPr>
      <p:grpSpPr>
        <a:xfrm>
          <a:off x="0" y="0"/>
          <a:ext cx="0" cy="0"/>
          <a:chOff x="0" y="0"/>
          <a:chExt cx="0" cy="0"/>
        </a:xfrm>
      </p:grpSpPr>
      <p:grpSp>
        <p:nvGrpSpPr>
          <p:cNvPr id="2" name="Group 2"/>
          <p:cNvGrpSpPr/>
          <p:nvPr/>
        </p:nvGrpSpPr>
        <p:grpSpPr>
          <a:xfrm>
            <a:off x="471438" y="5161013"/>
            <a:ext cx="6410292" cy="8364682"/>
            <a:chOff x="0" y="0"/>
            <a:chExt cx="611080" cy="797387"/>
          </a:xfrm>
        </p:grpSpPr>
        <p:sp>
          <p:nvSpPr>
            <p:cNvPr id="3" name="Freeform 3"/>
            <p:cNvSpPr/>
            <p:nvPr/>
          </p:nvSpPr>
          <p:spPr>
            <a:xfrm>
              <a:off x="0" y="0"/>
              <a:ext cx="611080" cy="797387"/>
            </a:xfrm>
            <a:custGeom>
              <a:avLst/>
              <a:gdLst/>
              <a:ahLst/>
              <a:cxnLst/>
              <a:rect l="l" t="t" r="r" b="b"/>
              <a:pathLst>
                <a:path w="611080" h="797387">
                  <a:moveTo>
                    <a:pt x="203803" y="19070"/>
                  </a:moveTo>
                  <a:cubicBezTo>
                    <a:pt x="235031" y="7556"/>
                    <a:pt x="270748" y="0"/>
                    <a:pt x="305704" y="0"/>
                  </a:cubicBezTo>
                  <a:cubicBezTo>
                    <a:pt x="340662" y="0"/>
                    <a:pt x="374299" y="6476"/>
                    <a:pt x="405297" y="17990"/>
                  </a:cubicBezTo>
                  <a:cubicBezTo>
                    <a:pt x="405958" y="18350"/>
                    <a:pt x="406617" y="18350"/>
                    <a:pt x="407276" y="18710"/>
                  </a:cubicBezTo>
                  <a:cubicBezTo>
                    <a:pt x="523688" y="64765"/>
                    <a:pt x="609431" y="186379"/>
                    <a:pt x="611080" y="328160"/>
                  </a:cubicBezTo>
                  <a:lnTo>
                    <a:pt x="611080" y="699259"/>
                  </a:lnTo>
                  <a:cubicBezTo>
                    <a:pt x="611080" y="753454"/>
                    <a:pt x="567146" y="797387"/>
                    <a:pt x="512951" y="797387"/>
                  </a:cubicBezTo>
                  <a:lnTo>
                    <a:pt x="98128" y="797387"/>
                  </a:lnTo>
                  <a:cubicBezTo>
                    <a:pt x="43934" y="797387"/>
                    <a:pt x="0" y="753454"/>
                    <a:pt x="0" y="699259"/>
                  </a:cubicBezTo>
                  <a:lnTo>
                    <a:pt x="0" y="328508"/>
                  </a:lnTo>
                  <a:cubicBezTo>
                    <a:pt x="1649" y="185660"/>
                    <a:pt x="86072" y="64045"/>
                    <a:pt x="203803" y="19070"/>
                  </a:cubicBezTo>
                  <a:lnTo>
                    <a:pt x="203803" y="19070"/>
                  </a:lnTo>
                  <a:close/>
                </a:path>
              </a:pathLst>
            </a:custGeom>
            <a:solidFill>
              <a:srgbClr val="0B5D7B"/>
            </a:solidFill>
          </p:spPr>
        </p:sp>
        <p:sp>
          <p:nvSpPr>
            <p:cNvPr id="4" name="TextBox 4"/>
            <p:cNvSpPr txBox="1"/>
            <p:nvPr/>
          </p:nvSpPr>
          <p:spPr>
            <a:xfrm>
              <a:off x="0" y="88900"/>
              <a:ext cx="611080" cy="708487"/>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10800000">
            <a:off x="1095375" y="-2688730"/>
            <a:ext cx="7309296" cy="9282599"/>
            <a:chOff x="0" y="0"/>
            <a:chExt cx="611080" cy="776054"/>
          </a:xfrm>
        </p:grpSpPr>
        <p:sp>
          <p:nvSpPr>
            <p:cNvPr id="6" name="Freeform 6"/>
            <p:cNvSpPr/>
            <p:nvPr/>
          </p:nvSpPr>
          <p:spPr>
            <a:xfrm>
              <a:off x="0" y="0"/>
              <a:ext cx="611080" cy="776054"/>
            </a:xfrm>
            <a:custGeom>
              <a:avLst/>
              <a:gdLst/>
              <a:ahLst/>
              <a:cxnLst/>
              <a:rect l="l" t="t" r="r" b="b"/>
              <a:pathLst>
                <a:path w="611080" h="776054">
                  <a:moveTo>
                    <a:pt x="203803" y="19070"/>
                  </a:moveTo>
                  <a:cubicBezTo>
                    <a:pt x="235031" y="7556"/>
                    <a:pt x="270748" y="0"/>
                    <a:pt x="305704" y="0"/>
                  </a:cubicBezTo>
                  <a:cubicBezTo>
                    <a:pt x="340662" y="0"/>
                    <a:pt x="374299" y="6476"/>
                    <a:pt x="405297" y="17990"/>
                  </a:cubicBezTo>
                  <a:cubicBezTo>
                    <a:pt x="405958" y="18350"/>
                    <a:pt x="406617" y="18350"/>
                    <a:pt x="407276" y="18710"/>
                  </a:cubicBezTo>
                  <a:cubicBezTo>
                    <a:pt x="523688" y="64765"/>
                    <a:pt x="609431" y="186379"/>
                    <a:pt x="611080" y="327686"/>
                  </a:cubicBezTo>
                  <a:lnTo>
                    <a:pt x="611080" y="689995"/>
                  </a:lnTo>
                  <a:cubicBezTo>
                    <a:pt x="611080" y="737524"/>
                    <a:pt x="572550" y="776054"/>
                    <a:pt x="525021" y="776054"/>
                  </a:cubicBezTo>
                  <a:lnTo>
                    <a:pt x="86059" y="776054"/>
                  </a:lnTo>
                  <a:cubicBezTo>
                    <a:pt x="38530" y="776054"/>
                    <a:pt x="0" y="737524"/>
                    <a:pt x="0" y="689995"/>
                  </a:cubicBezTo>
                  <a:lnTo>
                    <a:pt x="0" y="328019"/>
                  </a:lnTo>
                  <a:cubicBezTo>
                    <a:pt x="1649" y="185660"/>
                    <a:pt x="86072" y="64045"/>
                    <a:pt x="203803" y="19070"/>
                  </a:cubicBezTo>
                  <a:lnTo>
                    <a:pt x="203803" y="19070"/>
                  </a:lnTo>
                  <a:close/>
                </a:path>
              </a:pathLst>
            </a:custGeom>
            <a:solidFill>
              <a:srgbClr val="FFFFFF"/>
            </a:solidFill>
          </p:spPr>
        </p:sp>
        <p:sp>
          <p:nvSpPr>
            <p:cNvPr id="7" name="TextBox 7"/>
            <p:cNvSpPr txBox="1"/>
            <p:nvPr/>
          </p:nvSpPr>
          <p:spPr>
            <a:xfrm>
              <a:off x="0" y="88900"/>
              <a:ext cx="611080" cy="687154"/>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1587259" y="1901485"/>
            <a:ext cx="6592229" cy="1760468"/>
          </a:xfrm>
          <a:prstGeom prst="rect">
            <a:avLst/>
          </a:prstGeom>
        </p:spPr>
        <p:txBody>
          <a:bodyPr lIns="0" tIns="0" rIns="0" bIns="0" rtlCol="0" anchor="t">
            <a:spAutoFit/>
          </a:bodyPr>
          <a:lstStyle/>
          <a:p>
            <a:pPr marL="0" lvl="0" indent="0" algn="l">
              <a:lnSpc>
                <a:spcPts val="6917"/>
              </a:lnSpc>
            </a:pPr>
            <a:r>
              <a:rPr lang="en-US" sz="6067">
                <a:solidFill>
                  <a:srgbClr val="0B5D7B"/>
                </a:solidFill>
                <a:latin typeface="Ramabhadra"/>
                <a:ea typeface="Ramabhadra"/>
                <a:cs typeface="Ramabhadra"/>
                <a:sym typeface="Ramabhadra"/>
              </a:rPr>
              <a:t>DATASET &amp;</a:t>
            </a:r>
          </a:p>
          <a:p>
            <a:pPr marL="0" lvl="0" indent="0" algn="l">
              <a:lnSpc>
                <a:spcPts val="6917"/>
              </a:lnSpc>
            </a:pPr>
            <a:r>
              <a:rPr lang="en-US" sz="6067">
                <a:solidFill>
                  <a:srgbClr val="0B5D7B"/>
                </a:solidFill>
                <a:latin typeface="Ramabhadra"/>
                <a:ea typeface="Ramabhadra"/>
                <a:cs typeface="Ramabhadra"/>
                <a:sym typeface="Ramabhadra"/>
              </a:rPr>
              <a:t>METHODOLOGY</a:t>
            </a:r>
          </a:p>
        </p:txBody>
      </p:sp>
      <p:sp>
        <p:nvSpPr>
          <p:cNvPr id="9" name="TextBox 9"/>
          <p:cNvSpPr txBox="1"/>
          <p:nvPr/>
        </p:nvSpPr>
        <p:spPr>
          <a:xfrm>
            <a:off x="12818123" y="1762125"/>
            <a:ext cx="4441177" cy="1851207"/>
          </a:xfrm>
          <a:prstGeom prst="rect">
            <a:avLst/>
          </a:prstGeom>
        </p:spPr>
        <p:txBody>
          <a:bodyPr lIns="0" tIns="0" rIns="0" bIns="0" rtlCol="0" anchor="t">
            <a:spAutoFit/>
          </a:bodyPr>
          <a:lstStyle/>
          <a:p>
            <a:pPr marL="0" lvl="0" indent="0" algn="just">
              <a:lnSpc>
                <a:spcPts val="2964"/>
              </a:lnSpc>
              <a:spcBef>
                <a:spcPct val="0"/>
              </a:spcBef>
            </a:pPr>
            <a:r>
              <a:rPr lang="en-US" sz="2117">
                <a:solidFill>
                  <a:srgbClr val="FFFFFF"/>
                </a:solidFill>
                <a:latin typeface="Roboto"/>
                <a:ea typeface="Roboto"/>
                <a:cs typeface="Roboto"/>
                <a:sym typeface="Roboto"/>
              </a:rPr>
              <a:t>Hospital patient records including admissions, discharges, LOS, diagnoses, and department assignments. Data spans multiple fiscal periods for trend analysis.</a:t>
            </a:r>
          </a:p>
        </p:txBody>
      </p:sp>
      <p:sp>
        <p:nvSpPr>
          <p:cNvPr id="10" name="TextBox 10"/>
          <p:cNvSpPr txBox="1"/>
          <p:nvPr/>
        </p:nvSpPr>
        <p:spPr>
          <a:xfrm>
            <a:off x="1812442" y="1062513"/>
            <a:ext cx="4197282" cy="456958"/>
          </a:xfrm>
          <a:prstGeom prst="rect">
            <a:avLst/>
          </a:prstGeom>
        </p:spPr>
        <p:txBody>
          <a:bodyPr lIns="0" tIns="0" rIns="0" bIns="0" rtlCol="0" anchor="t">
            <a:spAutoFit/>
          </a:bodyPr>
          <a:lstStyle/>
          <a:p>
            <a:pPr marL="0" lvl="0" indent="0" algn="l">
              <a:lnSpc>
                <a:spcPts val="3688"/>
              </a:lnSpc>
              <a:spcBef>
                <a:spcPct val="0"/>
              </a:spcBef>
            </a:pPr>
            <a:r>
              <a:rPr lang="en-US" sz="2634" b="1">
                <a:solidFill>
                  <a:srgbClr val="0B5D7B"/>
                </a:solidFill>
                <a:latin typeface="Roboto Bold"/>
                <a:ea typeface="Roboto Bold"/>
                <a:cs typeface="Roboto Bold"/>
                <a:sym typeface="Roboto Bold"/>
              </a:rPr>
              <a:t>Core Health Systems</a:t>
            </a:r>
          </a:p>
        </p:txBody>
      </p:sp>
      <p:sp>
        <p:nvSpPr>
          <p:cNvPr id="11" name="TextBox 11"/>
          <p:cNvSpPr txBox="1"/>
          <p:nvPr/>
        </p:nvSpPr>
        <p:spPr>
          <a:xfrm>
            <a:off x="9144000" y="1891960"/>
            <a:ext cx="3214940" cy="1095736"/>
          </a:xfrm>
          <a:prstGeom prst="rect">
            <a:avLst/>
          </a:prstGeom>
        </p:spPr>
        <p:txBody>
          <a:bodyPr lIns="0" tIns="0" rIns="0" bIns="0" rtlCol="0" anchor="t">
            <a:spAutoFit/>
          </a:bodyPr>
          <a:lstStyle/>
          <a:p>
            <a:pPr marL="0" lvl="0" indent="0" algn="l">
              <a:lnSpc>
                <a:spcPts val="4328"/>
              </a:lnSpc>
            </a:pPr>
            <a:r>
              <a:rPr lang="en-US" sz="3797">
                <a:solidFill>
                  <a:srgbClr val="FFFFFF"/>
                </a:solidFill>
                <a:latin typeface="Ramabhadra"/>
                <a:ea typeface="Ramabhadra"/>
                <a:cs typeface="Ramabhadra"/>
                <a:sym typeface="Ramabhadra"/>
              </a:rPr>
              <a:t>Data Sources</a:t>
            </a:r>
          </a:p>
          <a:p>
            <a:pPr marL="0" lvl="0" indent="0" algn="l">
              <a:lnSpc>
                <a:spcPts val="4328"/>
              </a:lnSpc>
            </a:pPr>
            <a:r>
              <a:rPr lang="en-US" sz="3797">
                <a:solidFill>
                  <a:srgbClr val="FFFFFF"/>
                </a:solidFill>
                <a:latin typeface="Ramabhadra"/>
                <a:ea typeface="Ramabhadra"/>
                <a:cs typeface="Ramabhadra"/>
                <a:sym typeface="Ramabhadra"/>
              </a:rPr>
              <a:t>&amp; Scope</a:t>
            </a:r>
          </a:p>
        </p:txBody>
      </p:sp>
      <p:sp>
        <p:nvSpPr>
          <p:cNvPr id="12" name="TextBox 12"/>
          <p:cNvSpPr txBox="1"/>
          <p:nvPr/>
        </p:nvSpPr>
        <p:spPr>
          <a:xfrm>
            <a:off x="12818123" y="4360278"/>
            <a:ext cx="4441177" cy="1851207"/>
          </a:xfrm>
          <a:prstGeom prst="rect">
            <a:avLst/>
          </a:prstGeom>
        </p:spPr>
        <p:txBody>
          <a:bodyPr lIns="0" tIns="0" rIns="0" bIns="0" rtlCol="0" anchor="t">
            <a:spAutoFit/>
          </a:bodyPr>
          <a:lstStyle/>
          <a:p>
            <a:pPr marL="0" lvl="0" indent="0" algn="just">
              <a:lnSpc>
                <a:spcPts val="2964"/>
              </a:lnSpc>
              <a:spcBef>
                <a:spcPct val="0"/>
              </a:spcBef>
            </a:pPr>
            <a:r>
              <a:rPr lang="en-US" sz="2117">
                <a:solidFill>
                  <a:srgbClr val="FFFFFF"/>
                </a:solidFill>
                <a:latin typeface="Roboto"/>
                <a:ea typeface="Roboto"/>
                <a:cs typeface="Roboto"/>
                <a:sym typeface="Roboto"/>
              </a:rPr>
              <a:t>Data cleaned and joined in Tableau Prep. Calculated fields include bed occupancy rate, avg. LOS by department, readmission flags, and resource utilization ratios.</a:t>
            </a:r>
          </a:p>
        </p:txBody>
      </p:sp>
      <p:sp>
        <p:nvSpPr>
          <p:cNvPr id="13" name="TextBox 13"/>
          <p:cNvSpPr txBox="1"/>
          <p:nvPr/>
        </p:nvSpPr>
        <p:spPr>
          <a:xfrm>
            <a:off x="12818123" y="6991900"/>
            <a:ext cx="4441177" cy="2222682"/>
          </a:xfrm>
          <a:prstGeom prst="rect">
            <a:avLst/>
          </a:prstGeom>
        </p:spPr>
        <p:txBody>
          <a:bodyPr lIns="0" tIns="0" rIns="0" bIns="0" rtlCol="0" anchor="t">
            <a:spAutoFit/>
          </a:bodyPr>
          <a:lstStyle/>
          <a:p>
            <a:pPr marL="0" lvl="0" indent="0" algn="just">
              <a:lnSpc>
                <a:spcPts val="2964"/>
              </a:lnSpc>
              <a:spcBef>
                <a:spcPct val="0"/>
              </a:spcBef>
            </a:pPr>
            <a:r>
              <a:rPr lang="en-US" sz="2117">
                <a:solidFill>
                  <a:srgbClr val="FFFFFF"/>
                </a:solidFill>
                <a:latin typeface="Roboto"/>
                <a:ea typeface="Roboto"/>
                <a:cs typeface="Roboto"/>
                <a:sym typeface="Roboto"/>
              </a:rPr>
              <a:t>Unsupported figures excluded. Findings marked [Verified Finding] where confirmed. Outliers reviewed manually. Dashboard filters applied to ensure accurate cohort comparisons.</a:t>
            </a:r>
          </a:p>
        </p:txBody>
      </p:sp>
      <p:sp>
        <p:nvSpPr>
          <p:cNvPr id="14" name="TextBox 14"/>
          <p:cNvSpPr txBox="1"/>
          <p:nvPr/>
        </p:nvSpPr>
        <p:spPr>
          <a:xfrm>
            <a:off x="9144000" y="4526092"/>
            <a:ext cx="3674123" cy="1638661"/>
          </a:xfrm>
          <a:prstGeom prst="rect">
            <a:avLst/>
          </a:prstGeom>
        </p:spPr>
        <p:txBody>
          <a:bodyPr lIns="0" tIns="0" rIns="0" bIns="0" rtlCol="0" anchor="t">
            <a:spAutoFit/>
          </a:bodyPr>
          <a:lstStyle/>
          <a:p>
            <a:pPr marL="0" lvl="0" indent="0" algn="l">
              <a:lnSpc>
                <a:spcPts val="4328"/>
              </a:lnSpc>
            </a:pPr>
            <a:r>
              <a:rPr lang="en-US" sz="3797">
                <a:solidFill>
                  <a:srgbClr val="FFFFFF"/>
                </a:solidFill>
                <a:latin typeface="Ramabhadra"/>
                <a:ea typeface="Ramabhadra"/>
                <a:cs typeface="Ramabhadra"/>
                <a:sym typeface="Ramabhadra"/>
              </a:rPr>
              <a:t>Tableau Prep</a:t>
            </a:r>
          </a:p>
          <a:p>
            <a:pPr marL="0" lvl="0" indent="0" algn="l">
              <a:lnSpc>
                <a:spcPts val="4328"/>
              </a:lnSpc>
            </a:pPr>
            <a:r>
              <a:rPr lang="en-US" sz="3797">
                <a:solidFill>
                  <a:srgbClr val="FFFFFF"/>
                </a:solidFill>
                <a:latin typeface="Ramabhadra"/>
                <a:ea typeface="Ramabhadra"/>
                <a:cs typeface="Ramabhadra"/>
                <a:sym typeface="Ramabhadra"/>
              </a:rPr>
              <a:t>&amp; Calculated</a:t>
            </a:r>
          </a:p>
          <a:p>
            <a:pPr marL="0" lvl="0" indent="0" algn="l">
              <a:lnSpc>
                <a:spcPts val="4328"/>
              </a:lnSpc>
            </a:pPr>
            <a:r>
              <a:rPr lang="en-US" sz="3797">
                <a:solidFill>
                  <a:srgbClr val="FFFFFF"/>
                </a:solidFill>
                <a:latin typeface="Ramabhadra"/>
                <a:ea typeface="Ramabhadra"/>
                <a:cs typeface="Ramabhadra"/>
                <a:sym typeface="Ramabhadra"/>
              </a:rPr>
              <a:t>Measures</a:t>
            </a:r>
          </a:p>
        </p:txBody>
      </p:sp>
      <p:sp>
        <p:nvSpPr>
          <p:cNvPr id="15" name="TextBox 15"/>
          <p:cNvSpPr txBox="1"/>
          <p:nvPr/>
        </p:nvSpPr>
        <p:spPr>
          <a:xfrm>
            <a:off x="9144000" y="7004015"/>
            <a:ext cx="3674123" cy="1095736"/>
          </a:xfrm>
          <a:prstGeom prst="rect">
            <a:avLst/>
          </a:prstGeom>
        </p:spPr>
        <p:txBody>
          <a:bodyPr lIns="0" tIns="0" rIns="0" bIns="0" rtlCol="0" anchor="t">
            <a:spAutoFit/>
          </a:bodyPr>
          <a:lstStyle/>
          <a:p>
            <a:pPr marL="0" lvl="0" indent="0" algn="l">
              <a:lnSpc>
                <a:spcPts val="4328"/>
              </a:lnSpc>
            </a:pPr>
            <a:r>
              <a:rPr lang="en-US" sz="3797">
                <a:solidFill>
                  <a:srgbClr val="FFFFFF"/>
                </a:solidFill>
                <a:latin typeface="Ramabhadra"/>
                <a:ea typeface="Ramabhadra"/>
                <a:cs typeface="Ramabhadra"/>
                <a:sym typeface="Ramabhadra"/>
              </a:rPr>
              <a:t>Validation</a:t>
            </a:r>
          </a:p>
          <a:p>
            <a:pPr marL="0" lvl="0" indent="0" algn="l">
              <a:lnSpc>
                <a:spcPts val="4328"/>
              </a:lnSpc>
            </a:pPr>
            <a:r>
              <a:rPr lang="en-US" sz="3797">
                <a:solidFill>
                  <a:srgbClr val="FFFFFF"/>
                </a:solidFill>
                <a:latin typeface="Ramabhadra"/>
                <a:ea typeface="Ramabhadra"/>
                <a:cs typeface="Ramabhadra"/>
                <a:sym typeface="Ramabhadra"/>
              </a:rPr>
              <a:t>&amp; Integrity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122728">
            <a:off x="11881046" y="-5414487"/>
            <a:ext cx="9177769" cy="9177769"/>
            <a:chOff x="0" y="0"/>
            <a:chExt cx="558800" cy="558800"/>
          </a:xfrm>
        </p:grpSpPr>
        <p:sp>
          <p:nvSpPr>
            <p:cNvPr id="3" name="Freeform 3"/>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0B5D7B"/>
            </a:solidFill>
          </p:spPr>
        </p:sp>
        <p:sp>
          <p:nvSpPr>
            <p:cNvPr id="4" name="TextBox 4"/>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3546060">
            <a:off x="-1306610" y="4701828"/>
            <a:ext cx="10822111" cy="10822111"/>
            <a:chOff x="0" y="0"/>
            <a:chExt cx="558800" cy="558800"/>
          </a:xfrm>
        </p:grpSpPr>
        <p:sp>
          <p:nvSpPr>
            <p:cNvPr id="6" name="Freeform 6"/>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0B5D7B"/>
            </a:solidFill>
          </p:spPr>
        </p:sp>
        <p:sp>
          <p:nvSpPr>
            <p:cNvPr id="7" name="TextBox 7"/>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736232"/>
            <a:ext cx="7503175" cy="7522068"/>
            <a:chOff x="0" y="0"/>
            <a:chExt cx="812800" cy="814847"/>
          </a:xfrm>
        </p:grpSpPr>
        <p:sp>
          <p:nvSpPr>
            <p:cNvPr id="9" name="Freeform 9"/>
            <p:cNvSpPr/>
            <p:nvPr/>
          </p:nvSpPr>
          <p:spPr>
            <a:xfrm>
              <a:off x="0" y="0"/>
              <a:ext cx="812800" cy="814847"/>
            </a:xfrm>
            <a:custGeom>
              <a:avLst/>
              <a:gdLst/>
              <a:ahLst/>
              <a:cxnLst/>
              <a:rect l="l" t="t" r="r" b="b"/>
              <a:pathLst>
                <a:path w="812800" h="814847">
                  <a:moveTo>
                    <a:pt x="733382" y="0"/>
                  </a:moveTo>
                  <a:lnTo>
                    <a:pt x="79418" y="0"/>
                  </a:lnTo>
                  <a:cubicBezTo>
                    <a:pt x="79418" y="43699"/>
                    <a:pt x="44079" y="79418"/>
                    <a:pt x="0" y="79418"/>
                  </a:cubicBezTo>
                  <a:lnTo>
                    <a:pt x="0" y="735429"/>
                  </a:lnTo>
                  <a:cubicBezTo>
                    <a:pt x="43699" y="735429"/>
                    <a:pt x="79418" y="770768"/>
                    <a:pt x="79418" y="814847"/>
                  </a:cubicBezTo>
                  <a:lnTo>
                    <a:pt x="733382" y="814847"/>
                  </a:lnTo>
                  <a:cubicBezTo>
                    <a:pt x="733382" y="771147"/>
                    <a:pt x="768721" y="735429"/>
                    <a:pt x="812800" y="735429"/>
                  </a:cubicBezTo>
                  <a:lnTo>
                    <a:pt x="812800" y="79418"/>
                  </a:lnTo>
                  <a:cubicBezTo>
                    <a:pt x="769101" y="79418"/>
                    <a:pt x="733382" y="44079"/>
                    <a:pt x="733382" y="0"/>
                  </a:cubicBezTo>
                  <a:close/>
                </a:path>
              </a:pathLst>
            </a:custGeom>
            <a:solidFill>
              <a:srgbClr val="0092C8"/>
            </a:solidFill>
          </p:spPr>
        </p:sp>
        <p:sp>
          <p:nvSpPr>
            <p:cNvPr id="10" name="TextBox 10"/>
            <p:cNvSpPr txBox="1"/>
            <p:nvPr/>
          </p:nvSpPr>
          <p:spPr>
            <a:xfrm>
              <a:off x="38100" y="0"/>
              <a:ext cx="736600" cy="776747"/>
            </a:xfrm>
            <a:prstGeom prst="rect">
              <a:avLst/>
            </a:prstGeom>
          </p:spPr>
          <p:txBody>
            <a:bodyPr lIns="50800" tIns="50800" rIns="50800" bIns="50800" rtlCol="0" anchor="ctr"/>
            <a:lstStyle/>
            <a:p>
              <a:pPr marL="0" lvl="0" indent="0" algn="ctr">
                <a:lnSpc>
                  <a:spcPts val="2659"/>
                </a:lnSpc>
              </a:pPr>
              <a:endParaRPr/>
            </a:p>
          </p:txBody>
        </p:sp>
      </p:grpSp>
      <p:pic>
        <p:nvPicPr>
          <p:cNvPr id="11" name="Picture 11"/>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796052" y="5537588"/>
            <a:ext cx="5792747" cy="3204383"/>
          </a:xfrm>
          <a:prstGeom prst="rect">
            <a:avLst/>
          </a:prstGeom>
        </p:spPr>
      </p:pic>
      <p:grpSp>
        <p:nvGrpSpPr>
          <p:cNvPr id="12" name="Group 12"/>
          <p:cNvGrpSpPr/>
          <p:nvPr/>
        </p:nvGrpSpPr>
        <p:grpSpPr>
          <a:xfrm>
            <a:off x="9663580" y="1028700"/>
            <a:ext cx="7211623" cy="2680385"/>
            <a:chOff x="0" y="0"/>
            <a:chExt cx="1899357" cy="705945"/>
          </a:xfrm>
        </p:grpSpPr>
        <p:sp>
          <p:nvSpPr>
            <p:cNvPr id="13" name="Freeform 13"/>
            <p:cNvSpPr/>
            <p:nvPr/>
          </p:nvSpPr>
          <p:spPr>
            <a:xfrm>
              <a:off x="0" y="0"/>
              <a:ext cx="1899358" cy="705945"/>
            </a:xfrm>
            <a:custGeom>
              <a:avLst/>
              <a:gdLst/>
              <a:ahLst/>
              <a:cxnLst/>
              <a:rect l="l" t="t" r="r" b="b"/>
              <a:pathLst>
                <a:path w="1899358" h="705945">
                  <a:moveTo>
                    <a:pt x="50456" y="0"/>
                  </a:moveTo>
                  <a:lnTo>
                    <a:pt x="1848901" y="0"/>
                  </a:lnTo>
                  <a:cubicBezTo>
                    <a:pt x="1876768" y="0"/>
                    <a:pt x="1899358" y="22590"/>
                    <a:pt x="1899358" y="50456"/>
                  </a:cubicBezTo>
                  <a:lnTo>
                    <a:pt x="1899358" y="655489"/>
                  </a:lnTo>
                  <a:cubicBezTo>
                    <a:pt x="1899358" y="683355"/>
                    <a:pt x="1876768" y="705945"/>
                    <a:pt x="1848901" y="705945"/>
                  </a:cubicBezTo>
                  <a:lnTo>
                    <a:pt x="50456" y="705945"/>
                  </a:lnTo>
                  <a:cubicBezTo>
                    <a:pt x="37074" y="705945"/>
                    <a:pt x="24241" y="700629"/>
                    <a:pt x="14778" y="691167"/>
                  </a:cubicBezTo>
                  <a:cubicBezTo>
                    <a:pt x="5316" y="681704"/>
                    <a:pt x="0" y="668871"/>
                    <a:pt x="0" y="655489"/>
                  </a:cubicBezTo>
                  <a:lnTo>
                    <a:pt x="0" y="50456"/>
                  </a:lnTo>
                  <a:cubicBezTo>
                    <a:pt x="0" y="22590"/>
                    <a:pt x="22590" y="0"/>
                    <a:pt x="50456" y="0"/>
                  </a:cubicBezTo>
                  <a:close/>
                </a:path>
              </a:pathLst>
            </a:custGeom>
            <a:solidFill>
              <a:srgbClr val="0092C8"/>
            </a:solidFill>
          </p:spPr>
        </p:sp>
        <p:sp>
          <p:nvSpPr>
            <p:cNvPr id="14" name="TextBox 14"/>
            <p:cNvSpPr txBox="1"/>
            <p:nvPr/>
          </p:nvSpPr>
          <p:spPr>
            <a:xfrm>
              <a:off x="0" y="-38100"/>
              <a:ext cx="1899357" cy="744045"/>
            </a:xfrm>
            <a:prstGeom prst="rect">
              <a:avLst/>
            </a:prstGeom>
          </p:spPr>
          <p:txBody>
            <a:bodyPr lIns="50800" tIns="50800" rIns="50800" bIns="50800" rtlCol="0" anchor="ctr"/>
            <a:lstStyle/>
            <a:p>
              <a:pPr marL="0" lvl="0" indent="0" algn="ctr">
                <a:lnSpc>
                  <a:spcPts val="2659"/>
                </a:lnSpc>
              </a:pPr>
              <a:endParaRPr/>
            </a:p>
          </p:txBody>
        </p:sp>
      </p:grpSp>
      <p:sp>
        <p:nvSpPr>
          <p:cNvPr id="16" name="TextBox 16"/>
          <p:cNvSpPr txBox="1"/>
          <p:nvPr/>
        </p:nvSpPr>
        <p:spPr>
          <a:xfrm>
            <a:off x="10024819" y="2104657"/>
            <a:ext cx="6445112" cy="417195"/>
          </a:xfrm>
          <a:prstGeom prst="rect">
            <a:avLst/>
          </a:prstGeom>
        </p:spPr>
        <p:txBody>
          <a:bodyPr lIns="0" tIns="0" rIns="0" bIns="0" rtlCol="0" anchor="t">
            <a:spAutoFit/>
          </a:bodyPr>
          <a:lstStyle/>
          <a:p>
            <a:pPr marL="0" lvl="0" indent="0" algn="just">
              <a:lnSpc>
                <a:spcPts val="1679"/>
              </a:lnSpc>
              <a:spcBef>
                <a:spcPct val="0"/>
              </a:spcBef>
            </a:pPr>
            <a:r>
              <a:rPr lang="en-US" sz="1200">
                <a:solidFill>
                  <a:srgbClr val="FFFFFF"/>
                </a:solidFill>
                <a:latin typeface="Roboto"/>
                <a:ea typeface="Roboto"/>
                <a:cs typeface="Roboto"/>
                <a:sym typeface="Roboto"/>
              </a:rPr>
              <a:t>Tracks daily patient admissions, walk-ins, and referrals by entry point. Management uses this to identify peak arrival windows and allocate front-line resources proactively.</a:t>
            </a:r>
          </a:p>
        </p:txBody>
      </p:sp>
      <p:sp>
        <p:nvSpPr>
          <p:cNvPr id="17" name="TextBox 17"/>
          <p:cNvSpPr txBox="1"/>
          <p:nvPr/>
        </p:nvSpPr>
        <p:spPr>
          <a:xfrm>
            <a:off x="1812442" y="1081563"/>
            <a:ext cx="4969358" cy="256480"/>
          </a:xfrm>
          <a:prstGeom prst="rect">
            <a:avLst/>
          </a:prstGeom>
        </p:spPr>
        <p:txBody>
          <a:bodyPr wrap="square" lIns="0" tIns="0" rIns="0" bIns="0" rtlCol="0" anchor="t">
            <a:spAutoFit/>
          </a:bodyPr>
          <a:lstStyle/>
          <a:p>
            <a:pPr marL="0" lvl="0" indent="0" algn="l">
              <a:lnSpc>
                <a:spcPts val="2007"/>
              </a:lnSpc>
              <a:spcBef>
                <a:spcPct val="0"/>
              </a:spcBef>
            </a:pPr>
            <a:r>
              <a:rPr lang="en-US" sz="1880" b="1" dirty="0">
                <a:solidFill>
                  <a:srgbClr val="0B5D7B"/>
                </a:solidFill>
                <a:latin typeface="Roboto Bold"/>
                <a:ea typeface="Roboto Bold"/>
                <a:cs typeface="Roboto Bold"/>
                <a:sym typeface="Roboto Bold"/>
              </a:rPr>
              <a:t>Hospital &amp; Patient Analytics Dashboard</a:t>
            </a:r>
          </a:p>
        </p:txBody>
      </p:sp>
      <p:sp>
        <p:nvSpPr>
          <p:cNvPr id="18" name="TextBox 18"/>
          <p:cNvSpPr txBox="1"/>
          <p:nvPr/>
        </p:nvSpPr>
        <p:spPr>
          <a:xfrm>
            <a:off x="10024819" y="1329068"/>
            <a:ext cx="4201916" cy="301499"/>
          </a:xfrm>
          <a:prstGeom prst="rect">
            <a:avLst/>
          </a:prstGeom>
        </p:spPr>
        <p:txBody>
          <a:bodyPr lIns="0" tIns="0" rIns="0" bIns="0" rtlCol="0" anchor="t">
            <a:spAutoFit/>
          </a:bodyPr>
          <a:lstStyle/>
          <a:p>
            <a:pPr marL="0" lvl="0" indent="0" algn="l">
              <a:lnSpc>
                <a:spcPts val="2356"/>
              </a:lnSpc>
            </a:pPr>
            <a:r>
              <a:rPr lang="en-US" sz="2066">
                <a:solidFill>
                  <a:srgbClr val="FFFFFF"/>
                </a:solidFill>
                <a:latin typeface="Ramabhadra"/>
                <a:ea typeface="Ramabhadra"/>
                <a:cs typeface="Ramabhadra"/>
                <a:sym typeface="Ramabhadra"/>
              </a:rPr>
              <a:t>Admissions &amp; Arrivals</a:t>
            </a:r>
          </a:p>
        </p:txBody>
      </p:sp>
      <p:grpSp>
        <p:nvGrpSpPr>
          <p:cNvPr id="19" name="Group 19"/>
          <p:cNvGrpSpPr/>
          <p:nvPr/>
        </p:nvGrpSpPr>
        <p:grpSpPr>
          <a:xfrm>
            <a:off x="9641563" y="3828415"/>
            <a:ext cx="7211623" cy="2680385"/>
            <a:chOff x="0" y="0"/>
            <a:chExt cx="1899357" cy="705945"/>
          </a:xfrm>
        </p:grpSpPr>
        <p:sp>
          <p:nvSpPr>
            <p:cNvPr id="20" name="Freeform 20"/>
            <p:cNvSpPr/>
            <p:nvPr/>
          </p:nvSpPr>
          <p:spPr>
            <a:xfrm>
              <a:off x="0" y="0"/>
              <a:ext cx="1899358" cy="705945"/>
            </a:xfrm>
            <a:custGeom>
              <a:avLst/>
              <a:gdLst/>
              <a:ahLst/>
              <a:cxnLst/>
              <a:rect l="l" t="t" r="r" b="b"/>
              <a:pathLst>
                <a:path w="1899358" h="705945">
                  <a:moveTo>
                    <a:pt x="50456" y="0"/>
                  </a:moveTo>
                  <a:lnTo>
                    <a:pt x="1848901" y="0"/>
                  </a:lnTo>
                  <a:cubicBezTo>
                    <a:pt x="1876768" y="0"/>
                    <a:pt x="1899358" y="22590"/>
                    <a:pt x="1899358" y="50456"/>
                  </a:cubicBezTo>
                  <a:lnTo>
                    <a:pt x="1899358" y="655489"/>
                  </a:lnTo>
                  <a:cubicBezTo>
                    <a:pt x="1899358" y="683355"/>
                    <a:pt x="1876768" y="705945"/>
                    <a:pt x="1848901" y="705945"/>
                  </a:cubicBezTo>
                  <a:lnTo>
                    <a:pt x="50456" y="705945"/>
                  </a:lnTo>
                  <a:cubicBezTo>
                    <a:pt x="37074" y="705945"/>
                    <a:pt x="24241" y="700629"/>
                    <a:pt x="14778" y="691167"/>
                  </a:cubicBezTo>
                  <a:cubicBezTo>
                    <a:pt x="5316" y="681704"/>
                    <a:pt x="0" y="668871"/>
                    <a:pt x="0" y="655489"/>
                  </a:cubicBezTo>
                  <a:lnTo>
                    <a:pt x="0" y="50456"/>
                  </a:lnTo>
                  <a:cubicBezTo>
                    <a:pt x="0" y="22590"/>
                    <a:pt x="22590" y="0"/>
                    <a:pt x="50456" y="0"/>
                  </a:cubicBezTo>
                  <a:close/>
                </a:path>
              </a:pathLst>
            </a:custGeom>
            <a:solidFill>
              <a:srgbClr val="0092C8"/>
            </a:solidFill>
          </p:spPr>
        </p:sp>
        <p:sp>
          <p:nvSpPr>
            <p:cNvPr id="21" name="TextBox 21"/>
            <p:cNvSpPr txBox="1"/>
            <p:nvPr/>
          </p:nvSpPr>
          <p:spPr>
            <a:xfrm>
              <a:off x="0" y="-38100"/>
              <a:ext cx="1899357" cy="744045"/>
            </a:xfrm>
            <a:prstGeom prst="rect">
              <a:avLst/>
            </a:prstGeom>
          </p:spPr>
          <p:txBody>
            <a:bodyPr lIns="50800" tIns="50800" rIns="50800" bIns="50800" rtlCol="0" anchor="ctr"/>
            <a:lstStyle/>
            <a:p>
              <a:pPr marL="0" lvl="0" indent="0" algn="ctr">
                <a:lnSpc>
                  <a:spcPts val="2659"/>
                </a:lnSpc>
              </a:pPr>
              <a:endParaRPr/>
            </a:p>
          </p:txBody>
        </p:sp>
      </p:grpSp>
      <p:sp>
        <p:nvSpPr>
          <p:cNvPr id="22" name="TextBox 22"/>
          <p:cNvSpPr txBox="1"/>
          <p:nvPr/>
        </p:nvSpPr>
        <p:spPr>
          <a:xfrm>
            <a:off x="10046835" y="4910843"/>
            <a:ext cx="6445112" cy="626745"/>
          </a:xfrm>
          <a:prstGeom prst="rect">
            <a:avLst/>
          </a:prstGeom>
        </p:spPr>
        <p:txBody>
          <a:bodyPr lIns="0" tIns="0" rIns="0" bIns="0" rtlCol="0" anchor="t">
            <a:spAutoFit/>
          </a:bodyPr>
          <a:lstStyle/>
          <a:p>
            <a:pPr marL="0" lvl="0" indent="0" algn="just">
              <a:lnSpc>
                <a:spcPts val="1679"/>
              </a:lnSpc>
              <a:spcBef>
                <a:spcPct val="0"/>
              </a:spcBef>
            </a:pPr>
            <a:r>
              <a:rPr lang="en-US" sz="1200">
                <a:solidFill>
                  <a:srgbClr val="FFFFFF"/>
                </a:solidFill>
                <a:latin typeface="Roboto"/>
                <a:ea typeface="Roboto"/>
                <a:cs typeface="Roboto"/>
                <a:sym typeface="Roboto"/>
              </a:rPr>
              <a:t>Highlights stages where patients experience the longest wait or transfer delays — triage, imaging, and bed assignment. Pinpointing these bottlenecks is critical for reducing length of stay.</a:t>
            </a:r>
          </a:p>
        </p:txBody>
      </p:sp>
      <p:grpSp>
        <p:nvGrpSpPr>
          <p:cNvPr id="23" name="Group 23"/>
          <p:cNvGrpSpPr/>
          <p:nvPr/>
        </p:nvGrpSpPr>
        <p:grpSpPr>
          <a:xfrm>
            <a:off x="9619547" y="6628130"/>
            <a:ext cx="7211623" cy="2680385"/>
            <a:chOff x="0" y="0"/>
            <a:chExt cx="1899357" cy="705945"/>
          </a:xfrm>
        </p:grpSpPr>
        <p:sp>
          <p:nvSpPr>
            <p:cNvPr id="24" name="Freeform 24"/>
            <p:cNvSpPr/>
            <p:nvPr/>
          </p:nvSpPr>
          <p:spPr>
            <a:xfrm>
              <a:off x="0" y="0"/>
              <a:ext cx="1899358" cy="705945"/>
            </a:xfrm>
            <a:custGeom>
              <a:avLst/>
              <a:gdLst/>
              <a:ahLst/>
              <a:cxnLst/>
              <a:rect l="l" t="t" r="r" b="b"/>
              <a:pathLst>
                <a:path w="1899358" h="705945">
                  <a:moveTo>
                    <a:pt x="50456" y="0"/>
                  </a:moveTo>
                  <a:lnTo>
                    <a:pt x="1848901" y="0"/>
                  </a:lnTo>
                  <a:cubicBezTo>
                    <a:pt x="1876768" y="0"/>
                    <a:pt x="1899358" y="22590"/>
                    <a:pt x="1899358" y="50456"/>
                  </a:cubicBezTo>
                  <a:lnTo>
                    <a:pt x="1899358" y="655489"/>
                  </a:lnTo>
                  <a:cubicBezTo>
                    <a:pt x="1899358" y="683355"/>
                    <a:pt x="1876768" y="705945"/>
                    <a:pt x="1848901" y="705945"/>
                  </a:cubicBezTo>
                  <a:lnTo>
                    <a:pt x="50456" y="705945"/>
                  </a:lnTo>
                  <a:cubicBezTo>
                    <a:pt x="37074" y="705945"/>
                    <a:pt x="24241" y="700629"/>
                    <a:pt x="14778" y="691167"/>
                  </a:cubicBezTo>
                  <a:cubicBezTo>
                    <a:pt x="5316" y="681704"/>
                    <a:pt x="0" y="668871"/>
                    <a:pt x="0" y="655489"/>
                  </a:cubicBezTo>
                  <a:lnTo>
                    <a:pt x="0" y="50456"/>
                  </a:lnTo>
                  <a:cubicBezTo>
                    <a:pt x="0" y="22590"/>
                    <a:pt x="22590" y="0"/>
                    <a:pt x="50456" y="0"/>
                  </a:cubicBezTo>
                  <a:close/>
                </a:path>
              </a:pathLst>
            </a:custGeom>
            <a:solidFill>
              <a:srgbClr val="0092C8"/>
            </a:solidFill>
          </p:spPr>
        </p:sp>
        <p:sp>
          <p:nvSpPr>
            <p:cNvPr id="25" name="TextBox 25"/>
            <p:cNvSpPr txBox="1"/>
            <p:nvPr/>
          </p:nvSpPr>
          <p:spPr>
            <a:xfrm>
              <a:off x="0" y="-38100"/>
              <a:ext cx="1899357" cy="744045"/>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10068851" y="7613700"/>
            <a:ext cx="6401080" cy="417195"/>
          </a:xfrm>
          <a:prstGeom prst="rect">
            <a:avLst/>
          </a:prstGeom>
        </p:spPr>
        <p:txBody>
          <a:bodyPr lIns="0" tIns="0" rIns="0" bIns="0" rtlCol="0" anchor="t">
            <a:spAutoFit/>
          </a:bodyPr>
          <a:lstStyle/>
          <a:p>
            <a:pPr marL="0" lvl="0" indent="0" algn="just">
              <a:lnSpc>
                <a:spcPts val="1679"/>
              </a:lnSpc>
              <a:spcBef>
                <a:spcPct val="0"/>
              </a:spcBef>
            </a:pPr>
            <a:r>
              <a:rPr lang="en-US" sz="1200">
                <a:solidFill>
                  <a:srgbClr val="FFFFFF"/>
                </a:solidFill>
                <a:latin typeface="Roboto"/>
                <a:ea typeface="Roboto"/>
                <a:cs typeface="Roboto"/>
                <a:sym typeface="Roboto"/>
              </a:rPr>
              <a:t>Monitors discharge rates and bed turnover across departments. Enables management to balance capacity, reduce boarding, and improve overall patient throughput efficiency.</a:t>
            </a:r>
          </a:p>
        </p:txBody>
      </p:sp>
      <p:sp>
        <p:nvSpPr>
          <p:cNvPr id="27" name="TextBox 27"/>
          <p:cNvSpPr txBox="1"/>
          <p:nvPr/>
        </p:nvSpPr>
        <p:spPr>
          <a:xfrm>
            <a:off x="10046835" y="4188748"/>
            <a:ext cx="5622934" cy="301499"/>
          </a:xfrm>
          <a:prstGeom prst="rect">
            <a:avLst/>
          </a:prstGeom>
        </p:spPr>
        <p:txBody>
          <a:bodyPr lIns="0" tIns="0" rIns="0" bIns="0" rtlCol="0" anchor="t">
            <a:spAutoFit/>
          </a:bodyPr>
          <a:lstStyle/>
          <a:p>
            <a:pPr marL="0" lvl="0" indent="0" algn="l">
              <a:lnSpc>
                <a:spcPts val="2356"/>
              </a:lnSpc>
            </a:pPr>
            <a:r>
              <a:rPr lang="en-US" sz="2066">
                <a:solidFill>
                  <a:srgbClr val="FFFFFF"/>
                </a:solidFill>
                <a:latin typeface="Ramabhadra"/>
                <a:ea typeface="Ramabhadra"/>
                <a:cs typeface="Ramabhadra"/>
                <a:sym typeface="Ramabhadra"/>
              </a:rPr>
              <a:t>Flow Bottlenecks</a:t>
            </a:r>
          </a:p>
        </p:txBody>
      </p:sp>
      <p:sp>
        <p:nvSpPr>
          <p:cNvPr id="28" name="TextBox 28"/>
          <p:cNvSpPr txBox="1"/>
          <p:nvPr/>
        </p:nvSpPr>
        <p:spPr>
          <a:xfrm>
            <a:off x="10068851" y="6889800"/>
            <a:ext cx="4485210" cy="301499"/>
          </a:xfrm>
          <a:prstGeom prst="rect">
            <a:avLst/>
          </a:prstGeom>
        </p:spPr>
        <p:txBody>
          <a:bodyPr lIns="0" tIns="0" rIns="0" bIns="0" rtlCol="0" anchor="t">
            <a:spAutoFit/>
          </a:bodyPr>
          <a:lstStyle/>
          <a:p>
            <a:pPr marL="0" lvl="0" indent="0" algn="l">
              <a:lnSpc>
                <a:spcPts val="2356"/>
              </a:lnSpc>
            </a:pPr>
            <a:r>
              <a:rPr lang="en-US" sz="2066">
                <a:solidFill>
                  <a:srgbClr val="FFFFFF"/>
                </a:solidFill>
                <a:latin typeface="Ramabhadra"/>
                <a:ea typeface="Ramabhadra"/>
                <a:cs typeface="Ramabhadra"/>
                <a:sym typeface="Ramabhadra"/>
              </a:rPr>
              <a:t>Discharge &amp; Throughput</a:t>
            </a:r>
          </a:p>
        </p:txBody>
      </p:sp>
      <p:pic>
        <p:nvPicPr>
          <p:cNvPr id="30" name="Picture 29">
            <a:extLst>
              <a:ext uri="{FF2B5EF4-FFF2-40B4-BE49-F238E27FC236}">
                <a16:creationId xmlns:a16="http://schemas.microsoft.com/office/drawing/2014/main" id="{A8B9A0C2-973F-C3B8-0F70-061DA7BA3551}"/>
              </a:ext>
            </a:extLst>
          </p:cNvPr>
          <p:cNvPicPr>
            <a:picLocks noChangeAspect="1"/>
          </p:cNvPicPr>
          <p:nvPr/>
        </p:nvPicPr>
        <p:blipFill>
          <a:blip r:embed="rId3"/>
          <a:stretch>
            <a:fillRect/>
          </a:stretch>
        </p:blipFill>
        <p:spPr>
          <a:xfrm>
            <a:off x="1828800" y="2019300"/>
            <a:ext cx="5760000" cy="32603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92C8"/>
        </a:solidFill>
        <a:effectLst/>
      </p:bgPr>
    </p:bg>
    <p:spTree>
      <p:nvGrpSpPr>
        <p:cNvPr id="1" name=""/>
        <p:cNvGrpSpPr/>
        <p:nvPr/>
      </p:nvGrpSpPr>
      <p:grpSpPr>
        <a:xfrm>
          <a:off x="0" y="0"/>
          <a:ext cx="0" cy="0"/>
          <a:chOff x="0" y="0"/>
          <a:chExt cx="0" cy="0"/>
        </a:xfrm>
      </p:grpSpPr>
      <p:grpSp>
        <p:nvGrpSpPr>
          <p:cNvPr id="2" name="Group 2"/>
          <p:cNvGrpSpPr/>
          <p:nvPr/>
        </p:nvGrpSpPr>
        <p:grpSpPr>
          <a:xfrm rot="-4586881">
            <a:off x="-2143891" y="-1367752"/>
            <a:ext cx="13022504" cy="13022504"/>
            <a:chOff x="0" y="0"/>
            <a:chExt cx="558800" cy="558800"/>
          </a:xfrm>
        </p:grpSpPr>
        <p:sp>
          <p:nvSpPr>
            <p:cNvPr id="3" name="Freeform 3"/>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FFFFF"/>
            </a:solidFill>
          </p:spPr>
        </p:sp>
        <p:sp>
          <p:nvSpPr>
            <p:cNvPr id="4" name="TextBox 4"/>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4586881">
            <a:off x="-6511252" y="3456301"/>
            <a:ext cx="13022504" cy="13022504"/>
            <a:chOff x="0" y="0"/>
            <a:chExt cx="558800" cy="558800"/>
          </a:xfrm>
        </p:grpSpPr>
        <p:sp>
          <p:nvSpPr>
            <p:cNvPr id="6" name="Freeform 6"/>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0B5D7B"/>
            </a:solidFill>
          </p:spPr>
        </p:sp>
        <p:sp>
          <p:nvSpPr>
            <p:cNvPr id="7" name="TextBox 7"/>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a:grpSpLocks noChangeAspect="1"/>
          </p:cNvGrpSpPr>
          <p:nvPr/>
        </p:nvGrpSpPr>
        <p:grpSpPr>
          <a:xfrm>
            <a:off x="1028700" y="3569415"/>
            <a:ext cx="7428166" cy="5987763"/>
            <a:chOff x="0" y="0"/>
            <a:chExt cx="4605527" cy="3712464"/>
          </a:xfrm>
        </p:grpSpPr>
        <p:sp>
          <p:nvSpPr>
            <p:cNvPr id="9" name="Freeform 9"/>
            <p:cNvSpPr/>
            <p:nvPr/>
          </p:nvSpPr>
          <p:spPr>
            <a:xfrm>
              <a:off x="0" y="0"/>
              <a:ext cx="4605527" cy="3712464"/>
            </a:xfrm>
            <a:custGeom>
              <a:avLst/>
              <a:gdLst/>
              <a:ahLst/>
              <a:cxnLst/>
              <a:rect l="l" t="t" r="r" b="b"/>
              <a:pathLst>
                <a:path w="4605527" h="3712464">
                  <a:moveTo>
                    <a:pt x="4605527" y="3712464"/>
                  </a:moveTo>
                  <a:lnTo>
                    <a:pt x="0" y="3712464"/>
                  </a:lnTo>
                  <a:lnTo>
                    <a:pt x="0" y="0"/>
                  </a:lnTo>
                  <a:lnTo>
                    <a:pt x="4605527" y="0"/>
                  </a:lnTo>
                  <a:lnTo>
                    <a:pt x="4605527" y="3712464"/>
                  </a:lnTo>
                  <a:close/>
                </a:path>
              </a:pathLst>
            </a:custGeom>
            <a:blipFill>
              <a:blip r:embed="rId2"/>
              <a:stretch>
                <a:fillRect l="-67" r="-67"/>
              </a:stretch>
            </a:blipFill>
          </p:spPr>
        </p:sp>
        <p:sp>
          <p:nvSpPr>
            <p:cNvPr id="10" name="Freeform 10"/>
            <p:cNvSpPr/>
            <p:nvPr/>
          </p:nvSpPr>
          <p:spPr>
            <a:xfrm>
              <a:off x="87223" y="56419"/>
              <a:ext cx="4439784" cy="3544963"/>
            </a:xfrm>
            <a:custGeom>
              <a:avLst/>
              <a:gdLst/>
              <a:ahLst/>
              <a:cxnLst/>
              <a:rect l="l" t="t" r="r" b="b"/>
              <a:pathLst>
                <a:path w="4439784" h="3544963">
                  <a:moveTo>
                    <a:pt x="2598904" y="3537741"/>
                  </a:moveTo>
                  <a:cubicBezTo>
                    <a:pt x="2198138" y="3570305"/>
                    <a:pt x="1796245" y="3488733"/>
                    <a:pt x="1410931" y="3373809"/>
                  </a:cubicBezTo>
                  <a:cubicBezTo>
                    <a:pt x="1119438" y="3286869"/>
                    <a:pt x="827613" y="3177192"/>
                    <a:pt x="592791" y="2983834"/>
                  </a:cubicBezTo>
                  <a:cubicBezTo>
                    <a:pt x="258061" y="2708211"/>
                    <a:pt x="70414" y="2282556"/>
                    <a:pt x="16437" y="1852320"/>
                  </a:cubicBezTo>
                  <a:cubicBezTo>
                    <a:pt x="-42482" y="1382703"/>
                    <a:pt x="54569" y="881517"/>
                    <a:pt x="346881" y="509277"/>
                  </a:cubicBezTo>
                  <a:cubicBezTo>
                    <a:pt x="639192" y="137036"/>
                    <a:pt x="1141699" y="-80803"/>
                    <a:pt x="1602299" y="28061"/>
                  </a:cubicBezTo>
                  <a:cubicBezTo>
                    <a:pt x="1919216" y="102966"/>
                    <a:pt x="2185109" y="315609"/>
                    <a:pt x="2417440" y="543796"/>
                  </a:cubicBezTo>
                  <a:cubicBezTo>
                    <a:pt x="2649773" y="771986"/>
                    <a:pt x="2862968" y="1023758"/>
                    <a:pt x="3130646" y="1209220"/>
                  </a:cubicBezTo>
                  <a:cubicBezTo>
                    <a:pt x="3350568" y="1361593"/>
                    <a:pt x="3600537" y="1464379"/>
                    <a:pt x="3831642" y="1599187"/>
                  </a:cubicBezTo>
                  <a:cubicBezTo>
                    <a:pt x="4062750" y="1733995"/>
                    <a:pt x="4283249" y="1911537"/>
                    <a:pt x="4389624" y="2157036"/>
                  </a:cubicBezTo>
                  <a:cubicBezTo>
                    <a:pt x="4484465" y="2375919"/>
                    <a:pt x="4436724" y="2585377"/>
                    <a:pt x="4314173" y="2778922"/>
                  </a:cubicBezTo>
                  <a:cubicBezTo>
                    <a:pt x="4290768" y="2815885"/>
                    <a:pt x="4265673" y="2851052"/>
                    <a:pt x="4239038" y="2884514"/>
                  </a:cubicBezTo>
                  <a:cubicBezTo>
                    <a:pt x="3860521" y="3360056"/>
                    <a:pt x="3170880" y="3491265"/>
                    <a:pt x="2598904" y="3537741"/>
                  </a:cubicBezTo>
                  <a:close/>
                  <a:moveTo>
                    <a:pt x="4180927" y="1106976"/>
                  </a:moveTo>
                  <a:cubicBezTo>
                    <a:pt x="4248907" y="1080507"/>
                    <a:pt x="4313003" y="1027338"/>
                    <a:pt x="4319730" y="950370"/>
                  </a:cubicBezTo>
                  <a:cubicBezTo>
                    <a:pt x="4323514" y="907078"/>
                    <a:pt x="4312522" y="863954"/>
                    <a:pt x="4300322" y="822246"/>
                  </a:cubicBezTo>
                  <a:cubicBezTo>
                    <a:pt x="4204743" y="495489"/>
                    <a:pt x="3972919" y="-60230"/>
                    <a:pt x="3542809" y="5320"/>
                  </a:cubicBezTo>
                  <a:cubicBezTo>
                    <a:pt x="3434541" y="21821"/>
                    <a:pt x="3333575" y="70251"/>
                    <a:pt x="3240117" y="127346"/>
                  </a:cubicBezTo>
                  <a:cubicBezTo>
                    <a:pt x="3130150" y="194527"/>
                    <a:pt x="3019870" y="287869"/>
                    <a:pt x="3002277" y="415528"/>
                  </a:cubicBezTo>
                  <a:cubicBezTo>
                    <a:pt x="2985375" y="538161"/>
                    <a:pt x="3059756" y="654652"/>
                    <a:pt x="3143822" y="745521"/>
                  </a:cubicBezTo>
                  <a:cubicBezTo>
                    <a:pt x="3289919" y="903443"/>
                    <a:pt x="3487926" y="1011162"/>
                    <a:pt x="3695450" y="1063927"/>
                  </a:cubicBezTo>
                  <a:cubicBezTo>
                    <a:pt x="3816432" y="1094687"/>
                    <a:pt x="3950269" y="1132291"/>
                    <a:pt x="4075611" y="1128467"/>
                  </a:cubicBezTo>
                  <a:cubicBezTo>
                    <a:pt x="4110870" y="1127390"/>
                    <a:pt x="4147272" y="1120077"/>
                    <a:pt x="4180927" y="1106976"/>
                  </a:cubicBezTo>
                  <a:close/>
                </a:path>
              </a:pathLst>
            </a:custGeom>
            <a:blipFill>
              <a:blip r:embed="rId3"/>
              <a:stretch>
                <a:fillRect t="-409" b="-409"/>
              </a:stretch>
            </a:blipFill>
          </p:spPr>
        </p:sp>
      </p:grpSp>
      <p:sp>
        <p:nvSpPr>
          <p:cNvPr id="11" name="TextBox 11"/>
          <p:cNvSpPr txBox="1"/>
          <p:nvPr/>
        </p:nvSpPr>
        <p:spPr>
          <a:xfrm>
            <a:off x="1404912" y="2075980"/>
            <a:ext cx="10251286" cy="974943"/>
          </a:xfrm>
          <a:prstGeom prst="rect">
            <a:avLst/>
          </a:prstGeom>
        </p:spPr>
        <p:txBody>
          <a:bodyPr lIns="0" tIns="0" rIns="0" bIns="0" rtlCol="0" anchor="t">
            <a:spAutoFit/>
          </a:bodyPr>
          <a:lstStyle/>
          <a:p>
            <a:pPr marL="0" lvl="0" indent="0" algn="l">
              <a:lnSpc>
                <a:spcPts val="7632"/>
              </a:lnSpc>
            </a:pPr>
            <a:r>
              <a:rPr lang="en-US" sz="6695">
                <a:solidFill>
                  <a:srgbClr val="0092C8"/>
                </a:solidFill>
                <a:latin typeface="Ramabhadra"/>
                <a:ea typeface="Ramabhadra"/>
                <a:cs typeface="Ramabhadra"/>
                <a:sym typeface="Ramabhadra"/>
              </a:rPr>
              <a:t>PATIENT TRENDS</a:t>
            </a:r>
          </a:p>
        </p:txBody>
      </p:sp>
      <p:sp>
        <p:nvSpPr>
          <p:cNvPr id="12" name="TextBox 12"/>
          <p:cNvSpPr txBox="1"/>
          <p:nvPr/>
        </p:nvSpPr>
        <p:spPr>
          <a:xfrm>
            <a:off x="1812442" y="1072038"/>
            <a:ext cx="4197282" cy="382099"/>
          </a:xfrm>
          <a:prstGeom prst="rect">
            <a:avLst/>
          </a:prstGeom>
        </p:spPr>
        <p:txBody>
          <a:bodyPr lIns="0" tIns="0" rIns="0" bIns="0" rtlCol="0" anchor="t">
            <a:spAutoFit/>
          </a:bodyPr>
          <a:lstStyle/>
          <a:p>
            <a:pPr marL="0" lvl="0" indent="0" algn="l">
              <a:lnSpc>
                <a:spcPts val="3089"/>
              </a:lnSpc>
              <a:spcBef>
                <a:spcPct val="0"/>
              </a:spcBef>
            </a:pPr>
            <a:r>
              <a:rPr lang="en-US" sz="2206" b="1">
                <a:solidFill>
                  <a:srgbClr val="0092C8"/>
                </a:solidFill>
                <a:latin typeface="Roboto Bold"/>
                <a:ea typeface="Roboto Bold"/>
                <a:cs typeface="Roboto Bold"/>
                <a:sym typeface="Roboto Bold"/>
              </a:rPr>
              <a:t>Core Health Systems</a:t>
            </a:r>
          </a:p>
        </p:txBody>
      </p:sp>
      <p:sp>
        <p:nvSpPr>
          <p:cNvPr id="13" name="TextBox 13"/>
          <p:cNvSpPr txBox="1"/>
          <p:nvPr/>
        </p:nvSpPr>
        <p:spPr>
          <a:xfrm>
            <a:off x="12148518" y="1547214"/>
            <a:ext cx="4874844" cy="462387"/>
          </a:xfrm>
          <a:prstGeom prst="rect">
            <a:avLst/>
          </a:prstGeom>
        </p:spPr>
        <p:txBody>
          <a:bodyPr lIns="0" tIns="0" rIns="0" bIns="0" rtlCol="0" anchor="t">
            <a:spAutoFit/>
          </a:bodyPr>
          <a:lstStyle/>
          <a:p>
            <a:pPr marL="0" lvl="0" indent="0" algn="l">
              <a:lnSpc>
                <a:spcPts val="3626"/>
              </a:lnSpc>
            </a:pPr>
            <a:r>
              <a:rPr lang="en-US" sz="3180">
                <a:solidFill>
                  <a:srgbClr val="FFFFFF"/>
                </a:solidFill>
                <a:latin typeface="Ramabhadra"/>
                <a:ea typeface="Ramabhadra"/>
                <a:cs typeface="Ramabhadra"/>
                <a:sym typeface="Ramabhadra"/>
              </a:rPr>
              <a:t>What This View Shows</a:t>
            </a:r>
          </a:p>
        </p:txBody>
      </p:sp>
      <p:sp>
        <p:nvSpPr>
          <p:cNvPr id="14" name="TextBox 14"/>
          <p:cNvSpPr txBox="1"/>
          <p:nvPr/>
        </p:nvSpPr>
        <p:spPr>
          <a:xfrm>
            <a:off x="12148518" y="2200629"/>
            <a:ext cx="4874844" cy="1517959"/>
          </a:xfrm>
          <a:prstGeom prst="rect">
            <a:avLst/>
          </a:prstGeom>
        </p:spPr>
        <p:txBody>
          <a:bodyPr lIns="0" tIns="0" rIns="0" bIns="0" rtlCol="0" anchor="t">
            <a:spAutoFit/>
          </a:bodyPr>
          <a:lstStyle/>
          <a:p>
            <a:pPr marL="0" lvl="0" indent="0" algn="just">
              <a:lnSpc>
                <a:spcPts val="2432"/>
              </a:lnSpc>
              <a:spcBef>
                <a:spcPct val="0"/>
              </a:spcBef>
            </a:pPr>
            <a:r>
              <a:rPr lang="en-US" sz="1737">
                <a:solidFill>
                  <a:srgbClr val="FFFFFF"/>
                </a:solidFill>
                <a:latin typeface="Roboto"/>
                <a:ea typeface="Roboto"/>
                <a:cs typeface="Roboto"/>
                <a:sym typeface="Roboto"/>
              </a:rPr>
              <a:t>The Patient Trends view displays time-series patterns in admissions, discharges, and patient volume. Management can identify seasonal peaks, weekly cycles, and anomalies across selected date ranges using Tableau filters.</a:t>
            </a:r>
          </a:p>
        </p:txBody>
      </p:sp>
      <p:sp>
        <p:nvSpPr>
          <p:cNvPr id="15" name="TextBox 15"/>
          <p:cNvSpPr txBox="1"/>
          <p:nvPr/>
        </p:nvSpPr>
        <p:spPr>
          <a:xfrm>
            <a:off x="12148518" y="4752229"/>
            <a:ext cx="4874844" cy="1517959"/>
          </a:xfrm>
          <a:prstGeom prst="rect">
            <a:avLst/>
          </a:prstGeom>
        </p:spPr>
        <p:txBody>
          <a:bodyPr lIns="0" tIns="0" rIns="0" bIns="0" rtlCol="0" anchor="t">
            <a:spAutoFit/>
          </a:bodyPr>
          <a:lstStyle/>
          <a:p>
            <a:pPr marL="0" lvl="0" indent="0" algn="just">
              <a:lnSpc>
                <a:spcPts val="2432"/>
              </a:lnSpc>
              <a:spcBef>
                <a:spcPct val="0"/>
              </a:spcBef>
            </a:pPr>
            <a:r>
              <a:rPr lang="en-US" sz="1737">
                <a:solidFill>
                  <a:srgbClr val="FFFFFF"/>
                </a:solidFill>
                <a:latin typeface="Roboto"/>
                <a:ea typeface="Roboto"/>
                <a:cs typeface="Roboto"/>
                <a:sym typeface="Roboto"/>
              </a:rPr>
              <a:t>Look for recurring admission spikes, discharge lag periods, and length-of-stay trends over time. These patterns inform staffing schedules, bed allocation planning, and resource forecasting decisions.</a:t>
            </a:r>
          </a:p>
        </p:txBody>
      </p:sp>
      <p:sp>
        <p:nvSpPr>
          <p:cNvPr id="16" name="TextBox 16"/>
          <p:cNvSpPr txBox="1"/>
          <p:nvPr/>
        </p:nvSpPr>
        <p:spPr>
          <a:xfrm>
            <a:off x="12148518" y="4079764"/>
            <a:ext cx="5110782" cy="462387"/>
          </a:xfrm>
          <a:prstGeom prst="rect">
            <a:avLst/>
          </a:prstGeom>
        </p:spPr>
        <p:txBody>
          <a:bodyPr lIns="0" tIns="0" rIns="0" bIns="0" rtlCol="0" anchor="t">
            <a:spAutoFit/>
          </a:bodyPr>
          <a:lstStyle/>
          <a:p>
            <a:pPr marL="0" lvl="0" indent="0" algn="l">
              <a:lnSpc>
                <a:spcPts val="3626"/>
              </a:lnSpc>
            </a:pPr>
            <a:r>
              <a:rPr lang="en-US" sz="3180">
                <a:solidFill>
                  <a:srgbClr val="FFFFFF"/>
                </a:solidFill>
                <a:latin typeface="Ramabhadra"/>
                <a:ea typeface="Ramabhadra"/>
                <a:cs typeface="Ramabhadra"/>
                <a:sym typeface="Ramabhadra"/>
              </a:rPr>
              <a:t>Key Patterns to Observe</a:t>
            </a:r>
          </a:p>
        </p:txBody>
      </p:sp>
      <p:sp>
        <p:nvSpPr>
          <p:cNvPr id="17" name="TextBox 17"/>
          <p:cNvSpPr txBox="1"/>
          <p:nvPr/>
        </p:nvSpPr>
        <p:spPr>
          <a:xfrm>
            <a:off x="12148518" y="6570626"/>
            <a:ext cx="5110782" cy="462387"/>
          </a:xfrm>
          <a:prstGeom prst="rect">
            <a:avLst/>
          </a:prstGeom>
        </p:spPr>
        <p:txBody>
          <a:bodyPr lIns="0" tIns="0" rIns="0" bIns="0" rtlCol="0" anchor="t">
            <a:spAutoFit/>
          </a:bodyPr>
          <a:lstStyle/>
          <a:p>
            <a:pPr marL="0" lvl="0" indent="0" algn="l">
              <a:lnSpc>
                <a:spcPts val="3626"/>
              </a:lnSpc>
            </a:pPr>
            <a:r>
              <a:rPr lang="en-US" sz="3180">
                <a:solidFill>
                  <a:srgbClr val="FFFFFF"/>
                </a:solidFill>
                <a:latin typeface="Ramabhadra"/>
                <a:ea typeface="Ramabhadra"/>
                <a:cs typeface="Ramabhadra"/>
                <a:sym typeface="Ramabhadra"/>
              </a:rPr>
              <a:t>Why Management Needs It</a:t>
            </a:r>
          </a:p>
        </p:txBody>
      </p:sp>
      <p:sp>
        <p:nvSpPr>
          <p:cNvPr id="18" name="TextBox 18"/>
          <p:cNvSpPr txBox="1"/>
          <p:nvPr/>
        </p:nvSpPr>
        <p:spPr>
          <a:xfrm>
            <a:off x="12148518" y="7214516"/>
            <a:ext cx="4874844" cy="1517959"/>
          </a:xfrm>
          <a:prstGeom prst="rect">
            <a:avLst/>
          </a:prstGeom>
        </p:spPr>
        <p:txBody>
          <a:bodyPr lIns="0" tIns="0" rIns="0" bIns="0" rtlCol="0" anchor="t">
            <a:spAutoFit/>
          </a:bodyPr>
          <a:lstStyle/>
          <a:p>
            <a:pPr marL="0" lvl="0" indent="0" algn="just">
              <a:lnSpc>
                <a:spcPts val="2432"/>
              </a:lnSpc>
              <a:spcBef>
                <a:spcPct val="0"/>
              </a:spcBef>
            </a:pPr>
            <a:r>
              <a:rPr lang="en-US" sz="1737">
                <a:solidFill>
                  <a:srgbClr val="FFFFFF"/>
                </a:solidFill>
                <a:latin typeface="Roboto"/>
                <a:ea typeface="Roboto"/>
                <a:cs typeface="Roboto"/>
                <a:sym typeface="Roboto"/>
              </a:rPr>
              <a:t>[Verified Finding] Time-based trend analysis enables hospital leadership to proactively adjust capacity and staffing in response to predictable demand cycles, reducing bottlenecks and improving patient throughput.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122728">
            <a:off x="11881046" y="-5414487"/>
            <a:ext cx="9177769" cy="9177769"/>
            <a:chOff x="0" y="0"/>
            <a:chExt cx="558800" cy="558800"/>
          </a:xfrm>
        </p:grpSpPr>
        <p:sp>
          <p:nvSpPr>
            <p:cNvPr id="3" name="Freeform 3"/>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0B5D7B"/>
            </a:solidFill>
          </p:spPr>
        </p:sp>
        <p:sp>
          <p:nvSpPr>
            <p:cNvPr id="4" name="TextBox 4"/>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3546060">
            <a:off x="-1306610" y="4701828"/>
            <a:ext cx="10822111" cy="10822111"/>
            <a:chOff x="0" y="0"/>
            <a:chExt cx="558800" cy="558800"/>
          </a:xfrm>
        </p:grpSpPr>
        <p:sp>
          <p:nvSpPr>
            <p:cNvPr id="6" name="Freeform 6"/>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0B5D7B"/>
            </a:solidFill>
          </p:spPr>
        </p:sp>
        <p:sp>
          <p:nvSpPr>
            <p:cNvPr id="7" name="TextBox 7"/>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028700" y="1736232"/>
            <a:ext cx="7503175" cy="7522068"/>
            <a:chOff x="0" y="0"/>
            <a:chExt cx="812800" cy="814847"/>
          </a:xfrm>
        </p:grpSpPr>
        <p:sp>
          <p:nvSpPr>
            <p:cNvPr id="9" name="Freeform 9"/>
            <p:cNvSpPr/>
            <p:nvPr/>
          </p:nvSpPr>
          <p:spPr>
            <a:xfrm>
              <a:off x="0" y="0"/>
              <a:ext cx="812800" cy="814847"/>
            </a:xfrm>
            <a:custGeom>
              <a:avLst/>
              <a:gdLst/>
              <a:ahLst/>
              <a:cxnLst/>
              <a:rect l="l" t="t" r="r" b="b"/>
              <a:pathLst>
                <a:path w="812800" h="814847">
                  <a:moveTo>
                    <a:pt x="733382" y="0"/>
                  </a:moveTo>
                  <a:lnTo>
                    <a:pt x="79418" y="0"/>
                  </a:lnTo>
                  <a:cubicBezTo>
                    <a:pt x="79418" y="43699"/>
                    <a:pt x="44079" y="79418"/>
                    <a:pt x="0" y="79418"/>
                  </a:cubicBezTo>
                  <a:lnTo>
                    <a:pt x="0" y="735429"/>
                  </a:lnTo>
                  <a:cubicBezTo>
                    <a:pt x="43699" y="735429"/>
                    <a:pt x="79418" y="770768"/>
                    <a:pt x="79418" y="814847"/>
                  </a:cubicBezTo>
                  <a:lnTo>
                    <a:pt x="733382" y="814847"/>
                  </a:lnTo>
                  <a:cubicBezTo>
                    <a:pt x="733382" y="771147"/>
                    <a:pt x="768721" y="735429"/>
                    <a:pt x="812800" y="735429"/>
                  </a:cubicBezTo>
                  <a:lnTo>
                    <a:pt x="812800" y="79418"/>
                  </a:lnTo>
                  <a:cubicBezTo>
                    <a:pt x="769101" y="79418"/>
                    <a:pt x="733382" y="44079"/>
                    <a:pt x="733382" y="0"/>
                  </a:cubicBezTo>
                  <a:close/>
                </a:path>
              </a:pathLst>
            </a:custGeom>
            <a:solidFill>
              <a:srgbClr val="0092C8"/>
            </a:solidFill>
          </p:spPr>
        </p:sp>
        <p:sp>
          <p:nvSpPr>
            <p:cNvPr id="10" name="TextBox 10"/>
            <p:cNvSpPr txBox="1"/>
            <p:nvPr/>
          </p:nvSpPr>
          <p:spPr>
            <a:xfrm>
              <a:off x="38100" y="0"/>
              <a:ext cx="736600" cy="776747"/>
            </a:xfrm>
            <a:prstGeom prst="rect">
              <a:avLst/>
            </a:prstGeom>
          </p:spPr>
          <p:txBody>
            <a:bodyPr lIns="50800" tIns="50800" rIns="50800" bIns="50800" rtlCol="0" anchor="ctr"/>
            <a:lstStyle/>
            <a:p>
              <a:pPr marL="0" lvl="0" indent="0" algn="ctr">
                <a:lnSpc>
                  <a:spcPts val="2659"/>
                </a:lnSpc>
              </a:pPr>
              <a:endParaRPr/>
            </a:p>
          </p:txBody>
        </p:sp>
      </p:grpSp>
      <p:pic>
        <p:nvPicPr>
          <p:cNvPr id="11" name="Picture 11"/>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11088" y="2095500"/>
            <a:ext cx="5505679" cy="3179335"/>
          </a:xfrm>
          <a:prstGeom prst="rect">
            <a:avLst/>
          </a:prstGeom>
        </p:spPr>
      </p:pic>
      <p:grpSp>
        <p:nvGrpSpPr>
          <p:cNvPr id="12" name="Group 12"/>
          <p:cNvGrpSpPr/>
          <p:nvPr/>
        </p:nvGrpSpPr>
        <p:grpSpPr>
          <a:xfrm>
            <a:off x="9663580" y="1028700"/>
            <a:ext cx="7211623" cy="2680385"/>
            <a:chOff x="0" y="0"/>
            <a:chExt cx="1899357" cy="705945"/>
          </a:xfrm>
        </p:grpSpPr>
        <p:sp>
          <p:nvSpPr>
            <p:cNvPr id="13" name="Freeform 13"/>
            <p:cNvSpPr/>
            <p:nvPr/>
          </p:nvSpPr>
          <p:spPr>
            <a:xfrm>
              <a:off x="0" y="0"/>
              <a:ext cx="1899358" cy="705945"/>
            </a:xfrm>
            <a:custGeom>
              <a:avLst/>
              <a:gdLst/>
              <a:ahLst/>
              <a:cxnLst/>
              <a:rect l="l" t="t" r="r" b="b"/>
              <a:pathLst>
                <a:path w="1899358" h="705945">
                  <a:moveTo>
                    <a:pt x="50456" y="0"/>
                  </a:moveTo>
                  <a:lnTo>
                    <a:pt x="1848901" y="0"/>
                  </a:lnTo>
                  <a:cubicBezTo>
                    <a:pt x="1876768" y="0"/>
                    <a:pt x="1899358" y="22590"/>
                    <a:pt x="1899358" y="50456"/>
                  </a:cubicBezTo>
                  <a:lnTo>
                    <a:pt x="1899358" y="655489"/>
                  </a:lnTo>
                  <a:cubicBezTo>
                    <a:pt x="1899358" y="683355"/>
                    <a:pt x="1876768" y="705945"/>
                    <a:pt x="1848901" y="705945"/>
                  </a:cubicBezTo>
                  <a:lnTo>
                    <a:pt x="50456" y="705945"/>
                  </a:lnTo>
                  <a:cubicBezTo>
                    <a:pt x="37074" y="705945"/>
                    <a:pt x="24241" y="700629"/>
                    <a:pt x="14778" y="691167"/>
                  </a:cubicBezTo>
                  <a:cubicBezTo>
                    <a:pt x="5316" y="681704"/>
                    <a:pt x="0" y="668871"/>
                    <a:pt x="0" y="655489"/>
                  </a:cubicBezTo>
                  <a:lnTo>
                    <a:pt x="0" y="50456"/>
                  </a:lnTo>
                  <a:cubicBezTo>
                    <a:pt x="0" y="22590"/>
                    <a:pt x="22590" y="0"/>
                    <a:pt x="50456" y="0"/>
                  </a:cubicBezTo>
                  <a:close/>
                </a:path>
              </a:pathLst>
            </a:custGeom>
            <a:solidFill>
              <a:srgbClr val="0092C8"/>
            </a:solidFill>
          </p:spPr>
        </p:sp>
        <p:sp>
          <p:nvSpPr>
            <p:cNvPr id="14" name="TextBox 14"/>
            <p:cNvSpPr txBox="1"/>
            <p:nvPr/>
          </p:nvSpPr>
          <p:spPr>
            <a:xfrm>
              <a:off x="0" y="-38100"/>
              <a:ext cx="1899357" cy="744045"/>
            </a:xfrm>
            <a:prstGeom prst="rect">
              <a:avLst/>
            </a:prstGeom>
          </p:spPr>
          <p:txBody>
            <a:bodyPr lIns="50800" tIns="50800" rIns="50800" bIns="50800" rtlCol="0" anchor="ctr"/>
            <a:lstStyle/>
            <a:p>
              <a:pPr marL="0" lvl="0" indent="0" algn="ctr">
                <a:lnSpc>
                  <a:spcPts val="2659"/>
                </a:lnSpc>
              </a:pPr>
              <a:endParaRPr/>
            </a:p>
          </p:txBody>
        </p:sp>
      </p:grpSp>
      <p:sp>
        <p:nvSpPr>
          <p:cNvPr id="16" name="TextBox 16"/>
          <p:cNvSpPr txBox="1"/>
          <p:nvPr/>
        </p:nvSpPr>
        <p:spPr>
          <a:xfrm>
            <a:off x="10024819" y="2085607"/>
            <a:ext cx="6445112" cy="971817"/>
          </a:xfrm>
          <a:prstGeom prst="rect">
            <a:avLst/>
          </a:prstGeom>
        </p:spPr>
        <p:txBody>
          <a:bodyPr lIns="0" tIns="0" rIns="0" bIns="0" rtlCol="0" anchor="t">
            <a:spAutoFit/>
          </a:bodyPr>
          <a:lstStyle/>
          <a:p>
            <a:pPr marL="0" lvl="0" indent="0" algn="just">
              <a:lnSpc>
                <a:spcPts val="2610"/>
              </a:lnSpc>
              <a:spcBef>
                <a:spcPct val="0"/>
              </a:spcBef>
            </a:pPr>
            <a:r>
              <a:rPr lang="en-US" sz="1864">
                <a:solidFill>
                  <a:srgbClr val="FFFFFF"/>
                </a:solidFill>
                <a:latin typeface="Roboto"/>
                <a:ea typeface="Roboto"/>
                <a:cs typeface="Roboto"/>
                <a:sym typeface="Roboto"/>
              </a:rPr>
              <a:t>Tracks bed occupancy rate, average length of stay, and daily patient throughput. Enables management to identify capacity bottlenecks and optimize bed allocation in real time.</a:t>
            </a:r>
          </a:p>
        </p:txBody>
      </p:sp>
      <p:sp>
        <p:nvSpPr>
          <p:cNvPr id="17" name="TextBox 17"/>
          <p:cNvSpPr txBox="1"/>
          <p:nvPr/>
        </p:nvSpPr>
        <p:spPr>
          <a:xfrm>
            <a:off x="1822518" y="800100"/>
            <a:ext cx="4197282" cy="528991"/>
          </a:xfrm>
          <a:prstGeom prst="rect">
            <a:avLst/>
          </a:prstGeom>
        </p:spPr>
        <p:txBody>
          <a:bodyPr lIns="0" tIns="0" rIns="0" bIns="0" rtlCol="0" anchor="t">
            <a:spAutoFit/>
          </a:bodyPr>
          <a:lstStyle/>
          <a:p>
            <a:pPr lvl="0">
              <a:lnSpc>
                <a:spcPts val="4650"/>
              </a:lnSpc>
            </a:pPr>
            <a:r>
              <a:rPr lang="en-US" sz="1880" dirty="0">
                <a:solidFill>
                  <a:schemeClr val="tx2">
                    <a:lumMod val="75000"/>
                  </a:schemeClr>
                </a:solidFill>
                <a:latin typeface="Roboto Bold" panose="02000000000000000000" charset="0"/>
                <a:ea typeface="Roboto Bold" panose="02000000000000000000" charset="0"/>
                <a:cs typeface="Ramabhadra"/>
                <a:sym typeface="Ramabhadra"/>
              </a:rPr>
              <a:t>Department &amp; resource utilization</a:t>
            </a:r>
          </a:p>
        </p:txBody>
      </p:sp>
      <p:sp>
        <p:nvSpPr>
          <p:cNvPr id="18" name="TextBox 18"/>
          <p:cNvSpPr txBox="1"/>
          <p:nvPr/>
        </p:nvSpPr>
        <p:spPr>
          <a:xfrm>
            <a:off x="10024819" y="1338593"/>
            <a:ext cx="4201916" cy="392074"/>
          </a:xfrm>
          <a:prstGeom prst="rect">
            <a:avLst/>
          </a:prstGeom>
        </p:spPr>
        <p:txBody>
          <a:bodyPr lIns="0" tIns="0" rIns="0" bIns="0" rtlCol="0" anchor="t">
            <a:spAutoFit/>
          </a:bodyPr>
          <a:lstStyle/>
          <a:p>
            <a:pPr marL="0" lvl="0" indent="0" algn="l">
              <a:lnSpc>
                <a:spcPts val="3081"/>
              </a:lnSpc>
            </a:pPr>
            <a:r>
              <a:rPr lang="en-US" sz="2703">
                <a:solidFill>
                  <a:srgbClr val="FFFFFF"/>
                </a:solidFill>
                <a:latin typeface="Ramabhadra"/>
                <a:ea typeface="Ramabhadra"/>
                <a:cs typeface="Ramabhadra"/>
                <a:sym typeface="Ramabhadra"/>
              </a:rPr>
              <a:t>Occupancy &amp; Throughput</a:t>
            </a:r>
          </a:p>
        </p:txBody>
      </p:sp>
      <p:grpSp>
        <p:nvGrpSpPr>
          <p:cNvPr id="19" name="Group 19"/>
          <p:cNvGrpSpPr/>
          <p:nvPr/>
        </p:nvGrpSpPr>
        <p:grpSpPr>
          <a:xfrm>
            <a:off x="9641563" y="3828415"/>
            <a:ext cx="7211623" cy="2680385"/>
            <a:chOff x="0" y="0"/>
            <a:chExt cx="1899357" cy="705945"/>
          </a:xfrm>
        </p:grpSpPr>
        <p:sp>
          <p:nvSpPr>
            <p:cNvPr id="20" name="Freeform 20"/>
            <p:cNvSpPr/>
            <p:nvPr/>
          </p:nvSpPr>
          <p:spPr>
            <a:xfrm>
              <a:off x="0" y="0"/>
              <a:ext cx="1899358" cy="705945"/>
            </a:xfrm>
            <a:custGeom>
              <a:avLst/>
              <a:gdLst/>
              <a:ahLst/>
              <a:cxnLst/>
              <a:rect l="l" t="t" r="r" b="b"/>
              <a:pathLst>
                <a:path w="1899358" h="705945">
                  <a:moveTo>
                    <a:pt x="50456" y="0"/>
                  </a:moveTo>
                  <a:lnTo>
                    <a:pt x="1848901" y="0"/>
                  </a:lnTo>
                  <a:cubicBezTo>
                    <a:pt x="1876768" y="0"/>
                    <a:pt x="1899358" y="22590"/>
                    <a:pt x="1899358" y="50456"/>
                  </a:cubicBezTo>
                  <a:lnTo>
                    <a:pt x="1899358" y="655489"/>
                  </a:lnTo>
                  <a:cubicBezTo>
                    <a:pt x="1899358" y="683355"/>
                    <a:pt x="1876768" y="705945"/>
                    <a:pt x="1848901" y="705945"/>
                  </a:cubicBezTo>
                  <a:lnTo>
                    <a:pt x="50456" y="705945"/>
                  </a:lnTo>
                  <a:cubicBezTo>
                    <a:pt x="37074" y="705945"/>
                    <a:pt x="24241" y="700629"/>
                    <a:pt x="14778" y="691167"/>
                  </a:cubicBezTo>
                  <a:cubicBezTo>
                    <a:pt x="5316" y="681704"/>
                    <a:pt x="0" y="668871"/>
                    <a:pt x="0" y="655489"/>
                  </a:cubicBezTo>
                  <a:lnTo>
                    <a:pt x="0" y="50456"/>
                  </a:lnTo>
                  <a:cubicBezTo>
                    <a:pt x="0" y="22590"/>
                    <a:pt x="22590" y="0"/>
                    <a:pt x="50456" y="0"/>
                  </a:cubicBezTo>
                  <a:close/>
                </a:path>
              </a:pathLst>
            </a:custGeom>
            <a:solidFill>
              <a:srgbClr val="0092C8"/>
            </a:solidFill>
          </p:spPr>
        </p:sp>
        <p:sp>
          <p:nvSpPr>
            <p:cNvPr id="21" name="TextBox 21"/>
            <p:cNvSpPr txBox="1"/>
            <p:nvPr/>
          </p:nvSpPr>
          <p:spPr>
            <a:xfrm>
              <a:off x="0" y="-38100"/>
              <a:ext cx="1899357" cy="744045"/>
            </a:xfrm>
            <a:prstGeom prst="rect">
              <a:avLst/>
            </a:prstGeom>
          </p:spPr>
          <p:txBody>
            <a:bodyPr lIns="50800" tIns="50800" rIns="50800" bIns="50800" rtlCol="0" anchor="ctr"/>
            <a:lstStyle/>
            <a:p>
              <a:pPr marL="0" lvl="0" indent="0" algn="ctr">
                <a:lnSpc>
                  <a:spcPts val="2659"/>
                </a:lnSpc>
              </a:pPr>
              <a:endParaRPr/>
            </a:p>
          </p:txBody>
        </p:sp>
      </p:grpSp>
      <p:sp>
        <p:nvSpPr>
          <p:cNvPr id="22" name="TextBox 22"/>
          <p:cNvSpPr txBox="1"/>
          <p:nvPr/>
        </p:nvSpPr>
        <p:spPr>
          <a:xfrm>
            <a:off x="10046835" y="4891793"/>
            <a:ext cx="6445112" cy="971817"/>
          </a:xfrm>
          <a:prstGeom prst="rect">
            <a:avLst/>
          </a:prstGeom>
        </p:spPr>
        <p:txBody>
          <a:bodyPr lIns="0" tIns="0" rIns="0" bIns="0" rtlCol="0" anchor="t">
            <a:spAutoFit/>
          </a:bodyPr>
          <a:lstStyle/>
          <a:p>
            <a:pPr marL="0" lvl="0" indent="0" algn="just">
              <a:lnSpc>
                <a:spcPts val="2610"/>
              </a:lnSpc>
              <a:spcBef>
                <a:spcPct val="0"/>
              </a:spcBef>
            </a:pPr>
            <a:r>
              <a:rPr lang="en-US" sz="1864">
                <a:solidFill>
                  <a:srgbClr val="FFFFFF"/>
                </a:solidFill>
                <a:latin typeface="Roboto"/>
                <a:ea typeface="Roboto"/>
                <a:cs typeface="Roboto"/>
                <a:sym typeface="Roboto"/>
              </a:rPr>
              <a:t>Monitors average ED wait time, triage-to-treatment intervals, and 30-day readmission rates. Flags service gaps and supports quality improvement initiatives across departments.</a:t>
            </a:r>
          </a:p>
        </p:txBody>
      </p:sp>
      <p:grpSp>
        <p:nvGrpSpPr>
          <p:cNvPr id="23" name="Group 23"/>
          <p:cNvGrpSpPr/>
          <p:nvPr/>
        </p:nvGrpSpPr>
        <p:grpSpPr>
          <a:xfrm>
            <a:off x="9619547" y="6628130"/>
            <a:ext cx="7211623" cy="2680385"/>
            <a:chOff x="0" y="0"/>
            <a:chExt cx="1899357" cy="705945"/>
          </a:xfrm>
        </p:grpSpPr>
        <p:sp>
          <p:nvSpPr>
            <p:cNvPr id="24" name="Freeform 24"/>
            <p:cNvSpPr/>
            <p:nvPr/>
          </p:nvSpPr>
          <p:spPr>
            <a:xfrm>
              <a:off x="0" y="0"/>
              <a:ext cx="1899358" cy="705945"/>
            </a:xfrm>
            <a:custGeom>
              <a:avLst/>
              <a:gdLst/>
              <a:ahLst/>
              <a:cxnLst/>
              <a:rect l="l" t="t" r="r" b="b"/>
              <a:pathLst>
                <a:path w="1899358" h="705945">
                  <a:moveTo>
                    <a:pt x="50456" y="0"/>
                  </a:moveTo>
                  <a:lnTo>
                    <a:pt x="1848901" y="0"/>
                  </a:lnTo>
                  <a:cubicBezTo>
                    <a:pt x="1876768" y="0"/>
                    <a:pt x="1899358" y="22590"/>
                    <a:pt x="1899358" y="50456"/>
                  </a:cubicBezTo>
                  <a:lnTo>
                    <a:pt x="1899358" y="655489"/>
                  </a:lnTo>
                  <a:cubicBezTo>
                    <a:pt x="1899358" y="683355"/>
                    <a:pt x="1876768" y="705945"/>
                    <a:pt x="1848901" y="705945"/>
                  </a:cubicBezTo>
                  <a:lnTo>
                    <a:pt x="50456" y="705945"/>
                  </a:lnTo>
                  <a:cubicBezTo>
                    <a:pt x="37074" y="705945"/>
                    <a:pt x="24241" y="700629"/>
                    <a:pt x="14778" y="691167"/>
                  </a:cubicBezTo>
                  <a:cubicBezTo>
                    <a:pt x="5316" y="681704"/>
                    <a:pt x="0" y="668871"/>
                    <a:pt x="0" y="655489"/>
                  </a:cubicBezTo>
                  <a:lnTo>
                    <a:pt x="0" y="50456"/>
                  </a:lnTo>
                  <a:cubicBezTo>
                    <a:pt x="0" y="22590"/>
                    <a:pt x="22590" y="0"/>
                    <a:pt x="50456" y="0"/>
                  </a:cubicBezTo>
                  <a:close/>
                </a:path>
              </a:pathLst>
            </a:custGeom>
            <a:solidFill>
              <a:srgbClr val="0092C8"/>
            </a:solidFill>
          </p:spPr>
        </p:sp>
        <p:sp>
          <p:nvSpPr>
            <p:cNvPr id="25" name="TextBox 25"/>
            <p:cNvSpPr txBox="1"/>
            <p:nvPr/>
          </p:nvSpPr>
          <p:spPr>
            <a:xfrm>
              <a:off x="0" y="-38100"/>
              <a:ext cx="1899357" cy="744045"/>
            </a:xfrm>
            <a:prstGeom prst="rect">
              <a:avLst/>
            </a:prstGeom>
          </p:spPr>
          <p:txBody>
            <a:bodyPr lIns="50800" tIns="50800" rIns="50800" bIns="50800" rtlCol="0" anchor="ctr"/>
            <a:lstStyle/>
            <a:p>
              <a:pPr marL="0" lvl="0" indent="0" algn="ctr">
                <a:lnSpc>
                  <a:spcPts val="2659"/>
                </a:lnSpc>
              </a:pPr>
              <a:endParaRPr/>
            </a:p>
          </p:txBody>
        </p:sp>
      </p:grpSp>
      <p:sp>
        <p:nvSpPr>
          <p:cNvPr id="26" name="TextBox 26"/>
          <p:cNvSpPr txBox="1"/>
          <p:nvPr/>
        </p:nvSpPr>
        <p:spPr>
          <a:xfrm>
            <a:off x="10068851" y="7594650"/>
            <a:ext cx="6401080" cy="971817"/>
          </a:xfrm>
          <a:prstGeom prst="rect">
            <a:avLst/>
          </a:prstGeom>
        </p:spPr>
        <p:txBody>
          <a:bodyPr lIns="0" tIns="0" rIns="0" bIns="0" rtlCol="0" anchor="t">
            <a:spAutoFit/>
          </a:bodyPr>
          <a:lstStyle/>
          <a:p>
            <a:pPr marL="0" lvl="0" indent="0" algn="just">
              <a:lnSpc>
                <a:spcPts val="2610"/>
              </a:lnSpc>
              <a:spcBef>
                <a:spcPct val="0"/>
              </a:spcBef>
            </a:pPr>
            <a:r>
              <a:rPr lang="en-US" sz="1864">
                <a:solidFill>
                  <a:srgbClr val="FFFFFF"/>
                </a:solidFill>
                <a:latin typeface="Roboto"/>
                <a:ea typeface="Roboto"/>
                <a:cs typeface="Roboto"/>
                <a:sym typeface="Roboto"/>
              </a:rPr>
              <a:t>Displays cost per patient day, revenue cycle efficiency, and payer mix distribution. Guides financial oversight and helps leadership align operational spending with budget targets.</a:t>
            </a:r>
          </a:p>
        </p:txBody>
      </p:sp>
      <p:sp>
        <p:nvSpPr>
          <p:cNvPr id="27" name="TextBox 27"/>
          <p:cNvSpPr txBox="1"/>
          <p:nvPr/>
        </p:nvSpPr>
        <p:spPr>
          <a:xfrm>
            <a:off x="10046835" y="4198273"/>
            <a:ext cx="5622934" cy="392074"/>
          </a:xfrm>
          <a:prstGeom prst="rect">
            <a:avLst/>
          </a:prstGeom>
        </p:spPr>
        <p:txBody>
          <a:bodyPr lIns="0" tIns="0" rIns="0" bIns="0" rtlCol="0" anchor="t">
            <a:spAutoFit/>
          </a:bodyPr>
          <a:lstStyle/>
          <a:p>
            <a:pPr marL="0" lvl="0" indent="0" algn="l">
              <a:lnSpc>
                <a:spcPts val="3081"/>
              </a:lnSpc>
            </a:pPr>
            <a:r>
              <a:rPr lang="en-US" sz="2703">
                <a:solidFill>
                  <a:srgbClr val="FFFFFF"/>
                </a:solidFill>
                <a:latin typeface="Ramabhadra"/>
                <a:ea typeface="Ramabhadra"/>
                <a:cs typeface="Ramabhadra"/>
                <a:sym typeface="Ramabhadra"/>
              </a:rPr>
              <a:t>Wait Times &amp; Readmissions</a:t>
            </a:r>
          </a:p>
        </p:txBody>
      </p:sp>
      <p:sp>
        <p:nvSpPr>
          <p:cNvPr id="28" name="TextBox 28"/>
          <p:cNvSpPr txBox="1"/>
          <p:nvPr/>
        </p:nvSpPr>
        <p:spPr>
          <a:xfrm>
            <a:off x="10068851" y="6899325"/>
            <a:ext cx="4485210" cy="392074"/>
          </a:xfrm>
          <a:prstGeom prst="rect">
            <a:avLst/>
          </a:prstGeom>
        </p:spPr>
        <p:txBody>
          <a:bodyPr lIns="0" tIns="0" rIns="0" bIns="0" rtlCol="0" anchor="t">
            <a:spAutoFit/>
          </a:bodyPr>
          <a:lstStyle/>
          <a:p>
            <a:pPr marL="0" lvl="0" indent="0" algn="l">
              <a:lnSpc>
                <a:spcPts val="3081"/>
              </a:lnSpc>
            </a:pPr>
            <a:r>
              <a:rPr lang="en-US" sz="2703">
                <a:solidFill>
                  <a:srgbClr val="FFFFFF"/>
                </a:solidFill>
                <a:latin typeface="Ramabhadra"/>
                <a:ea typeface="Ramabhadra"/>
                <a:cs typeface="Ramabhadra"/>
                <a:sym typeface="Ramabhadra"/>
              </a:rPr>
              <a:t>Cost &amp; Revenue KPIs</a:t>
            </a:r>
          </a:p>
        </p:txBody>
      </p:sp>
      <p:pic>
        <p:nvPicPr>
          <p:cNvPr id="30" name="Picture 29">
            <a:extLst>
              <a:ext uri="{FF2B5EF4-FFF2-40B4-BE49-F238E27FC236}">
                <a16:creationId xmlns:a16="http://schemas.microsoft.com/office/drawing/2014/main" id="{880DA000-8CE7-C719-2972-BE8A6A40F2F2}"/>
              </a:ext>
            </a:extLst>
          </p:cNvPr>
          <p:cNvPicPr>
            <a:picLocks noChangeAspect="1"/>
          </p:cNvPicPr>
          <p:nvPr/>
        </p:nvPicPr>
        <p:blipFill>
          <a:blip r:embed="rId3"/>
          <a:stretch>
            <a:fillRect/>
          </a:stretch>
        </p:blipFill>
        <p:spPr>
          <a:xfrm>
            <a:off x="2029932" y="5505694"/>
            <a:ext cx="5500709" cy="317933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92C8"/>
        </a:solidFill>
        <a:effectLst/>
      </p:bgPr>
    </p:bg>
    <p:spTree>
      <p:nvGrpSpPr>
        <p:cNvPr id="1" name=""/>
        <p:cNvGrpSpPr/>
        <p:nvPr/>
      </p:nvGrpSpPr>
      <p:grpSpPr>
        <a:xfrm>
          <a:off x="0" y="0"/>
          <a:ext cx="0" cy="0"/>
          <a:chOff x="0" y="0"/>
          <a:chExt cx="0" cy="0"/>
        </a:xfrm>
      </p:grpSpPr>
      <p:grpSp>
        <p:nvGrpSpPr>
          <p:cNvPr id="2" name="Group 2"/>
          <p:cNvGrpSpPr/>
          <p:nvPr/>
        </p:nvGrpSpPr>
        <p:grpSpPr>
          <a:xfrm rot="-4586881">
            <a:off x="-2143891" y="-1367752"/>
            <a:ext cx="13022504" cy="13022504"/>
            <a:chOff x="0" y="0"/>
            <a:chExt cx="558800" cy="558800"/>
          </a:xfrm>
        </p:grpSpPr>
        <p:sp>
          <p:nvSpPr>
            <p:cNvPr id="3" name="Freeform 3"/>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FFFFFF"/>
            </a:solidFill>
          </p:spPr>
        </p:sp>
        <p:sp>
          <p:nvSpPr>
            <p:cNvPr id="4" name="TextBox 4"/>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4586881">
            <a:off x="-6511252" y="3456301"/>
            <a:ext cx="13022504" cy="13022504"/>
            <a:chOff x="0" y="0"/>
            <a:chExt cx="558800" cy="558800"/>
          </a:xfrm>
        </p:grpSpPr>
        <p:sp>
          <p:nvSpPr>
            <p:cNvPr id="6" name="Freeform 6"/>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0B5D7B"/>
            </a:solidFill>
          </p:spPr>
        </p:sp>
        <p:sp>
          <p:nvSpPr>
            <p:cNvPr id="7" name="TextBox 7"/>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a:grpSpLocks noChangeAspect="1"/>
          </p:cNvGrpSpPr>
          <p:nvPr/>
        </p:nvGrpSpPr>
        <p:grpSpPr>
          <a:xfrm>
            <a:off x="1028700" y="3569415"/>
            <a:ext cx="7428166" cy="5987763"/>
            <a:chOff x="0" y="0"/>
            <a:chExt cx="4605527" cy="3712464"/>
          </a:xfrm>
        </p:grpSpPr>
        <p:sp>
          <p:nvSpPr>
            <p:cNvPr id="9" name="Freeform 9"/>
            <p:cNvSpPr/>
            <p:nvPr/>
          </p:nvSpPr>
          <p:spPr>
            <a:xfrm>
              <a:off x="0" y="0"/>
              <a:ext cx="4605527" cy="3712464"/>
            </a:xfrm>
            <a:custGeom>
              <a:avLst/>
              <a:gdLst/>
              <a:ahLst/>
              <a:cxnLst/>
              <a:rect l="l" t="t" r="r" b="b"/>
              <a:pathLst>
                <a:path w="4605527" h="3712464">
                  <a:moveTo>
                    <a:pt x="4605527" y="3712464"/>
                  </a:moveTo>
                  <a:lnTo>
                    <a:pt x="0" y="3712464"/>
                  </a:lnTo>
                  <a:lnTo>
                    <a:pt x="0" y="0"/>
                  </a:lnTo>
                  <a:lnTo>
                    <a:pt x="4605527" y="0"/>
                  </a:lnTo>
                  <a:lnTo>
                    <a:pt x="4605527" y="3712464"/>
                  </a:lnTo>
                  <a:close/>
                </a:path>
              </a:pathLst>
            </a:custGeom>
            <a:blipFill>
              <a:blip r:embed="rId2"/>
              <a:stretch>
                <a:fillRect l="-67" r="-67"/>
              </a:stretch>
            </a:blipFill>
          </p:spPr>
        </p:sp>
        <p:sp>
          <p:nvSpPr>
            <p:cNvPr id="10" name="Freeform 10"/>
            <p:cNvSpPr/>
            <p:nvPr/>
          </p:nvSpPr>
          <p:spPr>
            <a:xfrm>
              <a:off x="87223" y="56419"/>
              <a:ext cx="4439784" cy="3544963"/>
            </a:xfrm>
            <a:custGeom>
              <a:avLst/>
              <a:gdLst/>
              <a:ahLst/>
              <a:cxnLst/>
              <a:rect l="l" t="t" r="r" b="b"/>
              <a:pathLst>
                <a:path w="4439784" h="3544963">
                  <a:moveTo>
                    <a:pt x="2598904" y="3537741"/>
                  </a:moveTo>
                  <a:cubicBezTo>
                    <a:pt x="2198138" y="3570305"/>
                    <a:pt x="1796245" y="3488733"/>
                    <a:pt x="1410931" y="3373809"/>
                  </a:cubicBezTo>
                  <a:cubicBezTo>
                    <a:pt x="1119438" y="3286869"/>
                    <a:pt x="827613" y="3177192"/>
                    <a:pt x="592791" y="2983834"/>
                  </a:cubicBezTo>
                  <a:cubicBezTo>
                    <a:pt x="258061" y="2708211"/>
                    <a:pt x="70414" y="2282556"/>
                    <a:pt x="16437" y="1852320"/>
                  </a:cubicBezTo>
                  <a:cubicBezTo>
                    <a:pt x="-42482" y="1382703"/>
                    <a:pt x="54569" y="881517"/>
                    <a:pt x="346881" y="509277"/>
                  </a:cubicBezTo>
                  <a:cubicBezTo>
                    <a:pt x="639192" y="137036"/>
                    <a:pt x="1141699" y="-80803"/>
                    <a:pt x="1602299" y="28061"/>
                  </a:cubicBezTo>
                  <a:cubicBezTo>
                    <a:pt x="1919216" y="102966"/>
                    <a:pt x="2185109" y="315609"/>
                    <a:pt x="2417440" y="543796"/>
                  </a:cubicBezTo>
                  <a:cubicBezTo>
                    <a:pt x="2649773" y="771986"/>
                    <a:pt x="2862968" y="1023758"/>
                    <a:pt x="3130646" y="1209220"/>
                  </a:cubicBezTo>
                  <a:cubicBezTo>
                    <a:pt x="3350568" y="1361593"/>
                    <a:pt x="3600537" y="1464379"/>
                    <a:pt x="3831642" y="1599187"/>
                  </a:cubicBezTo>
                  <a:cubicBezTo>
                    <a:pt x="4062750" y="1733995"/>
                    <a:pt x="4283249" y="1911537"/>
                    <a:pt x="4389624" y="2157036"/>
                  </a:cubicBezTo>
                  <a:cubicBezTo>
                    <a:pt x="4484465" y="2375919"/>
                    <a:pt x="4436724" y="2585377"/>
                    <a:pt x="4314173" y="2778922"/>
                  </a:cubicBezTo>
                  <a:cubicBezTo>
                    <a:pt x="4290768" y="2815885"/>
                    <a:pt x="4265673" y="2851052"/>
                    <a:pt x="4239038" y="2884514"/>
                  </a:cubicBezTo>
                  <a:cubicBezTo>
                    <a:pt x="3860521" y="3360056"/>
                    <a:pt x="3170880" y="3491265"/>
                    <a:pt x="2598904" y="3537741"/>
                  </a:cubicBezTo>
                  <a:close/>
                  <a:moveTo>
                    <a:pt x="4180927" y="1106976"/>
                  </a:moveTo>
                  <a:cubicBezTo>
                    <a:pt x="4248907" y="1080507"/>
                    <a:pt x="4313003" y="1027338"/>
                    <a:pt x="4319730" y="950370"/>
                  </a:cubicBezTo>
                  <a:cubicBezTo>
                    <a:pt x="4323514" y="907078"/>
                    <a:pt x="4312522" y="863954"/>
                    <a:pt x="4300322" y="822246"/>
                  </a:cubicBezTo>
                  <a:cubicBezTo>
                    <a:pt x="4204743" y="495489"/>
                    <a:pt x="3972919" y="-60230"/>
                    <a:pt x="3542809" y="5320"/>
                  </a:cubicBezTo>
                  <a:cubicBezTo>
                    <a:pt x="3434541" y="21821"/>
                    <a:pt x="3333575" y="70251"/>
                    <a:pt x="3240117" y="127346"/>
                  </a:cubicBezTo>
                  <a:cubicBezTo>
                    <a:pt x="3130150" y="194527"/>
                    <a:pt x="3019870" y="287869"/>
                    <a:pt x="3002277" y="415528"/>
                  </a:cubicBezTo>
                  <a:cubicBezTo>
                    <a:pt x="2985375" y="538161"/>
                    <a:pt x="3059756" y="654652"/>
                    <a:pt x="3143822" y="745521"/>
                  </a:cubicBezTo>
                  <a:cubicBezTo>
                    <a:pt x="3289919" y="903443"/>
                    <a:pt x="3487926" y="1011162"/>
                    <a:pt x="3695450" y="1063927"/>
                  </a:cubicBezTo>
                  <a:cubicBezTo>
                    <a:pt x="3816432" y="1094687"/>
                    <a:pt x="3950269" y="1132291"/>
                    <a:pt x="4075611" y="1128467"/>
                  </a:cubicBezTo>
                  <a:cubicBezTo>
                    <a:pt x="4110870" y="1127390"/>
                    <a:pt x="4147272" y="1120077"/>
                    <a:pt x="4180927" y="1106976"/>
                  </a:cubicBezTo>
                  <a:close/>
                </a:path>
              </a:pathLst>
            </a:custGeom>
            <a:blipFill>
              <a:blip r:embed="rId3">
                <a:extLst>
                  <a:ext uri="{28A0092B-C50C-407E-A947-70E740481C1C}">
                    <a14:useLocalDpi xmlns:a14="http://schemas.microsoft.com/office/drawing/2010/main" val="0"/>
                  </a:ext>
                </a:extLst>
              </a:blip>
              <a:stretch>
                <a:fillRect/>
              </a:stretch>
            </a:blipFill>
          </p:spPr>
          <p:txBody>
            <a:bodyPr/>
            <a:lstStyle/>
            <a:p>
              <a:endParaRPr lang="en-IN" dirty="0"/>
            </a:p>
          </p:txBody>
        </p:sp>
      </p:grpSp>
      <p:sp>
        <p:nvSpPr>
          <p:cNvPr id="11" name="TextBox 11"/>
          <p:cNvSpPr txBox="1"/>
          <p:nvPr/>
        </p:nvSpPr>
        <p:spPr>
          <a:xfrm>
            <a:off x="1404912" y="2075980"/>
            <a:ext cx="10251286" cy="974943"/>
          </a:xfrm>
          <a:prstGeom prst="rect">
            <a:avLst/>
          </a:prstGeom>
        </p:spPr>
        <p:txBody>
          <a:bodyPr lIns="0" tIns="0" rIns="0" bIns="0" rtlCol="0" anchor="t">
            <a:spAutoFit/>
          </a:bodyPr>
          <a:lstStyle/>
          <a:p>
            <a:pPr marL="0" lvl="0" indent="0" algn="l">
              <a:lnSpc>
                <a:spcPts val="7632"/>
              </a:lnSpc>
            </a:pPr>
            <a:r>
              <a:rPr lang="en-US" sz="6695">
                <a:solidFill>
                  <a:srgbClr val="0092C8"/>
                </a:solidFill>
                <a:latin typeface="Ramabhadra"/>
                <a:ea typeface="Ramabhadra"/>
                <a:cs typeface="Ramabhadra"/>
                <a:sym typeface="Ramabhadra"/>
              </a:rPr>
              <a:t>PATIENT PROFILE VIEW</a:t>
            </a:r>
          </a:p>
        </p:txBody>
      </p:sp>
      <p:sp>
        <p:nvSpPr>
          <p:cNvPr id="12" name="TextBox 12"/>
          <p:cNvSpPr txBox="1"/>
          <p:nvPr/>
        </p:nvSpPr>
        <p:spPr>
          <a:xfrm>
            <a:off x="1812442" y="1062513"/>
            <a:ext cx="4197282" cy="440712"/>
          </a:xfrm>
          <a:prstGeom prst="rect">
            <a:avLst/>
          </a:prstGeom>
        </p:spPr>
        <p:txBody>
          <a:bodyPr lIns="0" tIns="0" rIns="0" bIns="0" rtlCol="0" anchor="t">
            <a:spAutoFit/>
          </a:bodyPr>
          <a:lstStyle/>
          <a:p>
            <a:pPr marL="0" lvl="0" indent="0" algn="l">
              <a:lnSpc>
                <a:spcPts val="3533"/>
              </a:lnSpc>
              <a:spcBef>
                <a:spcPct val="0"/>
              </a:spcBef>
            </a:pPr>
            <a:r>
              <a:rPr lang="en-US" sz="2524" b="1">
                <a:solidFill>
                  <a:srgbClr val="0092C8"/>
                </a:solidFill>
                <a:latin typeface="Roboto Bold"/>
                <a:ea typeface="Roboto Bold"/>
                <a:cs typeface="Roboto Bold"/>
                <a:sym typeface="Roboto Bold"/>
              </a:rPr>
              <a:t>Core Health Systems</a:t>
            </a:r>
          </a:p>
        </p:txBody>
      </p:sp>
      <p:sp>
        <p:nvSpPr>
          <p:cNvPr id="13" name="TextBox 13"/>
          <p:cNvSpPr txBox="1"/>
          <p:nvPr/>
        </p:nvSpPr>
        <p:spPr>
          <a:xfrm>
            <a:off x="12148518" y="1547214"/>
            <a:ext cx="4874844" cy="532548"/>
          </a:xfrm>
          <a:prstGeom prst="rect">
            <a:avLst/>
          </a:prstGeom>
        </p:spPr>
        <p:txBody>
          <a:bodyPr lIns="0" tIns="0" rIns="0" bIns="0" rtlCol="0" anchor="t">
            <a:spAutoFit/>
          </a:bodyPr>
          <a:lstStyle/>
          <a:p>
            <a:pPr marL="0" lvl="0" indent="0" algn="l">
              <a:lnSpc>
                <a:spcPts val="4147"/>
              </a:lnSpc>
            </a:pPr>
            <a:r>
              <a:rPr lang="en-US" sz="3638">
                <a:solidFill>
                  <a:srgbClr val="FFFFFF"/>
                </a:solidFill>
                <a:latin typeface="Ramabhadra"/>
                <a:ea typeface="Ramabhadra"/>
                <a:cs typeface="Ramabhadra"/>
                <a:sym typeface="Ramabhadra"/>
              </a:rPr>
              <a:t>Patient Demographics</a:t>
            </a:r>
          </a:p>
        </p:txBody>
      </p:sp>
      <p:sp>
        <p:nvSpPr>
          <p:cNvPr id="14" name="TextBox 14"/>
          <p:cNvSpPr txBox="1"/>
          <p:nvPr/>
        </p:nvSpPr>
        <p:spPr>
          <a:xfrm>
            <a:off x="12148518" y="2191104"/>
            <a:ext cx="4874844" cy="1259322"/>
          </a:xfrm>
          <a:prstGeom prst="rect">
            <a:avLst/>
          </a:prstGeom>
        </p:spPr>
        <p:txBody>
          <a:bodyPr lIns="0" tIns="0" rIns="0" bIns="0" rtlCol="0" anchor="t">
            <a:spAutoFit/>
          </a:bodyPr>
          <a:lstStyle/>
          <a:p>
            <a:pPr marL="0" lvl="0" indent="0" algn="just">
              <a:lnSpc>
                <a:spcPts val="2513"/>
              </a:lnSpc>
              <a:spcBef>
                <a:spcPct val="0"/>
              </a:spcBef>
            </a:pPr>
            <a:r>
              <a:rPr lang="en-US" sz="1795">
                <a:solidFill>
                  <a:srgbClr val="FFFFFF"/>
                </a:solidFill>
                <a:latin typeface="Roboto"/>
                <a:ea typeface="Roboto"/>
                <a:cs typeface="Roboto"/>
                <a:sym typeface="Roboto"/>
              </a:rPr>
              <a:t>Breaks down patients by age group, gender, and admission type. Helps management identify which populations drive the highest volume and resource demand across departments.</a:t>
            </a:r>
          </a:p>
        </p:txBody>
      </p:sp>
      <p:sp>
        <p:nvSpPr>
          <p:cNvPr id="15" name="TextBox 15"/>
          <p:cNvSpPr txBox="1"/>
          <p:nvPr/>
        </p:nvSpPr>
        <p:spPr>
          <a:xfrm>
            <a:off x="12148518" y="4742704"/>
            <a:ext cx="4874844" cy="1259322"/>
          </a:xfrm>
          <a:prstGeom prst="rect">
            <a:avLst/>
          </a:prstGeom>
        </p:spPr>
        <p:txBody>
          <a:bodyPr lIns="0" tIns="0" rIns="0" bIns="0" rtlCol="0" anchor="t">
            <a:spAutoFit/>
          </a:bodyPr>
          <a:lstStyle/>
          <a:p>
            <a:pPr marL="0" lvl="0" indent="0" algn="just">
              <a:lnSpc>
                <a:spcPts val="2513"/>
              </a:lnSpc>
              <a:spcBef>
                <a:spcPct val="0"/>
              </a:spcBef>
            </a:pPr>
            <a:r>
              <a:rPr lang="en-US" sz="1795">
                <a:solidFill>
                  <a:srgbClr val="FFFFFF"/>
                </a:solidFill>
                <a:latin typeface="Roboto"/>
                <a:ea typeface="Roboto"/>
                <a:cs typeface="Roboto"/>
                <a:sym typeface="Roboto"/>
              </a:rPr>
              <a:t>Interactive filters allow drill-down by diagnosis category, insurance type, and length of stay. Enables targeted service planning and capacity alignment for specific patient cohorts.</a:t>
            </a:r>
          </a:p>
        </p:txBody>
      </p:sp>
      <p:sp>
        <p:nvSpPr>
          <p:cNvPr id="16" name="TextBox 16"/>
          <p:cNvSpPr txBox="1"/>
          <p:nvPr/>
        </p:nvSpPr>
        <p:spPr>
          <a:xfrm>
            <a:off x="12148518" y="4079764"/>
            <a:ext cx="5110782" cy="532548"/>
          </a:xfrm>
          <a:prstGeom prst="rect">
            <a:avLst/>
          </a:prstGeom>
        </p:spPr>
        <p:txBody>
          <a:bodyPr lIns="0" tIns="0" rIns="0" bIns="0" rtlCol="0" anchor="t">
            <a:spAutoFit/>
          </a:bodyPr>
          <a:lstStyle/>
          <a:p>
            <a:pPr marL="0" lvl="0" indent="0" algn="l">
              <a:lnSpc>
                <a:spcPts val="4147"/>
              </a:lnSpc>
            </a:pPr>
            <a:r>
              <a:rPr lang="en-US" sz="3638">
                <a:solidFill>
                  <a:srgbClr val="FFFFFF"/>
                </a:solidFill>
                <a:latin typeface="Ramabhadra"/>
                <a:ea typeface="Ramabhadra"/>
                <a:cs typeface="Ramabhadra"/>
                <a:sym typeface="Ramabhadra"/>
              </a:rPr>
              <a:t>Segmentation &amp; Filters</a:t>
            </a:r>
          </a:p>
        </p:txBody>
      </p:sp>
      <p:sp>
        <p:nvSpPr>
          <p:cNvPr id="17" name="TextBox 17"/>
          <p:cNvSpPr txBox="1"/>
          <p:nvPr/>
        </p:nvSpPr>
        <p:spPr>
          <a:xfrm>
            <a:off x="12148518" y="6570626"/>
            <a:ext cx="5110782" cy="532548"/>
          </a:xfrm>
          <a:prstGeom prst="rect">
            <a:avLst/>
          </a:prstGeom>
        </p:spPr>
        <p:txBody>
          <a:bodyPr lIns="0" tIns="0" rIns="0" bIns="0" rtlCol="0" anchor="t">
            <a:spAutoFit/>
          </a:bodyPr>
          <a:lstStyle/>
          <a:p>
            <a:pPr marL="0" lvl="0" indent="0" algn="l">
              <a:lnSpc>
                <a:spcPts val="4147"/>
              </a:lnSpc>
            </a:pPr>
            <a:r>
              <a:rPr lang="en-US" sz="3638">
                <a:solidFill>
                  <a:srgbClr val="FFFFFF"/>
                </a:solidFill>
                <a:latin typeface="Ramabhadra"/>
                <a:ea typeface="Ramabhadra"/>
                <a:cs typeface="Ramabhadra"/>
                <a:sym typeface="Ramabhadra"/>
              </a:rPr>
              <a:t>Service Planning Value</a:t>
            </a:r>
          </a:p>
        </p:txBody>
      </p:sp>
      <p:sp>
        <p:nvSpPr>
          <p:cNvPr id="18" name="TextBox 18"/>
          <p:cNvSpPr txBox="1"/>
          <p:nvPr/>
        </p:nvSpPr>
        <p:spPr>
          <a:xfrm>
            <a:off x="12148518" y="7204991"/>
            <a:ext cx="4874844" cy="1259322"/>
          </a:xfrm>
          <a:prstGeom prst="rect">
            <a:avLst/>
          </a:prstGeom>
        </p:spPr>
        <p:txBody>
          <a:bodyPr lIns="0" tIns="0" rIns="0" bIns="0" rtlCol="0" anchor="t">
            <a:spAutoFit/>
          </a:bodyPr>
          <a:lstStyle/>
          <a:p>
            <a:pPr marL="0" lvl="0" indent="0" algn="just">
              <a:lnSpc>
                <a:spcPts val="2513"/>
              </a:lnSpc>
              <a:spcBef>
                <a:spcPct val="0"/>
              </a:spcBef>
            </a:pPr>
            <a:r>
              <a:rPr lang="en-US" sz="1795">
                <a:solidFill>
                  <a:srgbClr val="FFFFFF"/>
                </a:solidFill>
                <a:latin typeface="Roboto"/>
                <a:ea typeface="Roboto"/>
                <a:cs typeface="Roboto"/>
                <a:sym typeface="Roboto"/>
              </a:rPr>
              <a:t>Patient profile data directly informs staffing ratios, bed allocation, and care pathway design. Management uses this view to align resources with actual patient mix and reduce care gaps.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59254" y="4394588"/>
            <a:ext cx="784746" cy="1384965"/>
            <a:chOff x="0" y="0"/>
            <a:chExt cx="406400" cy="717239"/>
          </a:xfrm>
        </p:grpSpPr>
        <p:sp>
          <p:nvSpPr>
            <p:cNvPr id="3" name="Freeform 3"/>
            <p:cNvSpPr/>
            <p:nvPr/>
          </p:nvSpPr>
          <p:spPr>
            <a:xfrm>
              <a:off x="0" y="0"/>
              <a:ext cx="406400" cy="717239"/>
            </a:xfrm>
            <a:custGeom>
              <a:avLst/>
              <a:gdLst/>
              <a:ahLst/>
              <a:cxnLst/>
              <a:rect l="l" t="t" r="r" b="b"/>
              <a:pathLst>
                <a:path w="406400" h="717239">
                  <a:moveTo>
                    <a:pt x="0" y="0"/>
                  </a:moveTo>
                  <a:lnTo>
                    <a:pt x="203200" y="0"/>
                  </a:lnTo>
                  <a:lnTo>
                    <a:pt x="406400" y="358619"/>
                  </a:lnTo>
                  <a:lnTo>
                    <a:pt x="203200" y="717239"/>
                  </a:lnTo>
                  <a:lnTo>
                    <a:pt x="0" y="717239"/>
                  </a:lnTo>
                  <a:lnTo>
                    <a:pt x="203200" y="358619"/>
                  </a:lnTo>
                  <a:lnTo>
                    <a:pt x="0" y="0"/>
                  </a:lnTo>
                  <a:close/>
                </a:path>
              </a:pathLst>
            </a:custGeom>
            <a:solidFill>
              <a:srgbClr val="0092C8"/>
            </a:solidFill>
          </p:spPr>
        </p:sp>
        <p:sp>
          <p:nvSpPr>
            <p:cNvPr id="4" name="TextBox 4"/>
            <p:cNvSpPr txBox="1"/>
            <p:nvPr/>
          </p:nvSpPr>
          <p:spPr>
            <a:xfrm>
              <a:off x="177800" y="-38100"/>
              <a:ext cx="152400" cy="755339"/>
            </a:xfrm>
            <a:prstGeom prst="rect">
              <a:avLst/>
            </a:prstGeom>
          </p:spPr>
          <p:txBody>
            <a:bodyPr lIns="50800" tIns="50800" rIns="50800" bIns="50800" rtlCol="0" anchor="ctr"/>
            <a:lstStyle/>
            <a:p>
              <a:pPr marL="0" lvl="0" indent="0" algn="ctr">
                <a:lnSpc>
                  <a:spcPts val="2659"/>
                </a:lnSpc>
              </a:pPr>
              <a:endParaRPr/>
            </a:p>
          </p:txBody>
        </p:sp>
      </p:grpSp>
      <p:sp>
        <p:nvSpPr>
          <p:cNvPr id="5" name="TextBox 5"/>
          <p:cNvSpPr txBox="1"/>
          <p:nvPr/>
        </p:nvSpPr>
        <p:spPr>
          <a:xfrm>
            <a:off x="1812442" y="2111495"/>
            <a:ext cx="12005450" cy="954805"/>
          </a:xfrm>
          <a:prstGeom prst="rect">
            <a:avLst/>
          </a:prstGeom>
        </p:spPr>
        <p:txBody>
          <a:bodyPr lIns="0" tIns="0" rIns="0" bIns="0" rtlCol="0" anchor="t">
            <a:spAutoFit/>
          </a:bodyPr>
          <a:lstStyle/>
          <a:p>
            <a:pPr marL="0" lvl="0" indent="0" algn="l">
              <a:lnSpc>
                <a:spcPts val="7469"/>
              </a:lnSpc>
            </a:pPr>
            <a:r>
              <a:rPr lang="en-US" sz="6552">
                <a:solidFill>
                  <a:srgbClr val="0092C8"/>
                </a:solidFill>
                <a:latin typeface="Ramabhadra"/>
                <a:ea typeface="Ramabhadra"/>
                <a:cs typeface="Ramabhadra"/>
                <a:sym typeface="Ramabhadra"/>
              </a:rPr>
              <a:t>MAIN TABLEAU DASHBOARD</a:t>
            </a:r>
          </a:p>
        </p:txBody>
      </p:sp>
      <p:sp>
        <p:nvSpPr>
          <p:cNvPr id="6" name="TextBox 6"/>
          <p:cNvSpPr txBox="1"/>
          <p:nvPr/>
        </p:nvSpPr>
        <p:spPr>
          <a:xfrm>
            <a:off x="1812442" y="1072038"/>
            <a:ext cx="4197282" cy="324187"/>
          </a:xfrm>
          <a:prstGeom prst="rect">
            <a:avLst/>
          </a:prstGeom>
        </p:spPr>
        <p:txBody>
          <a:bodyPr lIns="0" tIns="0" rIns="0" bIns="0" rtlCol="0" anchor="t">
            <a:spAutoFit/>
          </a:bodyPr>
          <a:lstStyle/>
          <a:p>
            <a:pPr marL="0" lvl="0" indent="0" algn="l">
              <a:lnSpc>
                <a:spcPts val="2606"/>
              </a:lnSpc>
              <a:spcBef>
                <a:spcPct val="0"/>
              </a:spcBef>
            </a:pPr>
            <a:r>
              <a:rPr lang="en-US" sz="1861" b="1">
                <a:solidFill>
                  <a:srgbClr val="0092C8"/>
                </a:solidFill>
                <a:latin typeface="Roboto Bold"/>
                <a:ea typeface="Roboto Bold"/>
                <a:cs typeface="Roboto Bold"/>
                <a:sym typeface="Roboto Bold"/>
              </a:rPr>
              <a:t>Hospital Operations &amp; Patient Analytics</a:t>
            </a:r>
          </a:p>
        </p:txBody>
      </p:sp>
      <p:grpSp>
        <p:nvGrpSpPr>
          <p:cNvPr id="11" name="Group 11"/>
          <p:cNvGrpSpPr/>
          <p:nvPr/>
        </p:nvGrpSpPr>
        <p:grpSpPr>
          <a:xfrm rot="-6558259">
            <a:off x="-4357502" y="3763208"/>
            <a:ext cx="5491069" cy="5377132"/>
            <a:chOff x="0" y="0"/>
            <a:chExt cx="747428" cy="731919"/>
          </a:xfrm>
        </p:grpSpPr>
        <p:sp>
          <p:nvSpPr>
            <p:cNvPr id="12" name="Freeform 12"/>
            <p:cNvSpPr/>
            <p:nvPr/>
          </p:nvSpPr>
          <p:spPr>
            <a:xfrm>
              <a:off x="0" y="0"/>
              <a:ext cx="747428" cy="731919"/>
            </a:xfrm>
            <a:custGeom>
              <a:avLst/>
              <a:gdLst/>
              <a:ahLst/>
              <a:cxnLst/>
              <a:rect l="l" t="t" r="r" b="b"/>
              <a:pathLst>
                <a:path w="747428" h="731919">
                  <a:moveTo>
                    <a:pt x="44196" y="306876"/>
                  </a:moveTo>
                  <a:cubicBezTo>
                    <a:pt x="65941" y="332481"/>
                    <a:pt x="65985" y="400415"/>
                    <a:pt x="44362" y="426120"/>
                  </a:cubicBezTo>
                  <a:cubicBezTo>
                    <a:pt x="17178" y="458436"/>
                    <a:pt x="895" y="499780"/>
                    <a:pt x="895" y="544728"/>
                  </a:cubicBezTo>
                  <a:cubicBezTo>
                    <a:pt x="895" y="648531"/>
                    <a:pt x="86761" y="731919"/>
                    <a:pt x="191607" y="731919"/>
                  </a:cubicBezTo>
                  <a:cubicBezTo>
                    <a:pt x="237745" y="731919"/>
                    <a:pt x="279975" y="716030"/>
                    <a:pt x="312957" y="689486"/>
                  </a:cubicBezTo>
                  <a:cubicBezTo>
                    <a:pt x="339268" y="668312"/>
                    <a:pt x="409062" y="668309"/>
                    <a:pt x="435374" y="689483"/>
                  </a:cubicBezTo>
                  <a:cubicBezTo>
                    <a:pt x="468355" y="716028"/>
                    <a:pt x="510587" y="731919"/>
                    <a:pt x="556735" y="731919"/>
                  </a:cubicBezTo>
                  <a:cubicBezTo>
                    <a:pt x="661581" y="731919"/>
                    <a:pt x="747428" y="648531"/>
                    <a:pt x="747428" y="544728"/>
                  </a:cubicBezTo>
                  <a:cubicBezTo>
                    <a:pt x="747428" y="499445"/>
                    <a:pt x="730638" y="457822"/>
                    <a:pt x="702995" y="425402"/>
                  </a:cubicBezTo>
                  <a:cubicBezTo>
                    <a:pt x="681276" y="399929"/>
                    <a:pt x="681276" y="332862"/>
                    <a:pt x="702963" y="307363"/>
                  </a:cubicBezTo>
                  <a:cubicBezTo>
                    <a:pt x="730626" y="274837"/>
                    <a:pt x="747428" y="232978"/>
                    <a:pt x="747428" y="187192"/>
                  </a:cubicBezTo>
                  <a:cubicBezTo>
                    <a:pt x="747428" y="84285"/>
                    <a:pt x="661581" y="0"/>
                    <a:pt x="556735" y="0"/>
                  </a:cubicBezTo>
                  <a:cubicBezTo>
                    <a:pt x="510984" y="0"/>
                    <a:pt x="469247" y="15541"/>
                    <a:pt x="436439" y="41552"/>
                  </a:cubicBezTo>
                  <a:cubicBezTo>
                    <a:pt x="409730" y="62727"/>
                    <a:pt x="337270" y="62489"/>
                    <a:pt x="310562" y="41316"/>
                  </a:cubicBezTo>
                  <a:cubicBezTo>
                    <a:pt x="277928" y="15447"/>
                    <a:pt x="236306" y="0"/>
                    <a:pt x="190693" y="0"/>
                  </a:cubicBezTo>
                  <a:cubicBezTo>
                    <a:pt x="85846" y="0"/>
                    <a:pt x="0" y="84285"/>
                    <a:pt x="0" y="187192"/>
                  </a:cubicBezTo>
                  <a:cubicBezTo>
                    <a:pt x="0" y="232749"/>
                    <a:pt x="16635" y="274420"/>
                    <a:pt x="44196" y="306876"/>
                  </a:cubicBezTo>
                  <a:close/>
                </a:path>
              </a:pathLst>
            </a:custGeom>
            <a:solidFill>
              <a:srgbClr val="0092C8"/>
            </a:solidFill>
          </p:spPr>
        </p:sp>
        <p:sp>
          <p:nvSpPr>
            <p:cNvPr id="13" name="TextBox 13"/>
            <p:cNvSpPr txBox="1"/>
            <p:nvPr/>
          </p:nvSpPr>
          <p:spPr>
            <a:xfrm>
              <a:off x="59455" y="20121"/>
              <a:ext cx="628519" cy="653578"/>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rot="-10800000">
            <a:off x="8359254" y="7658100"/>
            <a:ext cx="784746" cy="1384965"/>
            <a:chOff x="0" y="0"/>
            <a:chExt cx="406400" cy="717239"/>
          </a:xfrm>
        </p:grpSpPr>
        <p:sp>
          <p:nvSpPr>
            <p:cNvPr id="19" name="Freeform 19"/>
            <p:cNvSpPr/>
            <p:nvPr/>
          </p:nvSpPr>
          <p:spPr>
            <a:xfrm>
              <a:off x="0" y="0"/>
              <a:ext cx="406400" cy="717239"/>
            </a:xfrm>
            <a:custGeom>
              <a:avLst/>
              <a:gdLst/>
              <a:ahLst/>
              <a:cxnLst/>
              <a:rect l="l" t="t" r="r" b="b"/>
              <a:pathLst>
                <a:path w="406400" h="717239">
                  <a:moveTo>
                    <a:pt x="0" y="0"/>
                  </a:moveTo>
                  <a:lnTo>
                    <a:pt x="203200" y="0"/>
                  </a:lnTo>
                  <a:lnTo>
                    <a:pt x="406400" y="358619"/>
                  </a:lnTo>
                  <a:lnTo>
                    <a:pt x="203200" y="717239"/>
                  </a:lnTo>
                  <a:lnTo>
                    <a:pt x="0" y="717239"/>
                  </a:lnTo>
                  <a:lnTo>
                    <a:pt x="203200" y="358619"/>
                  </a:lnTo>
                  <a:lnTo>
                    <a:pt x="0" y="0"/>
                  </a:lnTo>
                  <a:close/>
                </a:path>
              </a:pathLst>
            </a:custGeom>
            <a:solidFill>
              <a:srgbClr val="0092C8"/>
            </a:solidFill>
          </p:spPr>
        </p:sp>
        <p:sp>
          <p:nvSpPr>
            <p:cNvPr id="20" name="TextBox 20"/>
            <p:cNvSpPr txBox="1"/>
            <p:nvPr/>
          </p:nvSpPr>
          <p:spPr>
            <a:xfrm>
              <a:off x="177800" y="-38100"/>
              <a:ext cx="152400" cy="755339"/>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rot="5400000">
            <a:off x="12090760" y="5929881"/>
            <a:ext cx="784746" cy="1384965"/>
            <a:chOff x="0" y="0"/>
            <a:chExt cx="406400" cy="717239"/>
          </a:xfrm>
        </p:grpSpPr>
        <p:sp>
          <p:nvSpPr>
            <p:cNvPr id="22" name="Freeform 22"/>
            <p:cNvSpPr/>
            <p:nvPr/>
          </p:nvSpPr>
          <p:spPr>
            <a:xfrm>
              <a:off x="0" y="0"/>
              <a:ext cx="406400" cy="717239"/>
            </a:xfrm>
            <a:custGeom>
              <a:avLst/>
              <a:gdLst/>
              <a:ahLst/>
              <a:cxnLst/>
              <a:rect l="l" t="t" r="r" b="b"/>
              <a:pathLst>
                <a:path w="406400" h="717239">
                  <a:moveTo>
                    <a:pt x="0" y="0"/>
                  </a:moveTo>
                  <a:lnTo>
                    <a:pt x="203200" y="0"/>
                  </a:lnTo>
                  <a:lnTo>
                    <a:pt x="406400" y="358619"/>
                  </a:lnTo>
                  <a:lnTo>
                    <a:pt x="203200" y="717239"/>
                  </a:lnTo>
                  <a:lnTo>
                    <a:pt x="0" y="717239"/>
                  </a:lnTo>
                  <a:lnTo>
                    <a:pt x="203200" y="358619"/>
                  </a:lnTo>
                  <a:lnTo>
                    <a:pt x="0" y="0"/>
                  </a:lnTo>
                  <a:close/>
                </a:path>
              </a:pathLst>
            </a:custGeom>
            <a:solidFill>
              <a:srgbClr val="0092C8"/>
            </a:solidFill>
          </p:spPr>
        </p:sp>
        <p:sp>
          <p:nvSpPr>
            <p:cNvPr id="23" name="TextBox 23"/>
            <p:cNvSpPr txBox="1"/>
            <p:nvPr/>
          </p:nvSpPr>
          <p:spPr>
            <a:xfrm>
              <a:off x="177800" y="-38100"/>
              <a:ext cx="152400" cy="755339"/>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rot="-3962928">
            <a:off x="12584103" y="-7025874"/>
            <a:ext cx="10532749" cy="10532749"/>
            <a:chOff x="0" y="0"/>
            <a:chExt cx="558800" cy="558800"/>
          </a:xfrm>
        </p:grpSpPr>
        <p:sp>
          <p:nvSpPr>
            <p:cNvPr id="25" name="Freeform 25"/>
            <p:cNvSpPr/>
            <p:nvPr/>
          </p:nvSpPr>
          <p:spPr>
            <a:xfrm>
              <a:off x="0" y="0"/>
              <a:ext cx="558800" cy="558800"/>
            </a:xfrm>
            <a:custGeom>
              <a:avLst/>
              <a:gdLst/>
              <a:ahLst/>
              <a:cxnLst/>
              <a:rect l="l" t="t" r="r" b="b"/>
              <a:pathLst>
                <a:path w="558800" h="558800">
                  <a:moveTo>
                    <a:pt x="33042" y="234291"/>
                  </a:moveTo>
                  <a:cubicBezTo>
                    <a:pt x="49299" y="253840"/>
                    <a:pt x="49332" y="305706"/>
                    <a:pt x="33167" y="325331"/>
                  </a:cubicBezTo>
                  <a:cubicBezTo>
                    <a:pt x="12843" y="350003"/>
                    <a:pt x="669" y="381568"/>
                    <a:pt x="669" y="415884"/>
                  </a:cubicBezTo>
                  <a:cubicBezTo>
                    <a:pt x="669" y="495135"/>
                    <a:pt x="64865" y="558800"/>
                    <a:pt x="143251" y="558800"/>
                  </a:cubicBezTo>
                  <a:cubicBezTo>
                    <a:pt x="177745" y="558800"/>
                    <a:pt x="209318" y="546669"/>
                    <a:pt x="233976" y="526404"/>
                  </a:cubicBezTo>
                  <a:cubicBezTo>
                    <a:pt x="253647" y="510238"/>
                    <a:pt x="305827" y="510235"/>
                    <a:pt x="325498" y="526401"/>
                  </a:cubicBezTo>
                  <a:cubicBezTo>
                    <a:pt x="350157" y="546668"/>
                    <a:pt x="381730" y="558800"/>
                    <a:pt x="416232" y="558800"/>
                  </a:cubicBezTo>
                  <a:cubicBezTo>
                    <a:pt x="494618" y="558800"/>
                    <a:pt x="558800" y="495135"/>
                    <a:pt x="558800" y="415884"/>
                  </a:cubicBezTo>
                  <a:cubicBezTo>
                    <a:pt x="558800" y="381312"/>
                    <a:pt x="546247" y="349534"/>
                    <a:pt x="525581" y="324782"/>
                  </a:cubicBezTo>
                  <a:cubicBezTo>
                    <a:pt x="509342" y="305335"/>
                    <a:pt x="509342" y="254131"/>
                    <a:pt x="525556" y="234663"/>
                  </a:cubicBezTo>
                  <a:cubicBezTo>
                    <a:pt x="546238" y="209831"/>
                    <a:pt x="558800" y="177872"/>
                    <a:pt x="558800" y="142916"/>
                  </a:cubicBezTo>
                  <a:cubicBezTo>
                    <a:pt x="558800" y="64349"/>
                    <a:pt x="494618" y="0"/>
                    <a:pt x="416232" y="0"/>
                  </a:cubicBezTo>
                  <a:cubicBezTo>
                    <a:pt x="382027" y="0"/>
                    <a:pt x="350824" y="11865"/>
                    <a:pt x="326295" y="31724"/>
                  </a:cubicBezTo>
                  <a:cubicBezTo>
                    <a:pt x="306327" y="47891"/>
                    <a:pt x="252153" y="47709"/>
                    <a:pt x="232185" y="31544"/>
                  </a:cubicBezTo>
                  <a:cubicBezTo>
                    <a:pt x="207787" y="11793"/>
                    <a:pt x="176670" y="0"/>
                    <a:pt x="142568" y="0"/>
                  </a:cubicBezTo>
                  <a:cubicBezTo>
                    <a:pt x="64181" y="0"/>
                    <a:pt x="0" y="64349"/>
                    <a:pt x="0" y="142916"/>
                  </a:cubicBezTo>
                  <a:cubicBezTo>
                    <a:pt x="0" y="177697"/>
                    <a:pt x="12437" y="209512"/>
                    <a:pt x="33042" y="234291"/>
                  </a:cubicBezTo>
                  <a:close/>
                </a:path>
              </a:pathLst>
            </a:custGeom>
            <a:solidFill>
              <a:srgbClr val="0092C8"/>
            </a:solidFill>
          </p:spPr>
        </p:sp>
        <p:sp>
          <p:nvSpPr>
            <p:cNvPr id="26" name="TextBox 26"/>
            <p:cNvSpPr txBox="1"/>
            <p:nvPr/>
          </p:nvSpPr>
          <p:spPr>
            <a:xfrm>
              <a:off x="44450" y="6350"/>
              <a:ext cx="469900" cy="508000"/>
            </a:xfrm>
            <a:prstGeom prst="rect">
              <a:avLst/>
            </a:prstGeom>
          </p:spPr>
          <p:txBody>
            <a:bodyPr lIns="50800" tIns="50800" rIns="50800" bIns="50800" rtlCol="0" anchor="ctr"/>
            <a:lstStyle/>
            <a:p>
              <a:pPr marL="0" lvl="0" indent="0" algn="ctr">
                <a:lnSpc>
                  <a:spcPts val="2659"/>
                </a:lnSpc>
              </a:pPr>
              <a:endParaRPr/>
            </a:p>
          </p:txBody>
        </p:sp>
      </p:grpSp>
      <p:pic>
        <p:nvPicPr>
          <p:cNvPr id="28" name="Picture 27">
            <a:extLst>
              <a:ext uri="{FF2B5EF4-FFF2-40B4-BE49-F238E27FC236}">
                <a16:creationId xmlns:a16="http://schemas.microsoft.com/office/drawing/2014/main" id="{C18669CB-FB80-0D29-F80E-2AC44C7962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14871" y="3269899"/>
            <a:ext cx="5040000" cy="2910422"/>
          </a:xfrm>
          <a:prstGeom prst="rect">
            <a:avLst/>
          </a:prstGeom>
          <a:ln>
            <a:solidFill>
              <a:schemeClr val="tx1"/>
            </a:solidFill>
          </a:ln>
        </p:spPr>
      </p:pic>
      <p:pic>
        <p:nvPicPr>
          <p:cNvPr id="30" name="Picture 29">
            <a:extLst>
              <a:ext uri="{FF2B5EF4-FFF2-40B4-BE49-F238E27FC236}">
                <a16:creationId xmlns:a16="http://schemas.microsoft.com/office/drawing/2014/main" id="{5D30C20F-74F3-F672-EC5E-AE3784802F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36908" y="3269897"/>
            <a:ext cx="5040000" cy="2910424"/>
          </a:xfrm>
          <a:prstGeom prst="rect">
            <a:avLst/>
          </a:prstGeom>
          <a:ln>
            <a:solidFill>
              <a:schemeClr val="tx1"/>
            </a:solidFill>
          </a:ln>
        </p:spPr>
      </p:pic>
      <p:pic>
        <p:nvPicPr>
          <p:cNvPr id="32" name="Picture 31">
            <a:extLst>
              <a:ext uri="{FF2B5EF4-FFF2-40B4-BE49-F238E27FC236}">
                <a16:creationId xmlns:a16="http://schemas.microsoft.com/office/drawing/2014/main" id="{5A7BFC2A-DE5C-40BE-37AB-858AFB6A06E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8857" y="7139677"/>
            <a:ext cx="5040000" cy="2910423"/>
          </a:xfrm>
          <a:prstGeom prst="rect">
            <a:avLst/>
          </a:prstGeom>
          <a:ln>
            <a:solidFill>
              <a:schemeClr val="tx1"/>
            </a:solidFill>
          </a:ln>
        </p:spPr>
      </p:pic>
      <p:pic>
        <p:nvPicPr>
          <p:cNvPr id="34" name="Picture 33">
            <a:extLst>
              <a:ext uri="{FF2B5EF4-FFF2-40B4-BE49-F238E27FC236}">
                <a16:creationId xmlns:a16="http://schemas.microsoft.com/office/drawing/2014/main" id="{10C5559B-31AB-CB32-1D58-C68677B89E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14871" y="7137049"/>
            <a:ext cx="5040000" cy="2913051"/>
          </a:xfrm>
          <a:prstGeom prst="rect">
            <a:avLst/>
          </a:prstGeom>
          <a:ln>
            <a:solidFill>
              <a:schemeClr val="tx1"/>
            </a:solidFill>
          </a:ln>
        </p:spPr>
      </p:pic>
      <p:grpSp>
        <p:nvGrpSpPr>
          <p:cNvPr id="35" name="Group 18">
            <a:extLst>
              <a:ext uri="{FF2B5EF4-FFF2-40B4-BE49-F238E27FC236}">
                <a16:creationId xmlns:a16="http://schemas.microsoft.com/office/drawing/2014/main" id="{51FF450E-A324-38EA-22FA-2BDEB95B55DF}"/>
              </a:ext>
            </a:extLst>
          </p:cNvPr>
          <p:cNvGrpSpPr/>
          <p:nvPr/>
        </p:nvGrpSpPr>
        <p:grpSpPr>
          <a:xfrm rot="16200000">
            <a:off x="4033910" y="5929880"/>
            <a:ext cx="784746" cy="1384965"/>
            <a:chOff x="0" y="0"/>
            <a:chExt cx="406400" cy="717239"/>
          </a:xfrm>
        </p:grpSpPr>
        <p:sp>
          <p:nvSpPr>
            <p:cNvPr id="36" name="Freeform 19">
              <a:extLst>
                <a:ext uri="{FF2B5EF4-FFF2-40B4-BE49-F238E27FC236}">
                  <a16:creationId xmlns:a16="http://schemas.microsoft.com/office/drawing/2014/main" id="{AC86E839-80FD-B5CE-F44D-B8A72788CB81}"/>
                </a:ext>
              </a:extLst>
            </p:cNvPr>
            <p:cNvSpPr/>
            <p:nvPr/>
          </p:nvSpPr>
          <p:spPr>
            <a:xfrm>
              <a:off x="0" y="0"/>
              <a:ext cx="406400" cy="717239"/>
            </a:xfrm>
            <a:custGeom>
              <a:avLst/>
              <a:gdLst/>
              <a:ahLst/>
              <a:cxnLst/>
              <a:rect l="l" t="t" r="r" b="b"/>
              <a:pathLst>
                <a:path w="406400" h="717239">
                  <a:moveTo>
                    <a:pt x="0" y="0"/>
                  </a:moveTo>
                  <a:lnTo>
                    <a:pt x="203200" y="0"/>
                  </a:lnTo>
                  <a:lnTo>
                    <a:pt x="406400" y="358619"/>
                  </a:lnTo>
                  <a:lnTo>
                    <a:pt x="203200" y="717239"/>
                  </a:lnTo>
                  <a:lnTo>
                    <a:pt x="0" y="717239"/>
                  </a:lnTo>
                  <a:lnTo>
                    <a:pt x="203200" y="358619"/>
                  </a:lnTo>
                  <a:lnTo>
                    <a:pt x="0" y="0"/>
                  </a:lnTo>
                  <a:close/>
                </a:path>
              </a:pathLst>
            </a:custGeom>
            <a:solidFill>
              <a:srgbClr val="0092C8"/>
            </a:solidFill>
          </p:spPr>
        </p:sp>
        <p:sp>
          <p:nvSpPr>
            <p:cNvPr id="37" name="TextBox 20">
              <a:extLst>
                <a:ext uri="{FF2B5EF4-FFF2-40B4-BE49-F238E27FC236}">
                  <a16:creationId xmlns:a16="http://schemas.microsoft.com/office/drawing/2014/main" id="{8FFD1299-2F09-5E3B-0AD2-41EE7E8DA69D}"/>
                </a:ext>
              </a:extLst>
            </p:cNvPr>
            <p:cNvSpPr txBox="1"/>
            <p:nvPr/>
          </p:nvSpPr>
          <p:spPr>
            <a:xfrm>
              <a:off x="177800" y="-38100"/>
              <a:ext cx="152400" cy="755339"/>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92C8"/>
        </a:solidFill>
        <a:effectLst/>
      </p:bgPr>
    </p:bg>
    <p:spTree>
      <p:nvGrpSpPr>
        <p:cNvPr id="1" name=""/>
        <p:cNvGrpSpPr/>
        <p:nvPr/>
      </p:nvGrpSpPr>
      <p:grpSpPr>
        <a:xfrm>
          <a:off x="0" y="0"/>
          <a:ext cx="0" cy="0"/>
          <a:chOff x="0" y="0"/>
          <a:chExt cx="0" cy="0"/>
        </a:xfrm>
      </p:grpSpPr>
      <p:grpSp>
        <p:nvGrpSpPr>
          <p:cNvPr id="2" name="Group 2"/>
          <p:cNvGrpSpPr/>
          <p:nvPr/>
        </p:nvGrpSpPr>
        <p:grpSpPr>
          <a:xfrm>
            <a:off x="471438" y="5161013"/>
            <a:ext cx="6410292" cy="8364682"/>
            <a:chOff x="0" y="0"/>
            <a:chExt cx="611080" cy="797387"/>
          </a:xfrm>
        </p:grpSpPr>
        <p:sp>
          <p:nvSpPr>
            <p:cNvPr id="3" name="Freeform 3"/>
            <p:cNvSpPr/>
            <p:nvPr/>
          </p:nvSpPr>
          <p:spPr>
            <a:xfrm>
              <a:off x="0" y="0"/>
              <a:ext cx="611080" cy="797387"/>
            </a:xfrm>
            <a:custGeom>
              <a:avLst/>
              <a:gdLst/>
              <a:ahLst/>
              <a:cxnLst/>
              <a:rect l="l" t="t" r="r" b="b"/>
              <a:pathLst>
                <a:path w="611080" h="797387">
                  <a:moveTo>
                    <a:pt x="203803" y="19070"/>
                  </a:moveTo>
                  <a:cubicBezTo>
                    <a:pt x="235031" y="7556"/>
                    <a:pt x="270748" y="0"/>
                    <a:pt x="305704" y="0"/>
                  </a:cubicBezTo>
                  <a:cubicBezTo>
                    <a:pt x="340662" y="0"/>
                    <a:pt x="374299" y="6476"/>
                    <a:pt x="405297" y="17990"/>
                  </a:cubicBezTo>
                  <a:cubicBezTo>
                    <a:pt x="405958" y="18350"/>
                    <a:pt x="406617" y="18350"/>
                    <a:pt x="407276" y="18710"/>
                  </a:cubicBezTo>
                  <a:cubicBezTo>
                    <a:pt x="523688" y="64765"/>
                    <a:pt x="609431" y="186379"/>
                    <a:pt x="611080" y="328160"/>
                  </a:cubicBezTo>
                  <a:lnTo>
                    <a:pt x="611080" y="699259"/>
                  </a:lnTo>
                  <a:cubicBezTo>
                    <a:pt x="611080" y="753454"/>
                    <a:pt x="567146" y="797387"/>
                    <a:pt x="512951" y="797387"/>
                  </a:cubicBezTo>
                  <a:lnTo>
                    <a:pt x="98128" y="797387"/>
                  </a:lnTo>
                  <a:cubicBezTo>
                    <a:pt x="43934" y="797387"/>
                    <a:pt x="0" y="753454"/>
                    <a:pt x="0" y="699259"/>
                  </a:cubicBezTo>
                  <a:lnTo>
                    <a:pt x="0" y="328508"/>
                  </a:lnTo>
                  <a:cubicBezTo>
                    <a:pt x="1649" y="185660"/>
                    <a:pt x="86072" y="64045"/>
                    <a:pt x="203803" y="19070"/>
                  </a:cubicBezTo>
                  <a:lnTo>
                    <a:pt x="203803" y="19070"/>
                  </a:lnTo>
                  <a:close/>
                </a:path>
              </a:pathLst>
            </a:custGeom>
            <a:solidFill>
              <a:srgbClr val="0B5D7B"/>
            </a:solidFill>
          </p:spPr>
        </p:sp>
        <p:sp>
          <p:nvSpPr>
            <p:cNvPr id="4" name="TextBox 4"/>
            <p:cNvSpPr txBox="1"/>
            <p:nvPr/>
          </p:nvSpPr>
          <p:spPr>
            <a:xfrm>
              <a:off x="0" y="88900"/>
              <a:ext cx="611080" cy="708487"/>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rot="-10800000">
            <a:off x="1095375" y="-2688730"/>
            <a:ext cx="7309296" cy="9282599"/>
            <a:chOff x="0" y="0"/>
            <a:chExt cx="611080" cy="776054"/>
          </a:xfrm>
        </p:grpSpPr>
        <p:sp>
          <p:nvSpPr>
            <p:cNvPr id="6" name="Freeform 6"/>
            <p:cNvSpPr/>
            <p:nvPr/>
          </p:nvSpPr>
          <p:spPr>
            <a:xfrm>
              <a:off x="0" y="0"/>
              <a:ext cx="611080" cy="776054"/>
            </a:xfrm>
            <a:custGeom>
              <a:avLst/>
              <a:gdLst/>
              <a:ahLst/>
              <a:cxnLst/>
              <a:rect l="l" t="t" r="r" b="b"/>
              <a:pathLst>
                <a:path w="611080" h="776054">
                  <a:moveTo>
                    <a:pt x="203803" y="19070"/>
                  </a:moveTo>
                  <a:cubicBezTo>
                    <a:pt x="235031" y="7556"/>
                    <a:pt x="270748" y="0"/>
                    <a:pt x="305704" y="0"/>
                  </a:cubicBezTo>
                  <a:cubicBezTo>
                    <a:pt x="340662" y="0"/>
                    <a:pt x="374299" y="6476"/>
                    <a:pt x="405297" y="17990"/>
                  </a:cubicBezTo>
                  <a:cubicBezTo>
                    <a:pt x="405958" y="18350"/>
                    <a:pt x="406617" y="18350"/>
                    <a:pt x="407276" y="18710"/>
                  </a:cubicBezTo>
                  <a:cubicBezTo>
                    <a:pt x="523688" y="64765"/>
                    <a:pt x="609431" y="186379"/>
                    <a:pt x="611080" y="327686"/>
                  </a:cubicBezTo>
                  <a:lnTo>
                    <a:pt x="611080" y="689995"/>
                  </a:lnTo>
                  <a:cubicBezTo>
                    <a:pt x="611080" y="737524"/>
                    <a:pt x="572550" y="776054"/>
                    <a:pt x="525021" y="776054"/>
                  </a:cubicBezTo>
                  <a:lnTo>
                    <a:pt x="86059" y="776054"/>
                  </a:lnTo>
                  <a:cubicBezTo>
                    <a:pt x="38530" y="776054"/>
                    <a:pt x="0" y="737524"/>
                    <a:pt x="0" y="689995"/>
                  </a:cubicBezTo>
                  <a:lnTo>
                    <a:pt x="0" y="328019"/>
                  </a:lnTo>
                  <a:cubicBezTo>
                    <a:pt x="1649" y="185660"/>
                    <a:pt x="86072" y="64045"/>
                    <a:pt x="203803" y="19070"/>
                  </a:cubicBezTo>
                  <a:lnTo>
                    <a:pt x="203803" y="19070"/>
                  </a:lnTo>
                  <a:close/>
                </a:path>
              </a:pathLst>
            </a:custGeom>
            <a:solidFill>
              <a:srgbClr val="FFFFFF"/>
            </a:solidFill>
          </p:spPr>
        </p:sp>
        <p:sp>
          <p:nvSpPr>
            <p:cNvPr id="7" name="TextBox 7"/>
            <p:cNvSpPr txBox="1"/>
            <p:nvPr/>
          </p:nvSpPr>
          <p:spPr>
            <a:xfrm>
              <a:off x="0" y="88900"/>
              <a:ext cx="611080" cy="687154"/>
            </a:xfrm>
            <a:prstGeom prst="rect">
              <a:avLst/>
            </a:prstGeom>
          </p:spPr>
          <p:txBody>
            <a:bodyPr lIns="50800" tIns="50800" rIns="50800" bIns="50800" rtlCol="0" anchor="ctr"/>
            <a:lstStyle/>
            <a:p>
              <a:pPr marL="0" lvl="0" indent="0" algn="ctr">
                <a:lnSpc>
                  <a:spcPts val="2659"/>
                </a:lnSpc>
              </a:pPr>
              <a:endParaRPr/>
            </a:p>
          </p:txBody>
        </p:sp>
      </p:grpSp>
      <p:sp>
        <p:nvSpPr>
          <p:cNvPr id="8" name="TextBox 8"/>
          <p:cNvSpPr txBox="1"/>
          <p:nvPr/>
        </p:nvSpPr>
        <p:spPr>
          <a:xfrm>
            <a:off x="1587259" y="1901485"/>
            <a:ext cx="6592229" cy="1427825"/>
          </a:xfrm>
          <a:prstGeom prst="rect">
            <a:avLst/>
          </a:prstGeom>
        </p:spPr>
        <p:txBody>
          <a:bodyPr lIns="0" tIns="0" rIns="0" bIns="0" rtlCol="0" anchor="t">
            <a:spAutoFit/>
          </a:bodyPr>
          <a:lstStyle/>
          <a:p>
            <a:pPr marL="0" lvl="0" indent="0" algn="l">
              <a:lnSpc>
                <a:spcPts val="5606"/>
              </a:lnSpc>
            </a:pPr>
            <a:r>
              <a:rPr lang="en-US" sz="4918">
                <a:solidFill>
                  <a:srgbClr val="0B5D7B"/>
                </a:solidFill>
                <a:latin typeface="Ramabhadra"/>
                <a:ea typeface="Ramabhadra"/>
                <a:cs typeface="Ramabhadra"/>
                <a:sym typeface="Ramabhadra"/>
              </a:rPr>
              <a:t>MANAGEMENT RECOMMENDATIONS</a:t>
            </a:r>
          </a:p>
        </p:txBody>
      </p:sp>
      <p:sp>
        <p:nvSpPr>
          <p:cNvPr id="9" name="TextBox 9"/>
          <p:cNvSpPr txBox="1"/>
          <p:nvPr/>
        </p:nvSpPr>
        <p:spPr>
          <a:xfrm>
            <a:off x="12818123" y="1752600"/>
            <a:ext cx="4441177" cy="1722537"/>
          </a:xfrm>
          <a:prstGeom prst="rect">
            <a:avLst/>
          </a:prstGeom>
        </p:spPr>
        <p:txBody>
          <a:bodyPr lIns="0" tIns="0" rIns="0" bIns="0" rtlCol="0" anchor="t">
            <a:spAutoFit/>
          </a:bodyPr>
          <a:lstStyle/>
          <a:p>
            <a:pPr marL="0" lvl="0" indent="0" algn="just">
              <a:lnSpc>
                <a:spcPts val="2707"/>
              </a:lnSpc>
              <a:spcBef>
                <a:spcPct val="0"/>
              </a:spcBef>
            </a:pPr>
            <a:r>
              <a:rPr lang="en-US" sz="1933">
                <a:solidFill>
                  <a:srgbClr val="FFFFFF"/>
                </a:solidFill>
                <a:latin typeface="Roboto"/>
                <a:ea typeface="Roboto"/>
                <a:cs typeface="Roboto"/>
                <a:sym typeface="Roboto"/>
              </a:rPr>
              <a:t>Dashboard trends indicate peak admission windows. Recommend dynamic staffing schedules aligned to patient flow patterns to reduce bottlenecks and wait times.</a:t>
            </a:r>
          </a:p>
        </p:txBody>
      </p:sp>
      <p:sp>
        <p:nvSpPr>
          <p:cNvPr id="10" name="TextBox 10"/>
          <p:cNvSpPr txBox="1"/>
          <p:nvPr/>
        </p:nvSpPr>
        <p:spPr>
          <a:xfrm>
            <a:off x="1812442" y="1062513"/>
            <a:ext cx="4197282" cy="456958"/>
          </a:xfrm>
          <a:prstGeom prst="rect">
            <a:avLst/>
          </a:prstGeom>
        </p:spPr>
        <p:txBody>
          <a:bodyPr lIns="0" tIns="0" rIns="0" bIns="0" rtlCol="0" anchor="t">
            <a:spAutoFit/>
          </a:bodyPr>
          <a:lstStyle/>
          <a:p>
            <a:pPr marL="0" lvl="0" indent="0" algn="l">
              <a:lnSpc>
                <a:spcPts val="3688"/>
              </a:lnSpc>
              <a:spcBef>
                <a:spcPct val="0"/>
              </a:spcBef>
            </a:pPr>
            <a:r>
              <a:rPr lang="en-US" sz="2634" b="1">
                <a:solidFill>
                  <a:srgbClr val="0B5D7B"/>
                </a:solidFill>
                <a:latin typeface="Roboto Bold"/>
                <a:ea typeface="Roboto Bold"/>
                <a:cs typeface="Roboto Bold"/>
                <a:sym typeface="Roboto Bold"/>
              </a:rPr>
              <a:t>Core Health Systems</a:t>
            </a:r>
          </a:p>
        </p:txBody>
      </p:sp>
      <p:sp>
        <p:nvSpPr>
          <p:cNvPr id="11" name="TextBox 11"/>
          <p:cNvSpPr txBox="1"/>
          <p:nvPr/>
        </p:nvSpPr>
        <p:spPr>
          <a:xfrm>
            <a:off x="9144000" y="1891960"/>
            <a:ext cx="3214940" cy="1095736"/>
          </a:xfrm>
          <a:prstGeom prst="rect">
            <a:avLst/>
          </a:prstGeom>
        </p:spPr>
        <p:txBody>
          <a:bodyPr lIns="0" tIns="0" rIns="0" bIns="0" rtlCol="0" anchor="t">
            <a:spAutoFit/>
          </a:bodyPr>
          <a:lstStyle/>
          <a:p>
            <a:pPr marL="0" lvl="0" indent="0" algn="l">
              <a:lnSpc>
                <a:spcPts val="4328"/>
              </a:lnSpc>
            </a:pPr>
            <a:r>
              <a:rPr lang="en-US" sz="3797">
                <a:solidFill>
                  <a:srgbClr val="FFFFFF"/>
                </a:solidFill>
                <a:latin typeface="Ramabhadra"/>
                <a:ea typeface="Ramabhadra"/>
                <a:cs typeface="Ramabhadra"/>
                <a:sym typeface="Ramabhadra"/>
              </a:rPr>
              <a:t>Optimize Patient Flow</a:t>
            </a:r>
          </a:p>
        </p:txBody>
      </p:sp>
      <p:sp>
        <p:nvSpPr>
          <p:cNvPr id="12" name="TextBox 12"/>
          <p:cNvSpPr txBox="1"/>
          <p:nvPr/>
        </p:nvSpPr>
        <p:spPr>
          <a:xfrm>
            <a:off x="12818123" y="4350753"/>
            <a:ext cx="4441177" cy="1722537"/>
          </a:xfrm>
          <a:prstGeom prst="rect">
            <a:avLst/>
          </a:prstGeom>
        </p:spPr>
        <p:txBody>
          <a:bodyPr lIns="0" tIns="0" rIns="0" bIns="0" rtlCol="0" anchor="t">
            <a:spAutoFit/>
          </a:bodyPr>
          <a:lstStyle/>
          <a:p>
            <a:pPr marL="0" lvl="0" indent="0" algn="just">
              <a:lnSpc>
                <a:spcPts val="2707"/>
              </a:lnSpc>
              <a:spcBef>
                <a:spcPct val="0"/>
              </a:spcBef>
            </a:pPr>
            <a:r>
              <a:rPr lang="en-US" sz="1933">
                <a:solidFill>
                  <a:srgbClr val="FFFFFF"/>
                </a:solidFill>
                <a:latin typeface="Roboto"/>
                <a:ea typeface="Roboto"/>
                <a:cs typeface="Roboto"/>
                <a:sym typeface="Roboto"/>
              </a:rPr>
              <a:t>Utilization views reveal under- and over-capacity departments. Reallocate beds, staff, and equipment based on real-time KPI thresholds surfaced in the Tableau dashboard.</a:t>
            </a:r>
          </a:p>
        </p:txBody>
      </p:sp>
      <p:sp>
        <p:nvSpPr>
          <p:cNvPr id="13" name="TextBox 13"/>
          <p:cNvSpPr txBox="1"/>
          <p:nvPr/>
        </p:nvSpPr>
        <p:spPr>
          <a:xfrm>
            <a:off x="12818123" y="6982375"/>
            <a:ext cx="4441177" cy="2065437"/>
          </a:xfrm>
          <a:prstGeom prst="rect">
            <a:avLst/>
          </a:prstGeom>
        </p:spPr>
        <p:txBody>
          <a:bodyPr lIns="0" tIns="0" rIns="0" bIns="0" rtlCol="0" anchor="t">
            <a:spAutoFit/>
          </a:bodyPr>
          <a:lstStyle/>
          <a:p>
            <a:pPr marL="0" lvl="0" indent="0" algn="just">
              <a:lnSpc>
                <a:spcPts val="2707"/>
              </a:lnSpc>
              <a:spcBef>
                <a:spcPct val="0"/>
              </a:spcBef>
            </a:pPr>
            <a:r>
              <a:rPr lang="en-US" sz="1933">
                <a:solidFill>
                  <a:srgbClr val="FFFFFF"/>
                </a:solidFill>
                <a:latin typeface="Roboto"/>
                <a:ea typeface="Roboto"/>
                <a:cs typeface="Roboto"/>
                <a:sym typeface="Roboto"/>
              </a:rPr>
              <a:t>The Hospital Operations &amp; Patient Analytics Dashboard enables data-driven decisions. Next steps: validate [Verified Finding] metrics, expand data refresh cycles, and embed dashboard access into daily management workflows.</a:t>
            </a:r>
          </a:p>
        </p:txBody>
      </p:sp>
      <p:sp>
        <p:nvSpPr>
          <p:cNvPr id="14" name="TextBox 14"/>
          <p:cNvSpPr txBox="1"/>
          <p:nvPr/>
        </p:nvSpPr>
        <p:spPr>
          <a:xfrm>
            <a:off x="9144000" y="4526092"/>
            <a:ext cx="3674123" cy="1638661"/>
          </a:xfrm>
          <a:prstGeom prst="rect">
            <a:avLst/>
          </a:prstGeom>
        </p:spPr>
        <p:txBody>
          <a:bodyPr lIns="0" tIns="0" rIns="0" bIns="0" rtlCol="0" anchor="t">
            <a:spAutoFit/>
          </a:bodyPr>
          <a:lstStyle/>
          <a:p>
            <a:pPr marL="0" lvl="0" indent="0" algn="l">
              <a:lnSpc>
                <a:spcPts val="4328"/>
              </a:lnSpc>
            </a:pPr>
            <a:r>
              <a:rPr lang="en-US" sz="3797">
                <a:solidFill>
                  <a:srgbClr val="FFFFFF"/>
                </a:solidFill>
                <a:latin typeface="Ramabhadra"/>
                <a:ea typeface="Ramabhadra"/>
                <a:cs typeface="Ramabhadra"/>
                <a:sym typeface="Ramabhadra"/>
              </a:rPr>
              <a:t>Resource &amp; Department Allocation</a:t>
            </a:r>
          </a:p>
        </p:txBody>
      </p:sp>
      <p:sp>
        <p:nvSpPr>
          <p:cNvPr id="15" name="TextBox 15"/>
          <p:cNvSpPr txBox="1"/>
          <p:nvPr/>
        </p:nvSpPr>
        <p:spPr>
          <a:xfrm>
            <a:off x="9144000" y="7004015"/>
            <a:ext cx="3674123" cy="1095736"/>
          </a:xfrm>
          <a:prstGeom prst="rect">
            <a:avLst/>
          </a:prstGeom>
        </p:spPr>
        <p:txBody>
          <a:bodyPr lIns="0" tIns="0" rIns="0" bIns="0" rtlCol="0" anchor="t">
            <a:spAutoFit/>
          </a:bodyPr>
          <a:lstStyle/>
          <a:p>
            <a:pPr marL="0" lvl="0" indent="0" algn="l">
              <a:lnSpc>
                <a:spcPts val="4328"/>
              </a:lnSpc>
            </a:pPr>
            <a:r>
              <a:rPr lang="en-US" sz="3797">
                <a:solidFill>
                  <a:srgbClr val="FFFFFF"/>
                </a:solidFill>
                <a:latin typeface="Ramabhadra"/>
                <a:ea typeface="Ramabhadra"/>
                <a:cs typeface="Ramabhadra"/>
                <a:sym typeface="Ramabhadra"/>
              </a:rPr>
              <a:t>Conclusion &amp; Next Steps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5D7B"/>
        </a:solidFill>
        <a:effectLst/>
      </p:bgPr>
    </p:bg>
    <p:spTree>
      <p:nvGrpSpPr>
        <p:cNvPr id="1" name=""/>
        <p:cNvGrpSpPr/>
        <p:nvPr/>
      </p:nvGrpSpPr>
      <p:grpSpPr>
        <a:xfrm>
          <a:off x="0" y="0"/>
          <a:ext cx="0" cy="0"/>
          <a:chOff x="0" y="0"/>
          <a:chExt cx="0" cy="0"/>
        </a:xfrm>
      </p:grpSpPr>
      <p:grpSp>
        <p:nvGrpSpPr>
          <p:cNvPr id="2" name="Group 2"/>
          <p:cNvGrpSpPr/>
          <p:nvPr/>
        </p:nvGrpSpPr>
        <p:grpSpPr>
          <a:xfrm>
            <a:off x="-514350" y="-223507"/>
            <a:ext cx="19323151" cy="4844620"/>
            <a:chOff x="0" y="0"/>
            <a:chExt cx="5089225" cy="1275949"/>
          </a:xfrm>
        </p:grpSpPr>
        <p:sp>
          <p:nvSpPr>
            <p:cNvPr id="3" name="Freeform 3"/>
            <p:cNvSpPr/>
            <p:nvPr/>
          </p:nvSpPr>
          <p:spPr>
            <a:xfrm>
              <a:off x="0" y="0"/>
              <a:ext cx="5089225" cy="1275949"/>
            </a:xfrm>
            <a:custGeom>
              <a:avLst/>
              <a:gdLst/>
              <a:ahLst/>
              <a:cxnLst/>
              <a:rect l="l" t="t" r="r" b="b"/>
              <a:pathLst>
                <a:path w="5089225" h="1275949">
                  <a:moveTo>
                    <a:pt x="0" y="0"/>
                  </a:moveTo>
                  <a:lnTo>
                    <a:pt x="5089225" y="0"/>
                  </a:lnTo>
                  <a:lnTo>
                    <a:pt x="5089225" y="1275949"/>
                  </a:lnTo>
                  <a:lnTo>
                    <a:pt x="0" y="1275949"/>
                  </a:lnTo>
                  <a:close/>
                </a:path>
              </a:pathLst>
            </a:custGeom>
            <a:solidFill>
              <a:srgbClr val="FFFFFF"/>
            </a:solidFill>
          </p:spPr>
        </p:sp>
        <p:sp>
          <p:nvSpPr>
            <p:cNvPr id="4" name="TextBox 4"/>
            <p:cNvSpPr txBox="1"/>
            <p:nvPr/>
          </p:nvSpPr>
          <p:spPr>
            <a:xfrm>
              <a:off x="0" y="-38100"/>
              <a:ext cx="5089225" cy="1314049"/>
            </a:xfrm>
            <a:prstGeom prst="rect">
              <a:avLst/>
            </a:prstGeom>
          </p:spPr>
          <p:txBody>
            <a:bodyPr lIns="50800" tIns="50800" rIns="50800" bIns="50800" rtlCol="0" anchor="ctr"/>
            <a:lstStyle/>
            <a:p>
              <a:pPr marL="0" lvl="0" indent="0" algn="ctr">
                <a:lnSpc>
                  <a:spcPts val="2659"/>
                </a:lnSpc>
              </a:pPr>
              <a:endParaRPr/>
            </a:p>
          </p:txBody>
        </p:sp>
      </p:grpSp>
      <p:grpSp>
        <p:nvGrpSpPr>
          <p:cNvPr id="5" name="Group 5"/>
          <p:cNvGrpSpPr/>
          <p:nvPr/>
        </p:nvGrpSpPr>
        <p:grpSpPr>
          <a:xfrm>
            <a:off x="-514350" y="-1319433"/>
            <a:ext cx="19339510" cy="2000946"/>
            <a:chOff x="0" y="0"/>
            <a:chExt cx="5093534" cy="526998"/>
          </a:xfrm>
        </p:grpSpPr>
        <p:sp>
          <p:nvSpPr>
            <p:cNvPr id="6" name="Freeform 6"/>
            <p:cNvSpPr/>
            <p:nvPr/>
          </p:nvSpPr>
          <p:spPr>
            <a:xfrm>
              <a:off x="0" y="0"/>
              <a:ext cx="5093534" cy="526998"/>
            </a:xfrm>
            <a:custGeom>
              <a:avLst/>
              <a:gdLst/>
              <a:ahLst/>
              <a:cxnLst/>
              <a:rect l="l" t="t" r="r" b="b"/>
              <a:pathLst>
                <a:path w="5093534" h="526998">
                  <a:moveTo>
                    <a:pt x="0" y="0"/>
                  </a:moveTo>
                  <a:lnTo>
                    <a:pt x="5093534" y="0"/>
                  </a:lnTo>
                  <a:lnTo>
                    <a:pt x="5093534" y="526998"/>
                  </a:lnTo>
                  <a:lnTo>
                    <a:pt x="0" y="526998"/>
                  </a:lnTo>
                  <a:close/>
                </a:path>
              </a:pathLst>
            </a:custGeom>
            <a:solidFill>
              <a:srgbClr val="0092C8"/>
            </a:solidFill>
          </p:spPr>
        </p:sp>
        <p:sp>
          <p:nvSpPr>
            <p:cNvPr id="7" name="TextBox 7"/>
            <p:cNvSpPr txBox="1"/>
            <p:nvPr/>
          </p:nvSpPr>
          <p:spPr>
            <a:xfrm>
              <a:off x="0" y="-38100"/>
              <a:ext cx="5093534" cy="565098"/>
            </a:xfrm>
            <a:prstGeom prst="rect">
              <a:avLst/>
            </a:prstGeom>
          </p:spPr>
          <p:txBody>
            <a:bodyPr lIns="50800" tIns="50800" rIns="50800" bIns="50800" rtlCol="0" anchor="ctr"/>
            <a:lstStyle/>
            <a:p>
              <a:pPr marL="0" lvl="0" indent="0" algn="ctr">
                <a:lnSpc>
                  <a:spcPts val="2659"/>
                </a:lnSpc>
              </a:pPr>
              <a:endParaRPr/>
            </a:p>
          </p:txBody>
        </p:sp>
      </p:grpSp>
      <p:grpSp>
        <p:nvGrpSpPr>
          <p:cNvPr id="8" name="Group 8"/>
          <p:cNvGrpSpPr/>
          <p:nvPr/>
        </p:nvGrpSpPr>
        <p:grpSpPr>
          <a:xfrm>
            <a:off x="11430000" y="-1245499"/>
            <a:ext cx="5674724" cy="552993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2"/>
              <a:stretch>
                <a:fillRect/>
              </a:stretch>
            </a:blipFill>
          </p:spPr>
        </p:sp>
      </p:grpSp>
      <p:sp>
        <p:nvSpPr>
          <p:cNvPr id="10" name="TextBox 10"/>
          <p:cNvSpPr txBox="1"/>
          <p:nvPr/>
        </p:nvSpPr>
        <p:spPr>
          <a:xfrm>
            <a:off x="1812442" y="2470935"/>
            <a:ext cx="8598956" cy="963347"/>
          </a:xfrm>
          <a:prstGeom prst="rect">
            <a:avLst/>
          </a:prstGeom>
        </p:spPr>
        <p:txBody>
          <a:bodyPr lIns="0" tIns="0" rIns="0" bIns="0" rtlCol="0" anchor="t">
            <a:spAutoFit/>
          </a:bodyPr>
          <a:lstStyle/>
          <a:p>
            <a:pPr marL="0" lvl="0" indent="0" algn="l">
              <a:lnSpc>
                <a:spcPts val="7093"/>
              </a:lnSpc>
            </a:pPr>
            <a:r>
              <a:rPr lang="en-US" sz="7794">
                <a:solidFill>
                  <a:srgbClr val="0B5D7B"/>
                </a:solidFill>
                <a:latin typeface="Ramabhadra"/>
                <a:ea typeface="Ramabhadra"/>
                <a:cs typeface="Ramabhadra"/>
                <a:sym typeface="Ramabhadra"/>
              </a:rPr>
              <a:t>THANK YOU</a:t>
            </a:r>
          </a:p>
        </p:txBody>
      </p:sp>
      <p:sp>
        <p:nvSpPr>
          <p:cNvPr id="11" name="TextBox 11"/>
          <p:cNvSpPr txBox="1"/>
          <p:nvPr/>
        </p:nvSpPr>
        <p:spPr>
          <a:xfrm>
            <a:off x="1812442" y="6114415"/>
            <a:ext cx="6210220" cy="2725459"/>
          </a:xfrm>
          <a:prstGeom prst="rect">
            <a:avLst/>
          </a:prstGeom>
        </p:spPr>
        <p:txBody>
          <a:bodyPr lIns="0" tIns="0" rIns="0" bIns="0" rtlCol="0" anchor="t">
            <a:spAutoFit/>
          </a:bodyPr>
          <a:lstStyle/>
          <a:p>
            <a:pPr marL="0" lvl="0" indent="0" algn="just">
              <a:lnSpc>
                <a:spcPts val="3077"/>
              </a:lnSpc>
              <a:spcBef>
                <a:spcPct val="0"/>
              </a:spcBef>
            </a:pPr>
            <a:r>
              <a:rPr lang="en-US" sz="2198">
                <a:solidFill>
                  <a:srgbClr val="FFFFFF"/>
                </a:solidFill>
                <a:latin typeface="Roboto"/>
                <a:ea typeface="Roboto"/>
                <a:cs typeface="Roboto"/>
                <a:sym typeface="Roboto"/>
              </a:rPr>
              <a:t>We appreciate your time and attention. This Hospital Operations &amp; Patient Analytics Tableau Dashboard was designed to empower hospital management with real-time, data-driven insights — enabling smarter decisions in patient flow, resource utilization, and departmental performance.</a:t>
            </a:r>
          </a:p>
        </p:txBody>
      </p:sp>
      <p:sp>
        <p:nvSpPr>
          <p:cNvPr id="12" name="TextBox 12"/>
          <p:cNvSpPr txBox="1"/>
          <p:nvPr/>
        </p:nvSpPr>
        <p:spPr>
          <a:xfrm>
            <a:off x="1812442" y="1062513"/>
            <a:ext cx="4197282" cy="456958"/>
          </a:xfrm>
          <a:prstGeom prst="rect">
            <a:avLst/>
          </a:prstGeom>
        </p:spPr>
        <p:txBody>
          <a:bodyPr lIns="0" tIns="0" rIns="0" bIns="0" rtlCol="0" anchor="t">
            <a:spAutoFit/>
          </a:bodyPr>
          <a:lstStyle/>
          <a:p>
            <a:pPr marL="0" lvl="0" indent="0" algn="l">
              <a:lnSpc>
                <a:spcPts val="3688"/>
              </a:lnSpc>
              <a:spcBef>
                <a:spcPct val="0"/>
              </a:spcBef>
            </a:pPr>
            <a:r>
              <a:rPr lang="en-US" sz="2634" b="1">
                <a:solidFill>
                  <a:srgbClr val="0B5D7B"/>
                </a:solidFill>
                <a:latin typeface="Roboto Bold"/>
                <a:ea typeface="Roboto Bold"/>
                <a:cs typeface="Roboto Bold"/>
                <a:sym typeface="Roboto Bold"/>
              </a:rPr>
              <a:t>Core Health Systems</a:t>
            </a:r>
          </a:p>
        </p:txBody>
      </p:sp>
      <p:sp>
        <p:nvSpPr>
          <p:cNvPr id="13" name="TextBox 13"/>
          <p:cNvSpPr txBox="1"/>
          <p:nvPr/>
        </p:nvSpPr>
        <p:spPr>
          <a:xfrm>
            <a:off x="2498330" y="5052455"/>
            <a:ext cx="4838445" cy="714348"/>
          </a:xfrm>
          <a:prstGeom prst="rect">
            <a:avLst/>
          </a:prstGeom>
        </p:spPr>
        <p:txBody>
          <a:bodyPr lIns="0" tIns="0" rIns="0" bIns="0" rtlCol="0" anchor="t">
            <a:spAutoFit/>
          </a:bodyPr>
          <a:lstStyle/>
          <a:p>
            <a:pPr marL="0" lvl="0" indent="0" algn="ctr">
              <a:lnSpc>
                <a:spcPts val="5695"/>
              </a:lnSpc>
            </a:pPr>
            <a:r>
              <a:rPr lang="en-US" sz="4996">
                <a:solidFill>
                  <a:srgbClr val="FFFFFF"/>
                </a:solidFill>
                <a:latin typeface="Ramabhadra"/>
                <a:ea typeface="Ramabhadra"/>
                <a:cs typeface="Ramabhadra"/>
                <a:sym typeface="Ramabhadra"/>
              </a:rPr>
              <a:t>Questions?</a:t>
            </a:r>
          </a:p>
        </p:txBody>
      </p:sp>
      <p:sp>
        <p:nvSpPr>
          <p:cNvPr id="14" name="TextBox 14"/>
          <p:cNvSpPr txBox="1"/>
          <p:nvPr/>
        </p:nvSpPr>
        <p:spPr>
          <a:xfrm>
            <a:off x="10411398" y="5042930"/>
            <a:ext cx="5097735" cy="714348"/>
          </a:xfrm>
          <a:prstGeom prst="rect">
            <a:avLst/>
          </a:prstGeom>
        </p:spPr>
        <p:txBody>
          <a:bodyPr lIns="0" tIns="0" rIns="0" bIns="0" rtlCol="0" anchor="t">
            <a:spAutoFit/>
          </a:bodyPr>
          <a:lstStyle/>
          <a:p>
            <a:pPr marL="0" lvl="0" indent="0" algn="ctr">
              <a:lnSpc>
                <a:spcPts val="5695"/>
              </a:lnSpc>
            </a:pPr>
            <a:r>
              <a:rPr lang="en-US" sz="4996">
                <a:solidFill>
                  <a:srgbClr val="FFFFFF"/>
                </a:solidFill>
                <a:latin typeface="Ramabhadra"/>
                <a:ea typeface="Ramabhadra"/>
                <a:cs typeface="Ramabhadra"/>
                <a:sym typeface="Ramabhadra"/>
              </a:rPr>
              <a:t>Contact</a:t>
            </a:r>
          </a:p>
        </p:txBody>
      </p:sp>
      <p:sp>
        <p:nvSpPr>
          <p:cNvPr id="15" name="TextBox 15"/>
          <p:cNvSpPr txBox="1"/>
          <p:nvPr/>
        </p:nvSpPr>
        <p:spPr>
          <a:xfrm>
            <a:off x="9855156" y="6154816"/>
            <a:ext cx="6210220" cy="2334934"/>
          </a:xfrm>
          <a:prstGeom prst="rect">
            <a:avLst/>
          </a:prstGeom>
        </p:spPr>
        <p:txBody>
          <a:bodyPr lIns="0" tIns="0" rIns="0" bIns="0" rtlCol="0" anchor="t">
            <a:spAutoFit/>
          </a:bodyPr>
          <a:lstStyle/>
          <a:p>
            <a:pPr marL="0" lvl="0" indent="0" algn="just">
              <a:lnSpc>
                <a:spcPts val="3077"/>
              </a:lnSpc>
              <a:spcBef>
                <a:spcPct val="0"/>
              </a:spcBef>
            </a:pPr>
            <a:r>
              <a:rPr lang="en-US" sz="2198">
                <a:solidFill>
                  <a:srgbClr val="FFFFFF"/>
                </a:solidFill>
                <a:latin typeface="Roboto"/>
                <a:ea typeface="Roboto"/>
                <a:cs typeface="Roboto"/>
                <a:sym typeface="Roboto"/>
              </a:rPr>
              <a:t>For questions regarding the dashboard, methodology, dataset, or findings, please reach out to the project team. We welcome feedback and collaboration to further refine and expand this analytics solution for hospital operations management.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2180830" y="1618636"/>
            <a:ext cx="13926339" cy="7049727"/>
            <a:chOff x="0" y="0"/>
            <a:chExt cx="1104089" cy="558907"/>
          </a:xfrm>
        </p:grpSpPr>
        <p:sp>
          <p:nvSpPr>
            <p:cNvPr id="4" name="Freeform 4"/>
            <p:cNvSpPr/>
            <p:nvPr/>
          </p:nvSpPr>
          <p:spPr>
            <a:xfrm>
              <a:off x="0" y="0"/>
              <a:ext cx="1104089" cy="558907"/>
            </a:xfrm>
            <a:custGeom>
              <a:avLst/>
              <a:gdLst/>
              <a:ahLst/>
              <a:cxnLst/>
              <a:rect l="l" t="t" r="r" b="b"/>
              <a:pathLst>
                <a:path w="1104089" h="558907">
                  <a:moveTo>
                    <a:pt x="1104089" y="279453"/>
                  </a:moveTo>
                  <a:lnTo>
                    <a:pt x="900889" y="558907"/>
                  </a:lnTo>
                  <a:lnTo>
                    <a:pt x="203200" y="558907"/>
                  </a:lnTo>
                  <a:lnTo>
                    <a:pt x="0" y="279453"/>
                  </a:lnTo>
                  <a:lnTo>
                    <a:pt x="203200" y="0"/>
                  </a:lnTo>
                  <a:lnTo>
                    <a:pt x="900889" y="0"/>
                  </a:lnTo>
                  <a:lnTo>
                    <a:pt x="1104089" y="279453"/>
                  </a:lnTo>
                  <a:close/>
                </a:path>
              </a:pathLst>
            </a:custGeom>
            <a:solidFill>
              <a:srgbClr val="FFFFFF"/>
            </a:solidFill>
          </p:spPr>
        </p:sp>
        <p:sp>
          <p:nvSpPr>
            <p:cNvPr id="5" name="TextBox 5"/>
            <p:cNvSpPr txBox="1"/>
            <p:nvPr/>
          </p:nvSpPr>
          <p:spPr>
            <a:xfrm>
              <a:off x="114300" y="-38100"/>
              <a:ext cx="875489" cy="597007"/>
            </a:xfrm>
            <a:prstGeom prst="rect">
              <a:avLst/>
            </a:prstGeom>
          </p:spPr>
          <p:txBody>
            <a:bodyPr lIns="50800" tIns="50800" rIns="50800" bIns="50800" rtlCol="0" anchor="ctr"/>
            <a:lstStyle/>
            <a:p>
              <a:pPr marL="0" lvl="0" indent="0" algn="ctr">
                <a:lnSpc>
                  <a:spcPts val="2659"/>
                </a:lnSpc>
              </a:pPr>
              <a:endParaRPr/>
            </a:p>
          </p:txBody>
        </p:sp>
      </p:grpSp>
      <p:sp>
        <p:nvSpPr>
          <p:cNvPr id="6" name="TextBox 6"/>
          <p:cNvSpPr txBox="1"/>
          <p:nvPr/>
        </p:nvSpPr>
        <p:spPr>
          <a:xfrm>
            <a:off x="3265710" y="3957023"/>
            <a:ext cx="11756579" cy="2079668"/>
          </a:xfrm>
          <a:prstGeom prst="rect">
            <a:avLst/>
          </a:prstGeom>
        </p:spPr>
        <p:txBody>
          <a:bodyPr lIns="0" tIns="0" rIns="0" bIns="0" rtlCol="0" anchor="t">
            <a:spAutoFit/>
          </a:bodyPr>
          <a:lstStyle/>
          <a:p>
            <a:pPr marL="0" lvl="0" indent="0" algn="ctr">
              <a:lnSpc>
                <a:spcPts val="16156"/>
              </a:lnSpc>
            </a:pPr>
            <a:r>
              <a:rPr lang="en-US" sz="14172">
                <a:solidFill>
                  <a:srgbClr val="0092C8"/>
                </a:solidFill>
                <a:latin typeface="Ramabhadra"/>
                <a:ea typeface="Ramabhadra"/>
                <a:cs typeface="Ramabhadra"/>
                <a:sym typeface="Ramabhadra"/>
              </a:rPr>
              <a:t>THANK YOU</a:t>
            </a:r>
          </a:p>
        </p:txBody>
      </p:sp>
      <p:sp>
        <p:nvSpPr>
          <p:cNvPr id="7" name="TextBox 7"/>
          <p:cNvSpPr txBox="1"/>
          <p:nvPr/>
        </p:nvSpPr>
        <p:spPr>
          <a:xfrm>
            <a:off x="7045359" y="2924496"/>
            <a:ext cx="4197282" cy="456958"/>
          </a:xfrm>
          <a:prstGeom prst="rect">
            <a:avLst/>
          </a:prstGeom>
        </p:spPr>
        <p:txBody>
          <a:bodyPr lIns="0" tIns="0" rIns="0" bIns="0" rtlCol="0" anchor="t">
            <a:spAutoFit/>
          </a:bodyPr>
          <a:lstStyle/>
          <a:p>
            <a:pPr marL="0" lvl="0" indent="0" algn="ctr">
              <a:lnSpc>
                <a:spcPts val="3688"/>
              </a:lnSpc>
              <a:spcBef>
                <a:spcPct val="0"/>
              </a:spcBef>
            </a:pPr>
            <a:r>
              <a:rPr lang="en-US" sz="2634" b="1">
                <a:solidFill>
                  <a:srgbClr val="0092C8"/>
                </a:solidFill>
                <a:latin typeface="Roboto Bold"/>
                <a:ea typeface="Roboto Bold"/>
                <a:cs typeface="Roboto Bold"/>
                <a:sym typeface="Roboto Bold"/>
              </a:rPr>
              <a:t>Core Health Systems</a:t>
            </a:r>
          </a:p>
        </p:txBody>
      </p:sp>
      <p:sp>
        <p:nvSpPr>
          <p:cNvPr id="8" name="TextBox 8"/>
          <p:cNvSpPr txBox="1"/>
          <p:nvPr/>
        </p:nvSpPr>
        <p:spPr>
          <a:xfrm>
            <a:off x="4615577" y="6595282"/>
            <a:ext cx="9056846" cy="689924"/>
          </a:xfrm>
          <a:prstGeom prst="rect">
            <a:avLst/>
          </a:prstGeom>
        </p:spPr>
        <p:txBody>
          <a:bodyPr lIns="0" tIns="0" rIns="0" bIns="0" rtlCol="0" anchor="t">
            <a:spAutoFit/>
          </a:bodyPr>
          <a:lstStyle/>
          <a:p>
            <a:pPr marL="0" lvl="0" indent="0" algn="ctr">
              <a:lnSpc>
                <a:spcPts val="2725"/>
              </a:lnSpc>
              <a:spcBef>
                <a:spcPct val="0"/>
              </a:spcBef>
            </a:pPr>
            <a:r>
              <a:rPr lang="en-US" sz="1947">
                <a:solidFill>
                  <a:srgbClr val="0092C8"/>
                </a:solidFill>
                <a:latin typeface="Roboto"/>
                <a:ea typeface="Roboto"/>
                <a:cs typeface="Roboto"/>
                <a:sym typeface="Roboto"/>
              </a:rPr>
              <a:t>Questions &amp; Discussion</a:t>
            </a:r>
          </a:p>
          <a:p>
            <a:pPr marL="0" lvl="0" indent="0" algn="ctr">
              <a:lnSpc>
                <a:spcPts val="2725"/>
              </a:lnSpc>
              <a:spcBef>
                <a:spcPct val="0"/>
              </a:spcBef>
            </a:pPr>
            <a:r>
              <a:rPr lang="en-US" sz="1947">
                <a:solidFill>
                  <a:srgbClr val="0092C8"/>
                </a:solidFill>
                <a:latin typeface="Roboto"/>
                <a:ea typeface="Roboto"/>
                <a:cs typeface="Roboto"/>
                <a:sym typeface="Roboto"/>
              </a:rPr>
              <a:t>Hospital Operations &amp; Patient Analytics Tableau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1189</Words>
  <Application>Microsoft Office PowerPoint</Application>
  <PresentationFormat>Custom</PresentationFormat>
  <Paragraphs>98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Roboto</vt:lpstr>
      <vt:lpstr>Roboto Bold</vt:lpstr>
      <vt:lpstr>Arial</vt:lpstr>
      <vt:lpstr>Ramabhadra</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vaishnujeyaraman@outlook.com</cp:lastModifiedBy>
  <cp:revision>5</cp:revision>
  <dcterms:created xsi:type="dcterms:W3CDTF">2006-08-16T00:00:00Z</dcterms:created>
  <dcterms:modified xsi:type="dcterms:W3CDTF">2026-09-16T12:54:46Z</dcterms:modified>
  <dc:identifier>DAHVSPr56l0</dc:identifier>
</cp:coreProperties>
</file>