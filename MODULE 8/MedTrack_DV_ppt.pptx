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9" r:id="rId4"/>
    <p:sldId id="260" r:id="rId5"/>
    <p:sldId id="261" r:id="rId6"/>
    <p:sldId id="262" r:id="rId7"/>
    <p:sldId id="263" r:id="rId8"/>
    <p:sldId id="268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986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8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91440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108960"/>
            <a:ext cx="2377440" cy="2377440"/>
          </a:xfrm>
          <a:prstGeom prst="ellipse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657600"/>
            <a:ext cx="2194560" cy="219456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MEDTRACK_DV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F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Hospital Data into Clear, Visual Answers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Operations &amp; Patient Analytics Dashboard  •  Power BI + Tableau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09728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Nihal Kata
</a:t>
            </a:r>
            <a:r>
              <a:rPr lang="en-US" sz="12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— Data Visualization (Batch 2)
CMR College of Engineering and Technology, B.Tech /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770" y="260604"/>
            <a:ext cx="71457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F2F31"/>
                </a:solidFill>
                <a:latin typeface="Aptos"/>
              </a:defRPr>
            </a:pPr>
            <a:r>
              <a:rPr sz="3000" dirty="0">
                <a:latin typeface="Cambria" panose="02040503050406030204" pitchFamily="18" charset="0"/>
                <a:ea typeface="Cambria" panose="02040503050406030204" pitchFamily="18" charset="0"/>
              </a:rPr>
              <a:t>The Problem: Hospital Data Is Scattered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740664"/>
            <a:ext cx="6797054" cy="2654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 i="1">
                <a:solidFill>
                  <a:srgbClr val="5B6F70"/>
                </a:solidFill>
                <a:latin typeface="Aptos"/>
              </a:defRPr>
            </a:pPr>
            <a:r>
              <a:rPr sz="1125"/>
              <a:t>Hospitals generate information from many daily activities, but these measures are often viewed separately.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1220724"/>
            <a:ext cx="1680210" cy="1474470"/>
          </a:xfrm>
          <a:prstGeom prst="roundRect">
            <a:avLst/>
          </a:prstGeom>
          <a:solidFill>
            <a:srgbClr val="EBF7F7"/>
          </a:solidFill>
          <a:ln w="15240">
            <a:solidFill>
              <a:srgbClr val="008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150876" rIns="123444" rtlCol="0" anchor="ctr"/>
          <a:lstStyle/>
          <a:p>
            <a:pPr algn="ctr">
              <a:defRPr sz="1600" b="1">
                <a:solidFill>
                  <a:srgbClr val="1F2F31"/>
                </a:solidFill>
                <a:latin typeface="Aptos"/>
              </a:defRPr>
            </a:pPr>
            <a:r>
              <a:rPr sz="1200"/>
              <a:t>Patient Admissions</a:t>
            </a:r>
          </a:p>
          <a:p>
            <a:pPr algn="ctr">
              <a:spcBef>
                <a:spcPts val="750"/>
              </a:spcBef>
              <a:defRPr sz="1150">
                <a:solidFill>
                  <a:srgbClr val="5B6F70"/>
                </a:solidFill>
                <a:latin typeface="Aptos"/>
              </a:defRPr>
            </a:pPr>
            <a:r>
              <a:rPr sz="863"/>
              <a:t>Admission information is recorded across hospital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40329" y="1220724"/>
            <a:ext cx="1680210" cy="1474470"/>
          </a:xfrm>
          <a:prstGeom prst="roundRect">
            <a:avLst/>
          </a:prstGeom>
          <a:solidFill>
            <a:srgbClr val="EBF7F7"/>
          </a:solidFill>
          <a:ln w="15240">
            <a:solidFill>
              <a:srgbClr val="008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150876" rIns="123444" rtlCol="0" anchor="ctr"/>
          <a:lstStyle/>
          <a:p>
            <a:pPr algn="ctr">
              <a:defRPr sz="1600" b="1">
                <a:solidFill>
                  <a:srgbClr val="1F2F31"/>
                </a:solidFill>
                <a:latin typeface="Aptos"/>
              </a:defRPr>
            </a:pPr>
            <a:r>
              <a:rPr sz="1200"/>
              <a:t>Patient Movement</a:t>
            </a:r>
          </a:p>
          <a:p>
            <a:pPr algn="ctr">
              <a:spcBef>
                <a:spcPts val="750"/>
              </a:spcBef>
              <a:defRPr sz="1150">
                <a:solidFill>
                  <a:srgbClr val="5B6F70"/>
                </a:solidFill>
                <a:latin typeface="Aptos"/>
              </a:defRPr>
            </a:pPr>
            <a:r>
              <a:rPr sz="863"/>
              <a:t>Admissions, discharges and patient stays need to be monitored.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220724"/>
            <a:ext cx="1680210" cy="1474470"/>
          </a:xfrm>
          <a:prstGeom prst="roundRect">
            <a:avLst/>
          </a:prstGeom>
          <a:solidFill>
            <a:srgbClr val="EBF7F7"/>
          </a:solidFill>
          <a:ln w="15240">
            <a:solidFill>
              <a:srgbClr val="008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150876" rIns="123444" rtlCol="0" anchor="ctr"/>
          <a:lstStyle/>
          <a:p>
            <a:pPr algn="ctr">
              <a:defRPr sz="1600" b="1">
                <a:solidFill>
                  <a:srgbClr val="1F2F31"/>
                </a:solidFill>
                <a:latin typeface="Aptos"/>
              </a:defRPr>
            </a:pPr>
            <a:r>
              <a:rPr sz="1200"/>
              <a:t>Department Performance</a:t>
            </a:r>
          </a:p>
          <a:p>
            <a:pPr algn="ctr">
              <a:spcBef>
                <a:spcPts val="750"/>
              </a:spcBef>
              <a:defRPr sz="1150">
                <a:solidFill>
                  <a:srgbClr val="5B6F70"/>
                </a:solidFill>
                <a:latin typeface="Aptos"/>
              </a:defRPr>
            </a:pPr>
            <a:r>
              <a:rPr sz="863"/>
              <a:t>Department-level performance and efficiency need to be compared.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0869" y="1220724"/>
            <a:ext cx="1680210" cy="1474470"/>
          </a:xfrm>
          <a:prstGeom prst="roundRect">
            <a:avLst/>
          </a:prstGeom>
          <a:solidFill>
            <a:srgbClr val="EBF7F7"/>
          </a:solidFill>
          <a:ln w="15240">
            <a:solidFill>
              <a:srgbClr val="008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150876" rIns="123444" rtlCol="0" anchor="ctr"/>
          <a:lstStyle/>
          <a:p>
            <a:pPr algn="ctr">
              <a:defRPr sz="1600" b="1">
                <a:solidFill>
                  <a:srgbClr val="1F2F31"/>
                </a:solidFill>
                <a:latin typeface="Aptos"/>
              </a:defRPr>
            </a:pPr>
            <a:r>
              <a:rPr sz="1200"/>
              <a:t>Beds, Staff &amp; Resources</a:t>
            </a:r>
          </a:p>
          <a:p>
            <a:pPr algn="ctr">
              <a:spcBef>
                <a:spcPts val="750"/>
              </a:spcBef>
              <a:defRPr sz="1150">
                <a:solidFill>
                  <a:srgbClr val="5B6F70"/>
                </a:solidFill>
                <a:latin typeface="Aptos"/>
              </a:defRPr>
            </a:pPr>
            <a:r>
              <a:rPr sz="863"/>
              <a:t>Occupancy and resource usage need to be understood.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983229"/>
            <a:ext cx="8161020" cy="857250"/>
          </a:xfrm>
          <a:prstGeom prst="roundRect">
            <a:avLst/>
          </a:prstGeom>
          <a:solidFill>
            <a:srgbClr val="0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0030" rIns="240030" rtlCol="0" anchor="ctr"/>
          <a:lstStyle/>
          <a:p>
            <a:pPr algn="ctr">
              <a:defRPr sz="1200" b="1">
                <a:solidFill>
                  <a:srgbClr val="A5DEDE"/>
                </a:solidFill>
                <a:latin typeface="Aptos"/>
              </a:defRPr>
            </a:pPr>
            <a:r>
              <a:rPr sz="900"/>
              <a:t>THE CHALLENGE</a:t>
            </a:r>
          </a:p>
          <a:p>
            <a:pPr>
              <a:spcBef>
                <a:spcPts val="300"/>
              </a:spcBef>
              <a:defRPr sz="1700" b="1">
                <a:solidFill>
                  <a:srgbClr val="FFFFFF"/>
                </a:solidFill>
                <a:latin typeface="Aptos"/>
              </a:defRPr>
            </a:pPr>
            <a:r>
              <a:rPr sz="1275"/>
              <a:t>When these measures are viewed separately, it becomes difficult to understand the overall operational situation of the hospital.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" y="4059937"/>
            <a:ext cx="117371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008B9E"/>
                </a:solidFill>
                <a:latin typeface="Aptos"/>
              </a:defRPr>
            </a:pPr>
            <a:r>
              <a:rPr sz="1000" dirty="0"/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" y="4286250"/>
            <a:ext cx="78745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 i="0">
                <a:solidFill>
                  <a:srgbClr val="1F2F31"/>
                </a:solidFill>
                <a:latin typeface="Aptos"/>
              </a:defRPr>
            </a:pPr>
            <a:r>
              <a:rPr sz="1200" dirty="0"/>
              <a:t>A unified analytical view can help users compare performance, observe trends and identify areas requiring attention.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9926" y="4814316"/>
            <a:ext cx="231154" cy="196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 i="0">
                <a:solidFill>
                  <a:srgbClr val="5B6F70"/>
                </a:solidFill>
                <a:latin typeface="Aptos"/>
              </a:defRPr>
            </a:pPr>
            <a:r>
              <a:rPr sz="675"/>
              <a:t>2</a:t>
            </a:r>
          </a:p>
        </p:txBody>
      </p:sp>
      <p:sp>
        <p:nvSpPr>
          <p:cNvPr id="13" name="Text 34">
            <a:extLst>
              <a:ext uri="{FF2B5EF4-FFF2-40B4-BE49-F238E27FC236}">
                <a16:creationId xmlns:a16="http://schemas.microsoft.com/office/drawing/2014/main" id="{ACB2418C-FF83-6E14-66A5-1125ADF25671}"/>
              </a:ext>
            </a:extLst>
          </p:cNvPr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Journey: 7 Modules, Start to Finish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stage's output feeds directly into the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932688" cy="1188720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74520"/>
            <a:ext cx="93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8912" y="1581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73352" y="1874520"/>
            <a:ext cx="932688" cy="1188720"/>
          </a:xfrm>
          <a:prstGeom prst="roundRect">
            <a:avLst>
              <a:gd name="adj" fmla="val 8824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673352" y="1874520"/>
            <a:ext cx="93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55064" y="1581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87752" y="1874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89504" y="1874520"/>
            <a:ext cx="932688" cy="1188720"/>
          </a:xfrm>
          <a:prstGeom prst="roundRect">
            <a:avLst>
              <a:gd name="adj" fmla="val 8824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2889504" y="1874520"/>
            <a:ext cx="93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71216" y="1581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03904" y="1874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05656" y="1874520"/>
            <a:ext cx="932688" cy="1188720"/>
          </a:xfrm>
          <a:prstGeom prst="roundRect">
            <a:avLst>
              <a:gd name="adj" fmla="val 8824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105656" y="1874520"/>
            <a:ext cx="93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87368" y="1581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0056" y="1874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21808" y="1874520"/>
            <a:ext cx="932688" cy="1188720"/>
          </a:xfrm>
          <a:prstGeom prst="roundRect">
            <a:avLst>
              <a:gd name="adj" fmla="val 8824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321808" y="1874520"/>
            <a:ext cx="93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&amp;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0" y="1581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1874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1874520"/>
            <a:ext cx="932688" cy="1188720"/>
          </a:xfrm>
          <a:prstGeom prst="roundRect">
            <a:avLst>
              <a:gd name="adj" fmla="val 8824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1874520"/>
            <a:ext cx="93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&amp; 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19672" y="1581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2360" y="1874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54112" y="1874520"/>
            <a:ext cx="932688" cy="1188720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7754112" y="1874520"/>
            <a:ext cx="93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35824" y="1581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AF6F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5204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hospital records become a cleaned dataset, then measurable KPIs, then a planned layout, and finally four interactive dashboards — built twice, in Power BI and Tableau, then tested end to end.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Behind the Scenes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familiar stack — nothing exotic, just used well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874520" cy="1600200"/>
          </a:xfrm>
          <a:prstGeom prst="roundRect">
            <a:avLst>
              <a:gd name="adj" fmla="val 5143"/>
            </a:avLst>
          </a:prstGeom>
          <a:solidFill>
            <a:srgbClr val="EAF6F5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16276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16586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" y="230428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578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&amp; integrating data, building KPIs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23744" y="1463040"/>
            <a:ext cx="1874520" cy="1600200"/>
          </a:xfrm>
          <a:prstGeom prst="roundRect">
            <a:avLst>
              <a:gd name="adj" fmla="val 5143"/>
            </a:avLst>
          </a:prstGeom>
          <a:solidFill>
            <a:srgbClr val="EA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3186684" y="16276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18668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96896" y="230428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15184" y="2578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transforming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44568" y="1463040"/>
            <a:ext cx="1874520" cy="1600200"/>
          </a:xfrm>
          <a:prstGeom prst="roundRect">
            <a:avLst>
              <a:gd name="adj" fmla="val 5143"/>
            </a:avLst>
          </a:prstGeom>
          <a:solidFill>
            <a:srgbClr val="EA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5207508" y="16276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20750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230428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36008" y="2578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data cleaning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65392" y="1463040"/>
            <a:ext cx="1874520" cy="1600200"/>
          </a:xfrm>
          <a:prstGeom prst="roundRect">
            <a:avLst>
              <a:gd name="adj" fmla="val 5143"/>
            </a:avLst>
          </a:prstGeom>
          <a:solidFill>
            <a:srgbClr val="EA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8332" y="16276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228332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38544" y="230428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&amp; Excel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56832" y="2578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cleaned &amp; final datasets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246120"/>
            <a:ext cx="1874520" cy="1600200"/>
          </a:xfrm>
          <a:prstGeom prst="roundRect">
            <a:avLst>
              <a:gd name="adj" fmla="val 5143"/>
            </a:avLst>
          </a:prstGeom>
          <a:solidFill>
            <a:srgbClr val="EA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5860" y="34107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116586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76072" y="40873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4360" y="4361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interactive dashboards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23744" y="3246120"/>
            <a:ext cx="1874520" cy="1600200"/>
          </a:xfrm>
          <a:prstGeom prst="roundRect">
            <a:avLst>
              <a:gd name="adj" fmla="val 5143"/>
            </a:avLst>
          </a:prstGeom>
          <a:solidFill>
            <a:srgbClr val="EAF6F5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6684" y="34107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3186684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96896" y="40873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615184" y="4361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parallel dashboard build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44568" y="3246120"/>
            <a:ext cx="1874520" cy="1600200"/>
          </a:xfrm>
          <a:prstGeom prst="roundRect">
            <a:avLst>
              <a:gd name="adj" fmla="val 5143"/>
            </a:avLst>
          </a:prstGeom>
          <a:solidFill>
            <a:srgbClr val="EAF6F5"/>
          </a:solidFill>
          <a:ln/>
        </p:spPr>
      </p:sp>
      <p:sp>
        <p:nvSpPr>
          <p:cNvPr id="35" name="Shape 33"/>
          <p:cNvSpPr/>
          <p:nvPr/>
        </p:nvSpPr>
        <p:spPr>
          <a:xfrm>
            <a:off x="5207508" y="34107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5207508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17720" y="40873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636008" y="4361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&amp; organizing every module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65392" y="3246120"/>
            <a:ext cx="1874520" cy="1600200"/>
          </a:xfrm>
          <a:prstGeom prst="roundRect">
            <a:avLst>
              <a:gd name="adj" fmla="val 5143"/>
            </a:avLst>
          </a:prstGeom>
          <a:solidFill>
            <a:srgbClr val="EAF6F5"/>
          </a:solidFill>
          <a:ln/>
        </p:spPr>
      </p:sp>
      <p:sp>
        <p:nvSpPr>
          <p:cNvPr id="40" name="Shape 38"/>
          <p:cNvSpPr/>
          <p:nvPr/>
        </p:nvSpPr>
        <p:spPr>
          <a:xfrm>
            <a:off x="7228332" y="34107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7228332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638544" y="40873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656832" y="4361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storyboard plan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Messy Records to a Ready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1–2: generate, clean, and turn data into KPIs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EAF6F5"/>
          </a:solidFill>
          <a:ln/>
        </p:spPr>
      </p:sp>
      <p:sp>
        <p:nvSpPr>
          <p:cNvPr id="5" name="Shape 3"/>
          <p:cNvSpPr/>
          <p:nvPr/>
        </p:nvSpPr>
        <p:spPr>
          <a:xfrm>
            <a:off x="1467612" y="169164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46761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Hospital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hospital_raw_data.csv — generated &amp; integrated with Python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1463040"/>
            <a:ext cx="320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EAF6F5"/>
          </a:solidFill>
          <a:ln/>
        </p:spPr>
      </p:sp>
      <p:sp>
        <p:nvSpPr>
          <p:cNvPr id="11" name="Shape 9"/>
          <p:cNvSpPr/>
          <p:nvPr/>
        </p:nvSpPr>
        <p:spPr>
          <a:xfrm>
            <a:off x="4302252" y="169164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30225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788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hospital_cleaned.csv — missing values fixed, duplicates removed, fields standardized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0" y="1463040"/>
            <a:ext cx="320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6892" y="16916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6892" y="1691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Analytical Dataset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788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hospital_final_dataset.xlsx — enriched with KPIs, ready for dashboards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0690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activities: fixed missing values  •  removed duplicates  •  standardized department names  •  prepared fields for KPIs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KPIs That Power the Dashboards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Six measures turn raw numbers into hospital performance stories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627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patients came 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627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56432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full the hospital is running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5352" y="1627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Length of Stay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45352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patients typically stay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" y="33649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337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7512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patients come back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20040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3456432" y="33649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456432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23360" y="3337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Utilization Rate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56432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beds are being used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320040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EAF6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245352" y="33649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245352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12280" y="3337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Efficiency Score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45352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departments compare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Dashboards, One Full Picture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4-7: Each built twice — once in Power BI, once in Tableau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97053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705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0848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Big-picture KPIs — admissions, occupancy, revenue, efficiency at a glance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4956048" y="197053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9705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15000" y="1645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20848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discharges, patient movement and length-of-stay trends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79933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7993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9136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performance and efficiency compared across departments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956048" y="379933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37993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1500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15000" y="39136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Beds, staff and equipment — how operational resources are used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3EA3C8-FCAA-365C-90DA-042AAEA96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677" y="2623184"/>
            <a:ext cx="4368021" cy="2457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52270B-C599-BBF4-054D-285F02E76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5" y="2623184"/>
            <a:ext cx="4368020" cy="24570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716A1E-C2F0-1740-0472-951F79833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5" y="114740"/>
            <a:ext cx="4368018" cy="24570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073B67-6A24-617F-7D57-A876E2973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677" y="114740"/>
            <a:ext cx="4368018" cy="245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1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Sure Everything Actually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8: final integration, then a full round of testing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calculations match the prepared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819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93792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final dataset is used everywhere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0939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affect the right charts and KPIs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167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93792" y="20939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between dashboards works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523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2679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actions &amp; selections behave correctly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7523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93792" y="2679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opens cleanly with all visuals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3264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workbook opens cleanly with all visuals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337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93792" y="3264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labels and readability hold up on final review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0B3D3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files delivered: medtrack_prototype.pbix  •  medtrack_prototype.twb  •  README.md  —  all organized on GitHub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 |  Hospital Operations &amp; Patient Analytics Dashboard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37745"/>
            <a:ext cx="489101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</a:defRPr>
            </a:pPr>
            <a:r>
              <a:rPr dirty="0"/>
              <a:t>Real-World Questions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7" y="7315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3741"/>
                </a:solidFill>
              </a:defRPr>
            </a:pPr>
            <a:r>
              <a:rPr dirty="0"/>
              <a:t>How can a hospital actually use these dashboards in day-to-day decision making?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9948"/>
            <a:ext cx="3886200" cy="1193291"/>
          </a:xfrm>
          <a:prstGeom prst="roundRect">
            <a:avLst/>
          </a:prstGeom>
          <a:solidFill>
            <a:srgbClr val="F4F8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023480"/>
            <a:ext cx="73152" cy="1234440"/>
          </a:xfrm>
          <a:prstGeom prst="rect">
            <a:avLst/>
          </a:prstGeom>
          <a:solidFill>
            <a:srgbClr val="37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3468" y="1256226"/>
            <a:ext cx="3538728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92D46"/>
                </a:solidFill>
              </a:defRPr>
            </a:pPr>
            <a:r>
              <a:rPr dirty="0"/>
              <a:t>Are admissions increasing or decreasing?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33796"/>
            <a:ext cx="4846320" cy="521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dirty="0"/>
              <a:t>Helps teams understand changing patient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0160" y="1055875"/>
            <a:ext cx="396000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90160" y="1052280"/>
            <a:ext cx="55953" cy="1234440"/>
          </a:xfrm>
          <a:prstGeom prst="rect">
            <a:avLst/>
          </a:prstGeom>
          <a:solidFill>
            <a:srgbClr val="E6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8128" y="1234584"/>
            <a:ext cx="3706876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92D46"/>
                </a:solidFill>
              </a:defRPr>
            </a:pPr>
            <a:r>
              <a:rPr dirty="0"/>
              <a:t>Which departments need attention?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8128" y="1682640"/>
            <a:ext cx="37068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Makes department-level differences easier to identify.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60239"/>
            <a:ext cx="388620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445839"/>
            <a:ext cx="73152" cy="123444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669292"/>
            <a:ext cx="2884680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92D46"/>
                </a:solidFill>
              </a:defRPr>
            </a:pPr>
            <a:r>
              <a:rPr dirty="0"/>
              <a:t>How full is the hospital?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115511"/>
            <a:ext cx="4846320" cy="521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dirty="0"/>
              <a:t>Supports awareness of occupancy and bed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90160" y="2453039"/>
            <a:ext cx="398664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90160" y="2439332"/>
            <a:ext cx="55953" cy="1234440"/>
          </a:xfrm>
          <a:prstGeom prst="rect">
            <a:avLst/>
          </a:prstGeom>
          <a:solidFill>
            <a:srgbClr val="73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91328" y="2635344"/>
            <a:ext cx="3706876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92D46"/>
                </a:solidFill>
              </a:defRPr>
            </a:pPr>
            <a:r>
              <a:t>How long are patients staying?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328" y="3083399"/>
            <a:ext cx="37068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dirty="0"/>
              <a:t>Helps understand patient stay patterns and 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03400"/>
            <a:ext cx="388620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803400"/>
            <a:ext cx="73152" cy="1234440"/>
          </a:xfrm>
          <a:prstGeom prst="rect">
            <a:avLst/>
          </a:prstGeom>
          <a:solidFill>
            <a:srgbClr val="4B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941065"/>
            <a:ext cx="3538728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92D46"/>
                </a:solidFill>
              </a:defRPr>
            </a:pPr>
            <a:r>
              <a:rPr dirty="0"/>
              <a:t>Are beds and resources being used well?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468" y="4368888"/>
            <a:ext cx="3625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dirty="0"/>
              <a:t>Supports better operational resource planning.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11760" y="3817800"/>
            <a:ext cx="398664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90673" y="3817800"/>
            <a:ext cx="55953" cy="1234440"/>
          </a:xfrm>
          <a:prstGeom prst="rect">
            <a:avLst/>
          </a:prstGeom>
          <a:solidFill>
            <a:srgbClr val="37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12928" y="3964104"/>
            <a:ext cx="3706876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192D46"/>
                </a:solidFill>
              </a:defRPr>
            </a:pPr>
            <a:r>
              <a:t>Are patients returning after discharge?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2928" y="4412160"/>
            <a:ext cx="37068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Readmission trends can highlight areas for closer review.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806440"/>
            <a:ext cx="8549640" cy="502920"/>
          </a:xfrm>
          <a:prstGeom prst="roundRect">
            <a:avLst/>
          </a:prstGeom>
          <a:solidFill>
            <a:srgbClr val="F4F8FB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828800" y="5806440"/>
            <a:ext cx="73152" cy="5029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29968" y="5952744"/>
            <a:ext cx="8183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92D46"/>
                </a:solidFill>
              </a:defRPr>
            </a:pPr>
            <a:r>
              <a:t>Overall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9968" y="6400800"/>
            <a:ext cx="818387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Faster understanding • Better monitoring • Easier comparison • More informed operational decisions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37960"/>
            <a:ext cx="10972800" cy="13716"/>
          </a:xfrm>
          <a:prstGeom prst="rect">
            <a:avLst/>
          </a:prstGeom>
          <a:solidFill>
            <a:srgbClr val="DC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878</Words>
  <Application>Microsoft Office PowerPoint</Application>
  <PresentationFormat>On-screen Show (16:9)</PresentationFormat>
  <Paragraphs>182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Nihal Kata</cp:lastModifiedBy>
  <cp:revision>4</cp:revision>
  <dcterms:created xsi:type="dcterms:W3CDTF">2026-09-15T15:32:01Z</dcterms:created>
  <dcterms:modified xsi:type="dcterms:W3CDTF">2026-09-16T13:15:37Z</dcterms:modified>
</cp:coreProperties>
</file>