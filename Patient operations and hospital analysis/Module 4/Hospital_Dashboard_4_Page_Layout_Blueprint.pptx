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HOSPITAL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Hospital-wise performance and patient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Hospital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Patient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Service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Patient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Doctors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Patient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Event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196F3"/>
                </a:solidFill>
                <a:latin typeface="Aptos"/>
              </a:rPr>
              <a:t>Patients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EF6C3B"/>
                </a:solidFill>
                <a:latin typeface="Aptos"/>
              </a:rPr>
              <a:t>Avg LOS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182B9E"/>
                </a:solidFill>
                <a:latin typeface="Aptos"/>
              </a:rPr>
              <a:t>Bed Utilization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E7D32"/>
                </a:solidFill>
                <a:latin typeface="Aptos"/>
              </a:rPr>
              <a:t>Satisfaction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E3237"/>
                </a:solidFill>
                <a:latin typeface="Aptos"/>
              </a:rPr>
              <a:t>Attendance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4251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Admissions / Discharges by Month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401421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637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066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495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2734" y="2596896"/>
            <a:ext cx="521848" cy="38404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14582" y="2596896"/>
            <a:ext cx="561991" cy="24688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476573" y="2363724"/>
            <a:ext cx="561990" cy="48006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38563" y="2363724"/>
            <a:ext cx="561990" cy="315467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600553" y="2459736"/>
            <a:ext cx="602133" cy="219455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02686" y="2459736"/>
            <a:ext cx="682416" cy="27432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82880" y="3291840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Line chart  •  trend over time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62272" y="1627632"/>
            <a:ext cx="4892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53712" y="1700784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Total Requests vs Admitted vs Refused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81144" y="2020824"/>
            <a:ext cx="465429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581144" y="23637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81144" y="27066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81144" y="30495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046573" y="2912364"/>
            <a:ext cx="465429" cy="48005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37803" y="2775204"/>
            <a:ext cx="465429" cy="61721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034" y="2638044"/>
            <a:ext cx="465429" cy="75438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20264" y="2912364"/>
            <a:ext cx="465429" cy="48005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494" y="2775204"/>
            <a:ext cx="465429" cy="617219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3291840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Bars chart  •  service comparison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" y="3675887"/>
            <a:ext cx="425196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4592" y="3749039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Service Mix / Patient Distribution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" y="4069079"/>
            <a:ext cx="401421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92024" y="4565142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2024" y="506120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024" y="5557265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476573" y="4307189"/>
            <a:ext cx="1230233" cy="1230233"/>
          </a:xfrm>
          <a:prstGeom prst="ellipse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918136" y="4525457"/>
            <a:ext cx="793699" cy="793699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57568" y="4902464"/>
            <a:ext cx="168597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Aptos"/>
              </a:rPr>
              <a:t>KPI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Donut chart  •  share by service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462272" y="3675887"/>
            <a:ext cx="489204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53712" y="3749039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Operational Risk / Service Scorecard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81144" y="4069079"/>
            <a:ext cx="465429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581144" y="4565142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81144" y="506120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581144" y="5557265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4581144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246043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10942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75842" y="4069079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0741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05641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70540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81144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246043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910942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575842" y="4565142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240741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905641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570540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581144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246043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10942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575842" y="5061203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40741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05641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570540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581144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246043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910942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575842" y="5557265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40741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905641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70540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Matrix chart  •  service × KPI status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Hospital-wise performance and patient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Hospital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Patient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Service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Patient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Admission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Condition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Gender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Outcome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Readmission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196F3"/>
                </a:solidFill>
                <a:latin typeface="Aptos"/>
              </a:rPr>
              <a:t>Patients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E3237"/>
                </a:solidFill>
                <a:latin typeface="Aptos"/>
              </a:rPr>
              <a:t>Readmission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E7D32"/>
                </a:solidFill>
                <a:latin typeface="Aptos"/>
              </a:rPr>
              <a:t>Avg Satisfaction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EF6C3B"/>
                </a:solidFill>
                <a:latin typeface="Aptos"/>
              </a:rPr>
              <a:t>Avg Cost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182B9E"/>
                </a:solidFill>
                <a:latin typeface="Aptos"/>
              </a:rPr>
              <a:t>Avg LOS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Patients by Department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65429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0219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95008" y="2658618"/>
            <a:ext cx="273405" cy="779526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59798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24587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Bars chart  •  department comparison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18211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7355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Patient Status / Outcome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0098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330098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0098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30098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465027" y="2130552"/>
            <a:ext cx="2405969" cy="226771"/>
          </a:xfrm>
          <a:prstGeom prst="rect">
            <a:avLst/>
          </a:prstGeom>
          <a:solidFill>
            <a:srgbClr val="7B1FA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65027" y="2130552"/>
            <a:ext cx="2405969" cy="2267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Requests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38432" y="2484882"/>
            <a:ext cx="1859158" cy="226771"/>
          </a:xfrm>
          <a:prstGeom prst="rect">
            <a:avLst/>
          </a:prstGeom>
          <a:solidFill>
            <a:srgbClr val="505F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38432" y="2484882"/>
            <a:ext cx="1859158" cy="2267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Admitted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11838" y="2839212"/>
            <a:ext cx="1312346" cy="226771"/>
          </a:xfrm>
          <a:prstGeom prst="rect">
            <a:avLst/>
          </a:prstGeom>
          <a:solidFill>
            <a:srgbClr val="505F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11838" y="2839212"/>
            <a:ext cx="1312346" cy="22677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Refused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9184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Funnel chart  •  recovered • stable • other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91072" y="1627632"/>
            <a:ext cx="3063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82512" y="1700784"/>
            <a:ext cx="28803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Patient Count by Month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9944" y="2020824"/>
            <a:ext cx="282549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409944" y="237515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09944" y="272948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409944" y="308381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51218" y="2616098"/>
            <a:ext cx="367315" cy="396850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918533" y="2616098"/>
            <a:ext cx="395569" cy="255117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314102" y="2375154"/>
            <a:ext cx="395570" cy="496061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09672" y="2375154"/>
            <a:ext cx="395569" cy="325983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105241" y="2474366"/>
            <a:ext cx="423825" cy="226771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529066" y="2474366"/>
            <a:ext cx="480334" cy="283464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400800" y="3337560"/>
            <a:ext cx="284378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Line chart  •  monthly trend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" y="3703320"/>
            <a:ext cx="425196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4592" y="3776472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Patient State / Geography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" y="4096511"/>
            <a:ext cx="401421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192024" y="4585716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92024" y="5074919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92024" y="556412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859718" y="5411419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421709" y="5117896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144268" y="5215737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746400" y="4726533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428817" y="4922215"/>
            <a:ext cx="109728" cy="109728"/>
          </a:xfrm>
          <a:prstGeom prst="ellipse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Scatter chart  •  state-level distribution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62272" y="3703320"/>
            <a:ext cx="489204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53712" y="3776472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Age vs Satisfaction / Cost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81144" y="4096511"/>
            <a:ext cx="465429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4581144" y="4585716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581144" y="5074919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581144" y="556412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5364053" y="5411419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015654" y="5117896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3428" y="5215737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551572" y="4726533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342802" y="4922215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Scatter chart  •  patient segment analysis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SERVICE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Hospital-wise performance and patient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Hospital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Patient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Service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Patient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Week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Bed Utilization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Satisfaction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196F3"/>
                </a:solidFill>
                <a:latin typeface="Aptos"/>
              </a:rPr>
              <a:t>Requests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E7D32"/>
                </a:solidFill>
                <a:latin typeface="Aptos"/>
              </a:rPr>
              <a:t>Admitted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E3237"/>
                </a:solidFill>
                <a:latin typeface="Aptos"/>
              </a:rPr>
              <a:t>Refused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182B9E"/>
                </a:solidFill>
                <a:latin typeface="Aptos"/>
              </a:rPr>
              <a:t>Bed Util.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E7D32"/>
                </a:solidFill>
                <a:latin typeface="Aptos"/>
              </a:rPr>
              <a:t>Patient Sat.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4251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Weekly Patient Requests Trend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401421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637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066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49524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2734" y="2596896"/>
            <a:ext cx="521848" cy="38404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14582" y="2596896"/>
            <a:ext cx="561991" cy="246888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476573" y="2363724"/>
            <a:ext cx="561990" cy="48006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38563" y="2363724"/>
            <a:ext cx="561990" cy="315467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600553" y="2459736"/>
            <a:ext cx="602133" cy="219455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02686" y="2459736"/>
            <a:ext cx="682416" cy="274320"/>
          </a:xfrm>
          <a:prstGeom prst="line">
            <a:avLst/>
          </a:prstGeom>
          <a:ln w="317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82880" y="3291840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Line chart  •  service lines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62272" y="1627632"/>
            <a:ext cx="4892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53712" y="1700784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Admission Conversion Rate by Service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81144" y="2020824"/>
            <a:ext cx="4654296" cy="1371599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581144" y="23637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81144" y="27066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81144" y="3049524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046573" y="2912364"/>
            <a:ext cx="465429" cy="48005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37803" y="2775204"/>
            <a:ext cx="465429" cy="61721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034" y="2638044"/>
            <a:ext cx="465429" cy="7543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20264" y="2912364"/>
            <a:ext cx="465429" cy="48005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494" y="2775204"/>
            <a:ext cx="465429" cy="61721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3291840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Bars chart  •  admitted ÷ requests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" y="3675887"/>
            <a:ext cx="425196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4592" y="3749039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Satisfaction vs Staff Morale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" y="4069079"/>
            <a:ext cx="401421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92024" y="4565142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2024" y="506120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024" y="5557265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859718" y="5403189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421709" y="5105552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144268" y="5204764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46400" y="4708702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28817" y="4907127"/>
            <a:ext cx="109728" cy="109728"/>
          </a:xfrm>
          <a:prstGeom prst="ellipse">
            <a:avLst/>
          </a:prstGeom>
          <a:solidFill>
            <a:srgbClr val="7B1F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Scatter chart  •  service pressure points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62272" y="3675887"/>
            <a:ext cx="489204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53712" y="3749039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Service Scorecard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81144" y="4069079"/>
            <a:ext cx="4654296" cy="1984248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4581144" y="4565142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581144" y="506120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581144" y="5557265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581144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246043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910942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575842" y="4069079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240741" y="4069079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905641" y="4069079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70540" y="4069079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581144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246043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10942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575842" y="4565142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240741" y="4565142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05641" y="4565142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570540" y="4565142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581144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246043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910942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575842" y="5061203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240741" y="5061203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905641" y="5061203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70540" y="5061203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81144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246043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910942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575842" y="5557265"/>
            <a:ext cx="655755" cy="486918"/>
          </a:xfrm>
          <a:prstGeom prst="rect">
            <a:avLst/>
          </a:prstGeom>
          <a:solidFill>
            <a:srgbClr val="78AA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240741" y="5557265"/>
            <a:ext cx="655755" cy="486918"/>
          </a:xfrm>
          <a:prstGeom prst="rect">
            <a:avLst/>
          </a:prstGeom>
          <a:solidFill>
            <a:srgbClr val="417D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905641" y="5557265"/>
            <a:ext cx="655755" cy="486918"/>
          </a:xfrm>
          <a:prstGeom prst="rect">
            <a:avLst/>
          </a:prstGeom>
          <a:solidFill>
            <a:srgbClr val="ECF3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570540" y="5557265"/>
            <a:ext cx="655755" cy="486918"/>
          </a:xfrm>
          <a:prstGeom prst="rect">
            <a:avLst/>
          </a:prstGeom>
          <a:solidFill>
            <a:srgbClr val="BED7F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Matrix chart  •  current • target • status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4114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PATIENT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347472"/>
            <a:ext cx="438912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Hospital-wise performance and patient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54864"/>
            <a:ext cx="1325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25312" y="100584"/>
            <a:ext cx="12710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Hospital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4864"/>
            <a:ext cx="14447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1" y="10058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Patient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54864"/>
            <a:ext cx="1508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5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F1F1F"/>
                </a:solidFill>
                <a:latin typeface="Aptos"/>
              </a:rPr>
              <a:t>Service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3888" y="54864"/>
            <a:ext cx="1508760" cy="384048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00584"/>
            <a:ext cx="14538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Patient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932688"/>
            <a:ext cx="235915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7232" y="1078992"/>
            <a:ext cx="1993392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1481328"/>
            <a:ext cx="18105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5F5F5F"/>
                </a:solidFill>
                <a:latin typeface="Aptos"/>
              </a:rPr>
              <a:t>HOSPITAL / PATIENT
IMAGE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450592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2697480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34056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118104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Condition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3364992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401568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85616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Outcome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4032504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4453128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Insurance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7232" y="4700016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736592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5120640"/>
            <a:ext cx="1783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ptos"/>
              </a:rPr>
              <a:t>Gender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5367528"/>
            <a:ext cx="199339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5404104"/>
            <a:ext cx="1600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Aptos"/>
              </a:rPr>
              <a:t>All                         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749808"/>
            <a:ext cx="64008" cy="71323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196F3"/>
                </a:solidFill>
                <a:latin typeface="Aptos"/>
              </a:rPr>
              <a:t>Patients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749808"/>
            <a:ext cx="64008" cy="71323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EF6C3B"/>
                </a:solidFill>
                <a:latin typeface="Aptos"/>
              </a:rPr>
              <a:t>Avg 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64992" y="749808"/>
            <a:ext cx="64008" cy="7132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E7D32"/>
                </a:solidFill>
                <a:latin typeface="Aptos"/>
              </a:rPr>
              <a:t>Avg Satisfaction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749808"/>
            <a:ext cx="64008" cy="713232"/>
          </a:xfrm>
          <a:prstGeom prst="rect">
            <a:avLst/>
          </a:prstGeom>
          <a:solidFill>
            <a:srgbClr val="BE3237"/>
          </a:solidFill>
          <a:ln>
            <a:solidFill>
              <a:srgbClr val="BE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E3237"/>
                </a:solidFill>
                <a:latin typeface="Aptos"/>
              </a:rPr>
              <a:t>Readmission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56832" y="749808"/>
            <a:ext cx="15727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56832" y="749808"/>
            <a:ext cx="64008" cy="713232"/>
          </a:xfrm>
          <a:prstGeom prst="rect">
            <a:avLst/>
          </a:prstGeom>
          <a:solidFill>
            <a:srgbClr val="182B9E"/>
          </a:solidFill>
          <a:ln>
            <a:solidFill>
              <a:srgbClr val="182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804672"/>
            <a:ext cx="12984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182B9E"/>
                </a:solidFill>
                <a:latin typeface="Aptos"/>
              </a:rPr>
              <a:t>Avg 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1005840"/>
            <a:ext cx="1298448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  <a:latin typeface="Aptos"/>
              </a:rPr>
              <a:t>[KPI]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Top Conditions by Patients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9202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202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202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65429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0219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95008" y="2658618"/>
            <a:ext cx="273405" cy="779526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59798" y="2942082"/>
            <a:ext cx="273405" cy="496062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24587" y="2800350"/>
            <a:ext cx="273405" cy="637793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Bars chart  •  condition mix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182112" y="16276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73552" y="1700784"/>
            <a:ext cx="2788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Cost by Condition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00984" y="2020824"/>
            <a:ext cx="273405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3300984" y="237515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00984" y="272948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300984" y="3083814"/>
            <a:ext cx="273405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574389" y="2942082"/>
            <a:ext cx="273405" cy="49606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39179" y="2800350"/>
            <a:ext cx="273405" cy="637793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03968" y="2658618"/>
            <a:ext cx="273405" cy="779526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68758" y="2942082"/>
            <a:ext cx="273405" cy="496062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33547" y="2800350"/>
            <a:ext cx="273405" cy="637793"/>
          </a:xfrm>
          <a:prstGeom prst="rect">
            <a:avLst/>
          </a:prstGeom>
          <a:solidFill>
            <a:srgbClr val="EF6C3B"/>
          </a:solidFill>
          <a:ln>
            <a:solidFill>
              <a:srgbClr val="EF6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91840" y="3337560"/>
            <a:ext cx="275234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Bars chart  •  average / total cost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91072" y="1627632"/>
            <a:ext cx="3063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82512" y="1700784"/>
            <a:ext cx="28803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Satisfaction vs Cost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9944" y="2020824"/>
            <a:ext cx="2825496" cy="1417320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6409944" y="237515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409944" y="272948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09944" y="3083814"/>
            <a:ext cx="28254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6863669" y="2958084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259238" y="2745486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767827" y="2816351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191652" y="2462022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671986" y="2603753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0" y="3337560"/>
            <a:ext cx="284378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Scatter chart  •  patient segments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" y="3703320"/>
            <a:ext cx="425196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64592" y="3776472"/>
            <a:ext cx="40690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Outcome by Year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2024" y="4096511"/>
            <a:ext cx="401421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92024" y="4585716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92024" y="5074919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92024" y="5564123"/>
            <a:ext cx="401421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92734" y="4918374"/>
            <a:ext cx="521848" cy="547909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14582" y="4918374"/>
            <a:ext cx="561991" cy="352227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476573" y="4585716"/>
            <a:ext cx="561990" cy="684885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038563" y="4585716"/>
            <a:ext cx="561990" cy="450067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600553" y="4722693"/>
            <a:ext cx="602133" cy="313090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202686" y="4722693"/>
            <a:ext cx="682416" cy="391363"/>
          </a:xfrm>
          <a:prstGeom prst="line">
            <a:avLst/>
          </a:prstGeom>
          <a:ln w="31750">
            <a:solidFill>
              <a:srgbClr val="182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82880" y="5952744"/>
            <a:ext cx="40325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Line chart  •  recovered • stable • other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462272" y="3703320"/>
            <a:ext cx="4892040" cy="2459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53712" y="3776472"/>
            <a:ext cx="4709159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ptos"/>
              </a:rPr>
              <a:t>Insurance / Claim Status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81144" y="4096511"/>
            <a:ext cx="4654296" cy="1956815"/>
          </a:xfrm>
          <a:prstGeom prst="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4581144" y="4585716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581144" y="5074919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581144" y="5564123"/>
            <a:ext cx="4654296" cy="0"/>
          </a:xfrm>
          <a:prstGeom prst="line">
            <a:avLst/>
          </a:prstGeom>
          <a:ln w="8890">
            <a:solidFill>
              <a:srgbClr val="E1E4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070518" y="4331329"/>
            <a:ext cx="1213225" cy="1213225"/>
          </a:xfrm>
          <a:prstGeom prst="ellipse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82491" y="4546579"/>
            <a:ext cx="782726" cy="78272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96319" y="4918374"/>
            <a:ext cx="19548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Aptos"/>
              </a:rPr>
              <a:t>KPI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0" y="5952744"/>
            <a:ext cx="4672583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5F5F5F"/>
                </a:solidFill>
                <a:latin typeface="Aptos"/>
              </a:rPr>
              <a:t>Visual: Donut chart  •  claimed vs not claimed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7160" y="6556248"/>
            <a:ext cx="5486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5F5F5F"/>
                </a:solidFill>
                <a:latin typeface="Aptos"/>
              </a:rPr>
              <a:t>POWER BI WIREFRAME • STRUCTURE ONLY • VALUES/CHARTS TO BE CONNECTED TO DATA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84280" y="6556248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00" b="1">
                <a:solidFill>
                  <a:srgbClr val="5F5F5F"/>
                </a:solidFill>
                <a:latin typeface="Aptos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