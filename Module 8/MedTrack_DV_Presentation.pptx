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1737360"/>
            <a:ext cx="4754880" cy="4754880"/>
          </a:xfrm>
          <a:prstGeom prst="ellipse">
            <a:avLst/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4480560"/>
            <a:ext cx="3657600" cy="3657600"/>
          </a:xfrm>
          <a:prstGeom prst="ellipse">
            <a:avLst/>
          </a:prstGeom>
          <a:solidFill>
            <a:srgbClr val="071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37360" y="4846320"/>
            <a:ext cx="3657600" cy="3657600"/>
          </a:xfrm>
          <a:prstGeom prst="ellipse">
            <a:avLst/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88A2E"/>
                </a:solidFill>
                <a:latin typeface="Calibri" panose="020F0502020204030204"/>
              </a:rPr>
              <a:t>HOSPITAL OPERATIONS &amp; PATIENT ANALYTICS DASHBOARD</a:t>
            </a:r>
            <a:endParaRPr sz="120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090879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Georgia" panose="02040502050405020303"/>
              </a:rPr>
              <a:t>MedTrack_DV</a:t>
            </a:r>
            <a:endParaRPr sz="54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64327" y="2871216"/>
            <a:ext cx="1463040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090672"/>
            <a:ext cx="92628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50" b="0">
                <a:solidFill>
                  <a:srgbClr val="D9E4F2"/>
                </a:solidFill>
                <a:latin typeface="Calibri" panose="020F0502020204030204"/>
              </a:rPr>
              <a:t>An interactive Tableau dashboard suite that transforms hospital operational data into measurable, decision-ready insight</a:t>
            </a:r>
            <a:endParaRPr sz="15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3040" y="4041648"/>
            <a:ext cx="9262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9,216 Patient Records   ·   41 Analytical Fields   ·   12 Operational KPIs   ·   4 Integrated Dashboards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98648" y="4709160"/>
            <a:ext cx="6400800" cy="1170432"/>
          </a:xfrm>
          <a:prstGeom prst="roundRect">
            <a:avLst>
              <a:gd name="adj" fmla="val 10000"/>
            </a:avLst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8648" y="4709160"/>
            <a:ext cx="64008" cy="1170432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72968" y="4901184"/>
            <a:ext cx="585216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Georgia" panose="02040502050405020303"/>
              </a:rPr>
              <a:t>Presented by  </a:t>
            </a:r>
            <a:r>
              <a:rPr lang="en-US" sz="1450" b="1">
                <a:solidFill>
                  <a:srgbClr val="FFFFFF"/>
                </a:solidFill>
                <a:latin typeface="Georgia" panose="02040502050405020303"/>
              </a:rPr>
              <a:t>Abinaya Vijay</a:t>
            </a:r>
            <a:endParaRPr lang="en-US" sz="145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2968" y="5285232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B88A2E"/>
                </a:solidFill>
                <a:latin typeface="Calibri" panose="020F0502020204030204"/>
              </a:rPr>
              <a:t>Under the Guidance of Our Mentor —  Pathina Likhita</a:t>
            </a:r>
            <a:endParaRPr sz="125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D9E4F2"/>
                </a:solidFill>
                <a:latin typeface="Calibri" panose="020F0502020204030204"/>
              </a:rPr>
              <a:t>Infosys Internship Program  ·  Group 2 Final Review</a:t>
            </a:r>
            <a:endParaRPr sz="950" b="0">
              <a:solidFill>
                <a:srgbClr val="D9E4F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88A2E"/>
                </a:solidFill>
                <a:latin typeface="Calibri" panose="020F0502020204030204"/>
              </a:rPr>
              <a:t>ROADMAP</a:t>
            </a:r>
            <a:endParaRPr sz="100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Agenda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Structure of today's presentation</a:t>
            </a:r>
            <a:endParaRPr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B88A2E"/>
                </a:solidFill>
                <a:latin typeface="Georgia" panose="02040502050405020303"/>
              </a:rPr>
              <a:t>MedTrack_DV</a:t>
            </a:r>
            <a:endParaRPr sz="14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95560" y="6766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D9E4F2"/>
                </a:solidFill>
                <a:latin typeface="Calibri" panose="020F0502020204030204"/>
              </a:rPr>
              <a:t>Hospital Operations &amp; Patient Analytics</a:t>
            </a:r>
            <a:endParaRPr sz="7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36118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" y="1837943"/>
            <a:ext cx="530352" cy="53035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947672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Georgia" panose="02040502050405020303"/>
              </a:rPr>
              <a:t>1</a:t>
            </a:r>
            <a:endParaRPr sz="1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99032" y="1856232"/>
            <a:ext cx="2532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Problem Statement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99032" y="2221992"/>
            <a:ext cx="2532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Why hospital operations analytics matters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3172968"/>
            <a:ext cx="36118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" y="3410711"/>
            <a:ext cx="530352" cy="53035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520439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Georgia" panose="02040502050405020303"/>
              </a:rPr>
              <a:t>2</a:t>
            </a:r>
            <a:endParaRPr sz="1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99032" y="3429000"/>
            <a:ext cx="2532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Proposed Solution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99032" y="3794759"/>
            <a:ext cx="2532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The MedTrack_DV dashboard suite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4745736"/>
            <a:ext cx="36118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" y="4983479"/>
            <a:ext cx="530352" cy="53035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093207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Georgia" panose="02040502050405020303"/>
              </a:rPr>
              <a:t>3</a:t>
            </a:r>
            <a:endParaRPr sz="1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99032" y="5001768"/>
            <a:ext cx="2532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Methodology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99032" y="5367527"/>
            <a:ext cx="2532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Nine-stage end-to-end workflow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325112" y="1600200"/>
            <a:ext cx="36118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79" y="1837943"/>
            <a:ext cx="530352" cy="53035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79" y="1947672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Georgia" panose="02040502050405020303"/>
              </a:rPr>
              <a:t>4</a:t>
            </a:r>
            <a:endParaRPr sz="1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21223" y="1856232"/>
            <a:ext cx="2532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Tech Stack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21223" y="2221992"/>
            <a:ext cx="2532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Tools and technologies used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25112" y="3172968"/>
            <a:ext cx="36118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26279" y="3410711"/>
            <a:ext cx="530352" cy="53035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79" y="3520439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Georgia" panose="02040502050405020303"/>
              </a:rPr>
              <a:t>5</a:t>
            </a:r>
            <a:endParaRPr sz="1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21223" y="3429000"/>
            <a:ext cx="2532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Dataset &amp; KPIs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221223" y="3794759"/>
            <a:ext cx="2532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9,216 records engineered into 12 KPIs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325112" y="4745736"/>
            <a:ext cx="36118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26279" y="4983479"/>
            <a:ext cx="530352" cy="53035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79" y="5093207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Georgia" panose="02040502050405020303"/>
              </a:rPr>
              <a:t>6</a:t>
            </a:r>
            <a:endParaRPr sz="1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21223" y="5001768"/>
            <a:ext cx="2532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Results — Dashboard Walkthrough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221223" y="5367527"/>
            <a:ext cx="2532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Four integrated Tableau dashboards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147304" y="1600200"/>
            <a:ext cx="36118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48472" y="1837943"/>
            <a:ext cx="530352" cy="53035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48472" y="1947672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Georgia" panose="02040502050405020303"/>
              </a:rPr>
              <a:t>7</a:t>
            </a:r>
            <a:endParaRPr sz="1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043416" y="1856232"/>
            <a:ext cx="2532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Key Insights &amp; Impact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043416" y="2221992"/>
            <a:ext cx="2532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What the data tells us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147304" y="3172968"/>
            <a:ext cx="361188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48472" y="3410711"/>
            <a:ext cx="530352" cy="53035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48472" y="3520439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Georgia" panose="02040502050405020303"/>
              </a:rPr>
              <a:t>8</a:t>
            </a:r>
            <a:endParaRPr sz="1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043416" y="3429000"/>
            <a:ext cx="2532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Future Scope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043416" y="3794759"/>
            <a:ext cx="2532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Where the project goes next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6B85"/>
                </a:solidFill>
                <a:latin typeface="Calibri" panose="020F0502020204030204"/>
              </a:rPr>
              <a:t>MedTrack_DV — Hospital Operations &amp; Patient Analytics Dashboard  •  Group 2</a:t>
            </a:r>
            <a:endParaRPr sz="8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29284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B85"/>
                </a:solidFill>
                <a:latin typeface="Calibri" panose="020F0502020204030204"/>
              </a:rPr>
              <a:t>2</a:t>
            </a:r>
            <a:endParaRPr sz="900" b="1">
              <a:solidFill>
                <a:srgbClr val="5A6B8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88A2E"/>
                </a:solidFill>
                <a:latin typeface="Calibri" panose="020F0502020204030204"/>
              </a:rPr>
              <a:t>THE CHALLENGE</a:t>
            </a:r>
            <a:endParaRPr sz="100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Problem Statement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Hospitals are data-rich but insight-poor</a:t>
            </a:r>
            <a:endParaRPr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B88A2E"/>
                </a:solidFill>
                <a:latin typeface="Georgia" panose="02040502050405020303"/>
              </a:rPr>
              <a:t>MedTrack_DV</a:t>
            </a:r>
            <a:endParaRPr sz="14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95560" y="6766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D9E4F2"/>
                </a:solidFill>
                <a:latin typeface="Calibri" panose="020F0502020204030204"/>
              </a:rPr>
              <a:t>Hospital Operations &amp; Patient Analytics</a:t>
            </a:r>
            <a:endParaRPr sz="7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5394960" cy="4224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72768"/>
            <a:ext cx="82296" cy="4224528"/>
          </a:xfrm>
          <a:prstGeom prst="rect">
            <a:avLst/>
          </a:prstGeom>
          <a:solidFill>
            <a:srgbClr val="9E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79222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A2A5E"/>
                </a:solidFill>
                <a:latin typeface="Georgia" panose="02040502050405020303"/>
              </a:rPr>
              <a:t>Context &amp; Challenge</a:t>
            </a:r>
            <a:endParaRPr sz="15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2249424"/>
            <a:ext cx="4800600" cy="342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A2233"/>
                </a:solidFill>
                <a:latin typeface="Calibri" panose="020F0502020204030204"/>
              </a:rPr>
              <a:t>Healthcare organizations generate large volumes of patient and operational data every day — yet this data sits scattered across admission logs, department registers and bed-management sheets.</a:t>
            </a:r>
            <a:endParaRPr sz="1200" b="0">
              <a:solidFill>
                <a:srgbClr val="1A2233"/>
              </a:solidFill>
              <a:latin typeface="Calibri" panose="020F050202020403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A2233"/>
                </a:solidFill>
                <a:latin typeface="Calibri" panose="020F0502020204030204"/>
              </a:rPr>
              <a:t>Without an integrated analytical solution, administrators lack the evidence to answer basic operational questions:</a:t>
            </a:r>
            <a:endParaRPr sz="1200" b="0">
              <a:solidFill>
                <a:srgbClr val="1A2233"/>
              </a:solidFill>
              <a:latin typeface="Calibri" panose="020F050202020403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0A2A5E"/>
                </a:solidFill>
                <a:latin typeface="Calibri" panose="020F0502020204030204"/>
              </a:rPr>
              <a:t>How long do patients actually wait?</a:t>
            </a:r>
            <a:endParaRPr sz="1200" b="1">
              <a:solidFill>
                <a:srgbClr val="0A2A5E"/>
              </a:solidFill>
              <a:latin typeface="Calibri" panose="020F050202020403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0A2A5E"/>
                </a:solidFill>
                <a:latin typeface="Calibri" panose="020F0502020204030204"/>
              </a:rPr>
              <a:t>Which departments are overloaded?</a:t>
            </a:r>
            <a:endParaRPr sz="1200" b="1">
              <a:solidFill>
                <a:srgbClr val="0A2A5E"/>
              </a:solidFill>
              <a:latin typeface="Calibri" panose="020F050202020403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0A2A5E"/>
                </a:solidFill>
                <a:latin typeface="Calibri" panose="020F0502020204030204"/>
              </a:rPr>
              <a:t>Are beds being utilized efficiently?</a:t>
            </a:r>
            <a:endParaRPr sz="1200" b="1">
              <a:solidFill>
                <a:srgbClr val="0A2A5E"/>
              </a:solidFill>
              <a:latin typeface="Calibri" panose="020F050202020403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0A2A5E"/>
                </a:solidFill>
                <a:latin typeface="Calibri" panose="020F0502020204030204"/>
              </a:rPr>
              <a:t>Where do readmissions originate?</a:t>
            </a:r>
            <a:endParaRPr sz="12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2200" y="1572768"/>
            <a:ext cx="2697480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572768"/>
            <a:ext cx="2697480" cy="68580"/>
          </a:xfrm>
          <a:prstGeom prst="rect">
            <a:avLst/>
          </a:prstGeom>
          <a:solidFill>
            <a:srgbClr val="9E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8105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Fragmented Data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91656" y="2249424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80" b="0">
                <a:solidFill>
                  <a:srgbClr val="5A6B85"/>
                </a:solidFill>
                <a:latin typeface="Calibri" panose="020F0502020204030204"/>
              </a:rPr>
              <a:t>Admissions, discharges, beds and outcomes live in disconnected sources with no single operational view</a:t>
            </a:r>
            <a:endParaRPr sz="98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25128" y="1572768"/>
            <a:ext cx="2697480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5128" y="1572768"/>
            <a:ext cx="2697480" cy="6858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584" y="18105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No Real-Time Visibility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44584" y="2249424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80" b="0">
                <a:solidFill>
                  <a:srgbClr val="5A6B85"/>
                </a:solidFill>
                <a:latin typeface="Calibri" panose="020F0502020204030204"/>
              </a:rPr>
              <a:t>Occupancy and patient flow are reviewed manually — often too late to act upon</a:t>
            </a:r>
            <a:endParaRPr sz="98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72200" y="3767328"/>
            <a:ext cx="2697480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767328"/>
            <a:ext cx="2697480" cy="68580"/>
          </a:xfrm>
          <a:prstGeom prst="rect">
            <a:avLst/>
          </a:prstGeom>
          <a:solidFill>
            <a:srgbClr val="1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400507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Unmanaged Waiting Times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91656" y="4443984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80" b="0">
                <a:solidFill>
                  <a:srgbClr val="5A6B85"/>
                </a:solidFill>
                <a:latin typeface="Calibri" panose="020F0502020204030204"/>
              </a:rPr>
              <a:t>29.8% of patients wait over 45 minutes with no systematic tracking of bottlenecks</a:t>
            </a:r>
            <a:endParaRPr sz="98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25128" y="3767328"/>
            <a:ext cx="2697480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25128" y="3767328"/>
            <a:ext cx="2697480" cy="68580"/>
          </a:xfrm>
          <a:prstGeom prst="rect">
            <a:avLst/>
          </a:prstGeom>
          <a:solidFill>
            <a:srgbClr val="5E5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4" y="400507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Unmeasured Performance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44584" y="4443984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80" b="0">
                <a:solidFill>
                  <a:srgbClr val="5A6B85"/>
                </a:solidFill>
                <a:latin typeface="Calibri" panose="020F0502020204030204"/>
              </a:rPr>
              <a:t>Departments cannot be compared on efficiency, LOS or readmissions — so little improves</a:t>
            </a:r>
            <a:endParaRPr sz="98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5943600"/>
            <a:ext cx="11201400" cy="493776"/>
          </a:xfrm>
          <a:prstGeom prst="rect">
            <a:avLst/>
          </a:prstGeom>
          <a:solidFill>
            <a:srgbClr val="D9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943600"/>
            <a:ext cx="64008" cy="4937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0121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A2A5E"/>
                </a:solidFill>
                <a:latin typeface="Georgia" panose="02040502050405020303"/>
              </a:rPr>
              <a:t>OBJECTIVE</a:t>
            </a:r>
            <a:endParaRPr sz="10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514600" y="5998464"/>
            <a:ext cx="90525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80" b="0">
                <a:solidFill>
                  <a:srgbClr val="1A2233"/>
                </a:solidFill>
                <a:latin typeface="Calibri" panose="020F0502020204030204"/>
              </a:rPr>
              <a:t>Design and implement an integrated Tableau dashboard suite that consolidates fragmented hospital data into twelve measurable KPIs — enabling administrators to monitor patient flow, evaluate departmental performance and optimize resource utilization with confidence.</a:t>
            </a:r>
            <a:endParaRPr sz="980" b="0">
              <a:solidFill>
                <a:srgbClr val="1A2233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6B85"/>
                </a:solidFill>
                <a:latin typeface="Calibri" panose="020F0502020204030204"/>
              </a:rPr>
              <a:t>MedTrack_DV — Hospital Operations &amp; Patient Analytics Dashboard  •  Group 2</a:t>
            </a:r>
            <a:endParaRPr sz="8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9284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B85"/>
                </a:solidFill>
                <a:latin typeface="Calibri" panose="020F0502020204030204"/>
              </a:rPr>
              <a:t>3</a:t>
            </a:r>
            <a:endParaRPr sz="900" b="1">
              <a:solidFill>
                <a:srgbClr val="5A6B8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88A2E"/>
                </a:solidFill>
                <a:latin typeface="Calibri" panose="020F0502020204030204"/>
              </a:rPr>
              <a:t>MEDTRACK_DV</a:t>
            </a:r>
            <a:endParaRPr sz="100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Proposed Solution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One unified Tableau workbook — four interconnected dashboards</a:t>
            </a:r>
            <a:endParaRPr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B88A2E"/>
                </a:solidFill>
                <a:latin typeface="Georgia" panose="02040502050405020303"/>
              </a:rPr>
              <a:t>MedTrack_DV</a:t>
            </a:r>
            <a:endParaRPr sz="14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95560" y="6766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D9E4F2"/>
                </a:solidFill>
                <a:latin typeface="Calibri" panose="020F0502020204030204"/>
              </a:rPr>
              <a:t>Hospital Operations &amp; Patient Analytics</a:t>
            </a:r>
            <a:endParaRPr sz="7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931920" cy="4160520"/>
          </a:xfrm>
          <a:prstGeom prst="roundRect">
            <a:avLst>
              <a:gd name="adj" fmla="val 7000"/>
            </a:avLst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931920" cy="457200"/>
          </a:xfrm>
          <a:prstGeom prst="rect">
            <a:avLst/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1907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D9E4F2"/>
                </a:solidFill>
                <a:latin typeface="Calibri" panose="020F0502020204030204"/>
              </a:rPr>
              <a:t>MedTrack_DV.twb</a:t>
            </a:r>
            <a:endParaRPr sz="1150" b="1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9808" y="2286000"/>
            <a:ext cx="3438144" cy="768096"/>
          </a:xfrm>
          <a:prstGeom prst="roundRect">
            <a:avLst>
              <a:gd name="adj" fmla="val 14000"/>
            </a:avLst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2286000"/>
            <a:ext cx="54864" cy="768096"/>
          </a:xfrm>
          <a:prstGeom prst="rect">
            <a:avLst/>
          </a:prstGeom>
          <a:solidFill>
            <a:srgbClr val="1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36829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88A2E"/>
                </a:solidFill>
                <a:latin typeface="Georgia" panose="02040502050405020303"/>
              </a:rPr>
              <a:t>1</a:t>
            </a:r>
            <a:endParaRPr sz="13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98448" y="23774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 panose="020F0502020204030204"/>
              </a:rPr>
              <a:t>Hospital Overview</a:t>
            </a:r>
            <a:endParaRPr sz="11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26791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80" b="0">
                <a:solidFill>
                  <a:srgbClr val="D9E4F2"/>
                </a:solidFill>
                <a:latin typeface="Calibri" panose="020F0502020204030204"/>
              </a:rPr>
              <a:t>5 KPI cards · 6 charts — admissions, occupancy, readmission, department &amp; age mix, LOS</a:t>
            </a:r>
            <a:endParaRPr sz="78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172968"/>
            <a:ext cx="3438144" cy="768096"/>
          </a:xfrm>
          <a:prstGeom prst="roundRect">
            <a:avLst>
              <a:gd name="adj" fmla="val 14000"/>
            </a:avLst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3172968"/>
            <a:ext cx="54864" cy="7680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55263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88A2E"/>
                </a:solidFill>
                <a:latin typeface="Georgia" panose="02040502050405020303"/>
              </a:rPr>
              <a:t>2</a:t>
            </a:r>
            <a:endParaRPr sz="13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98448" y="32644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 panose="020F0502020204030204"/>
              </a:rPr>
              <a:t>Patient Flow</a:t>
            </a:r>
            <a:endParaRPr sz="11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35661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80" b="0">
                <a:solidFill>
                  <a:srgbClr val="D9E4F2"/>
                </a:solidFill>
                <a:latin typeface="Calibri" panose="020F0502020204030204"/>
              </a:rPr>
              <a:t>4 KPI cards · 6 charts — admissions trend, status, LOS by department, flow by hour, shifts</a:t>
            </a:r>
            <a:endParaRPr sz="78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9808" y="4059935"/>
            <a:ext cx="3438144" cy="768096"/>
          </a:xfrm>
          <a:prstGeom prst="roundRect">
            <a:avLst>
              <a:gd name="adj" fmla="val 14000"/>
            </a:avLst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4059935"/>
            <a:ext cx="54864" cy="76809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142231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88A2E"/>
                </a:solidFill>
                <a:latin typeface="Georgia" panose="02040502050405020303"/>
              </a:rPr>
              <a:t>3</a:t>
            </a:r>
            <a:endParaRPr sz="13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98448" y="4151375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 panose="020F0502020204030204"/>
              </a:rPr>
              <a:t>Department Analytics</a:t>
            </a:r>
            <a:endParaRPr sz="11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" y="4453127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80" b="0">
                <a:solidFill>
                  <a:srgbClr val="D9E4F2"/>
                </a:solidFill>
                <a:latin typeface="Calibri" panose="020F0502020204030204"/>
              </a:rPr>
              <a:t>5 KPI cards · 6 charts — admissions, wait time, readmission, performance &amp; efficiency by department</a:t>
            </a:r>
            <a:endParaRPr sz="78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49808" y="4946904"/>
            <a:ext cx="3438144" cy="768096"/>
          </a:xfrm>
          <a:prstGeom prst="roundRect">
            <a:avLst>
              <a:gd name="adj" fmla="val 14000"/>
            </a:avLst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" y="4946904"/>
            <a:ext cx="54864" cy="768096"/>
          </a:xfrm>
          <a:prstGeom prst="rect">
            <a:avLst/>
          </a:prstGeom>
          <a:solidFill>
            <a:srgbClr val="9E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0292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88A2E"/>
                </a:solidFill>
                <a:latin typeface="Georgia" panose="02040502050405020303"/>
              </a:rPr>
              <a:t>4</a:t>
            </a:r>
            <a:endParaRPr sz="13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98448" y="50383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 panose="020F0502020204030204"/>
              </a:rPr>
              <a:t>Resource Utilization</a:t>
            </a:r>
            <a:endParaRPr sz="11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0120" y="534009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80" b="0">
                <a:solidFill>
                  <a:srgbClr val="D9E4F2"/>
                </a:solidFill>
                <a:latin typeface="Calibri" panose="020F0502020204030204"/>
              </a:rPr>
              <a:t>5 KPI cards · 6 charts — bed occupancy, patient volume, utilization trend &amp; capacity</a:t>
            </a:r>
            <a:endParaRPr sz="78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709160" y="1627632"/>
            <a:ext cx="699516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09160" y="1737360"/>
            <a:ext cx="54864" cy="7406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1746504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34 Worksheets · 4 Dashboards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83480" y="2066543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A6B85"/>
                </a:solidFill>
                <a:latin typeface="Calibri" panose="020F0502020204030204"/>
              </a:rPr>
              <a:t>Every dashboard built worksheet-by-worksheet in one MedTrack_DV workbook — KPI cards, trends and comparisons on a single screen</a:t>
            </a:r>
            <a:endParaRPr sz="100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709160" y="2706624"/>
            <a:ext cx="699516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09160" y="2816352"/>
            <a:ext cx="54864" cy="740664"/>
          </a:xfrm>
          <a:prstGeom prst="rect">
            <a:avLst/>
          </a:prstGeom>
          <a:solidFill>
            <a:srgbClr val="1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2825496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21 Interactive Filter Cards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83480" y="3145536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A6B85"/>
                </a:solidFill>
                <a:latin typeface="Calibri" panose="020F0502020204030204"/>
              </a:rPr>
              <a:t>Admission month, day, shift, status, department, gender, race and age group — each filter updates every chart on its dashboard</a:t>
            </a:r>
            <a:endParaRPr sz="100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709160" y="3785615"/>
            <a:ext cx="699516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09160" y="3895344"/>
            <a:ext cx="54864" cy="740664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80" y="3904487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Cross-Dashboard Navigation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983480" y="4224527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A6B85"/>
                </a:solidFill>
                <a:latin typeface="Calibri" panose="020F0502020204030204"/>
              </a:rPr>
              <a:t>One-click movement between the four views — Overview to Flow to Departments to Resources</a:t>
            </a:r>
            <a:endParaRPr sz="100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709160" y="4864608"/>
            <a:ext cx="699516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09160" y="4974336"/>
            <a:ext cx="54864" cy="740664"/>
          </a:xfrm>
          <a:prstGeom prst="rect">
            <a:avLst/>
          </a:prstGeom>
          <a:solidFill>
            <a:srgbClr val="9E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3480" y="4983480"/>
            <a:ext cx="6492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Consistent KPI Logic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983480" y="5303520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5A6B85"/>
                </a:solidFill>
                <a:latin typeface="Calibri" panose="020F0502020204030204"/>
              </a:rPr>
              <a:t>12 operational KPIs computed from the same enriched dataset — overview cards, department bars and utilization charts always agree</a:t>
            </a:r>
            <a:endParaRPr sz="100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02920" y="5943600"/>
            <a:ext cx="11201400" cy="493776"/>
          </a:xfrm>
          <a:prstGeom prst="rect">
            <a:avLst/>
          </a:prstGeom>
          <a:solidFill>
            <a:srgbClr val="D9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5943600"/>
            <a:ext cx="64008" cy="4937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60121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A2A5E"/>
                </a:solidFill>
                <a:latin typeface="Georgia" panose="02040502050405020303"/>
              </a:rPr>
              <a:t>OUTCOME</a:t>
            </a:r>
            <a:endParaRPr sz="10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514600" y="5998464"/>
            <a:ext cx="90525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80" b="0">
                <a:solidFill>
                  <a:srgbClr val="1A2233"/>
                </a:solidFill>
                <a:latin typeface="Calibri" panose="020F0502020204030204"/>
              </a:rPr>
              <a:t>A single, trusted source of operational truth — supporting faster triage decisions, balanced departmental workloads and evidence-based capacity planning for administrators and policymakers.</a:t>
            </a:r>
            <a:endParaRPr sz="980" b="0">
              <a:solidFill>
                <a:srgbClr val="1A2233"/>
              </a:solidFill>
              <a:latin typeface="Calibri" panose="020F050202020403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6B85"/>
                </a:solidFill>
                <a:latin typeface="Calibri" panose="020F0502020204030204"/>
              </a:rPr>
              <a:t>MedTrack_DV — Hospital Operations &amp; Patient Analytics Dashboard  •  Group 2</a:t>
            </a:r>
            <a:endParaRPr sz="8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29284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B85"/>
                </a:solidFill>
                <a:latin typeface="Calibri" panose="020F0502020204030204"/>
              </a:rPr>
              <a:t>4</a:t>
            </a:r>
            <a:endParaRPr sz="900" b="1">
              <a:solidFill>
                <a:srgbClr val="5A6B8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88A2E"/>
                </a:solidFill>
                <a:latin typeface="Calibri" panose="020F0502020204030204"/>
              </a:rPr>
              <a:t>HOW WE BUILT IT</a:t>
            </a:r>
            <a:endParaRPr sz="100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Methodology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Nine-stage end-to-end analytics workflow</a:t>
            </a:r>
            <a:endParaRPr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B88A2E"/>
                </a:solidFill>
                <a:latin typeface="Georgia" panose="02040502050405020303"/>
              </a:rPr>
              <a:t>MedTrack_DV</a:t>
            </a:r>
            <a:endParaRPr sz="14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95560" y="6766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D9E4F2"/>
                </a:solidFill>
                <a:latin typeface="Calibri" panose="020F0502020204030204"/>
              </a:rPr>
              <a:t>Hospital Operations &amp; Patient Analytics</a:t>
            </a:r>
            <a:endParaRPr sz="7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36118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82495"/>
            <a:ext cx="54864" cy="1078992"/>
          </a:xfrm>
          <a:prstGeom prst="rect">
            <a:avLst/>
          </a:prstGeom>
          <a:solidFill>
            <a:srgbClr val="1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719072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F5AA8"/>
                </a:solidFill>
                <a:latin typeface="Georgia" panose="02040502050405020303"/>
              </a:rPr>
              <a:t>01</a:t>
            </a:r>
            <a:endParaRPr sz="1800" b="1">
              <a:solidFill>
                <a:srgbClr val="1F5AA8"/>
              </a:solidFill>
              <a:latin typeface="Georgia" panose="0204050205040502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175564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Data Collection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3040" y="2139696"/>
            <a:ext cx="2542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5A6B85"/>
                </a:solidFill>
                <a:latin typeface="Calibri" panose="020F0502020204030204"/>
              </a:rPr>
              <a:t>Hospital &amp; patient admission datasets integrated</a:t>
            </a:r>
            <a:endParaRPr sz="93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25112" y="1572768"/>
            <a:ext cx="36118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1682495"/>
            <a:ext cx="54864" cy="107899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5" y="1719072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2E7D5B"/>
                </a:solidFill>
                <a:latin typeface="Georgia" panose="02040502050405020303"/>
              </a:rPr>
              <a:t>02</a:t>
            </a:r>
            <a:endParaRPr sz="1800" b="1">
              <a:solidFill>
                <a:srgbClr val="2E7D5B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85231" y="175564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Data Cleaning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85231" y="2139696"/>
            <a:ext cx="2542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5A6B85"/>
                </a:solidFill>
                <a:latin typeface="Calibri" panose="020F0502020204030204"/>
              </a:rPr>
              <a:t>Duplicates removed, missing data handled</a:t>
            </a:r>
            <a:endParaRPr sz="93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147304" y="1572768"/>
            <a:ext cx="36118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7304" y="1682495"/>
            <a:ext cx="54864" cy="1078992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1719072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B88A2E"/>
                </a:solidFill>
                <a:latin typeface="Georgia" panose="02040502050405020303"/>
              </a:rPr>
              <a:t>03</a:t>
            </a:r>
            <a:endParaRPr sz="18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07424" y="175564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Transformation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07424" y="2139696"/>
            <a:ext cx="2542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5A6B85"/>
                </a:solidFill>
                <a:latin typeface="Calibri" panose="020F0502020204030204"/>
              </a:rPr>
              <a:t>Departments standardized, indicators normalized</a:t>
            </a:r>
            <a:endParaRPr sz="93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3035808"/>
            <a:ext cx="36118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145536"/>
            <a:ext cx="54864" cy="1078992"/>
          </a:xfrm>
          <a:prstGeom prst="rect">
            <a:avLst/>
          </a:prstGeom>
          <a:solidFill>
            <a:srgbClr val="9E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3182112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9E4A3A"/>
                </a:solidFill>
                <a:latin typeface="Georgia" panose="02040502050405020303"/>
              </a:rPr>
              <a:t>04</a:t>
            </a:r>
            <a:endParaRPr sz="1800" b="1">
              <a:solidFill>
                <a:srgbClr val="9E4A3A"/>
              </a:solidFill>
              <a:latin typeface="Georgia" panose="020405020504050203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63040" y="321868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KPI Engineering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63040" y="3602736"/>
            <a:ext cx="2542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5A6B85"/>
                </a:solidFill>
                <a:latin typeface="Calibri" panose="020F0502020204030204"/>
              </a:rPr>
              <a:t>12 operational KPIs engineered into the dataset</a:t>
            </a:r>
            <a:endParaRPr sz="93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25112" y="3035808"/>
            <a:ext cx="36118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25112" y="3145536"/>
            <a:ext cx="54864" cy="1078992"/>
          </a:xfrm>
          <a:prstGeom prst="rect">
            <a:avLst/>
          </a:prstGeom>
          <a:solidFill>
            <a:srgbClr val="5E5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62855" y="3182112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5E548E"/>
                </a:solidFill>
                <a:latin typeface="Georgia" panose="02040502050405020303"/>
              </a:rPr>
              <a:t>05</a:t>
            </a:r>
            <a:endParaRPr sz="1800" b="1">
              <a:solidFill>
                <a:srgbClr val="5E548E"/>
              </a:solidFill>
              <a:latin typeface="Georgia" panose="020405020504050203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85231" y="321868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Tableau Preparation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285231" y="3602736"/>
            <a:ext cx="2542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5A6B85"/>
                </a:solidFill>
                <a:latin typeface="Calibri" panose="020F0502020204030204"/>
              </a:rPr>
              <a:t>Tableau-ready analytical dataset</a:t>
            </a:r>
            <a:endParaRPr sz="93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147304" y="3035808"/>
            <a:ext cx="36118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47304" y="3145536"/>
            <a:ext cx="54864" cy="1078992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8" y="3182112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3E7CB1"/>
                </a:solidFill>
                <a:latin typeface="Georgia" panose="02040502050405020303"/>
              </a:rPr>
              <a:t>06</a:t>
            </a:r>
            <a:endParaRPr sz="1800" b="1">
              <a:solidFill>
                <a:srgbClr val="3E7CB1"/>
              </a:solidFill>
              <a:latin typeface="Georgia" panose="020405020504050203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07424" y="321868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Dashboard Development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07424" y="3602736"/>
            <a:ext cx="2542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5A6B85"/>
                </a:solidFill>
                <a:latin typeface="Calibri" panose="020F0502020204030204"/>
              </a:rPr>
              <a:t>4 dashboards built worksheet by worksheet</a:t>
            </a:r>
            <a:endParaRPr sz="93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02920" y="4498848"/>
            <a:ext cx="36118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4608576"/>
            <a:ext cx="54864" cy="107899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" y="4645152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2E7D5B"/>
                </a:solidFill>
                <a:latin typeface="Georgia" panose="02040502050405020303"/>
              </a:rPr>
              <a:t>07</a:t>
            </a:r>
            <a:endParaRPr sz="1800" b="1">
              <a:solidFill>
                <a:srgbClr val="2E7D5B"/>
              </a:solidFill>
              <a:latin typeface="Georgia" panose="02040502050405020303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63040" y="468172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Integration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463040" y="5065776"/>
            <a:ext cx="2542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5A6B85"/>
                </a:solidFill>
                <a:latin typeface="Calibri" panose="020F0502020204030204"/>
              </a:rPr>
              <a:t>Global filters, navigation &amp; parameter actions</a:t>
            </a:r>
            <a:endParaRPr sz="93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325112" y="4498848"/>
            <a:ext cx="36118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25112" y="4608576"/>
            <a:ext cx="54864" cy="1078992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62855" y="4645152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B88A2E"/>
                </a:solidFill>
                <a:latin typeface="Georgia" panose="02040502050405020303"/>
              </a:rPr>
              <a:t>08</a:t>
            </a:r>
            <a:endParaRPr sz="18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85231" y="468172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Testing &amp; Validation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285231" y="5065776"/>
            <a:ext cx="2542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5A6B85"/>
                </a:solidFill>
                <a:latin typeface="Calibri" panose="020F0502020204030204"/>
              </a:rPr>
              <a:t>KPI accuracy &gt; 95%, interactions QA'd</a:t>
            </a:r>
            <a:endParaRPr sz="93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147304" y="4498848"/>
            <a:ext cx="36118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47304" y="4608576"/>
            <a:ext cx="54864" cy="1078992"/>
          </a:xfrm>
          <a:prstGeom prst="rect">
            <a:avLst/>
          </a:prstGeom>
          <a:solidFill>
            <a:srgbClr val="9E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85048" y="4645152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9E4A3A"/>
                </a:solidFill>
                <a:latin typeface="Georgia" panose="02040502050405020303"/>
              </a:rPr>
              <a:t>09</a:t>
            </a:r>
            <a:endParaRPr sz="1800" b="1">
              <a:solidFill>
                <a:srgbClr val="9E4A3A"/>
              </a:solidFill>
              <a:latin typeface="Georgia" panose="02040502050405020303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107424" y="468172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2A5E"/>
                </a:solidFill>
                <a:latin typeface="Georgia" panose="02040502050405020303"/>
              </a:rPr>
              <a:t>Documentation</a:t>
            </a:r>
            <a:endParaRPr sz="125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07424" y="5065776"/>
            <a:ext cx="25420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5A6B85"/>
                </a:solidFill>
                <a:latin typeface="Calibri" panose="020F0502020204030204"/>
              </a:rPr>
              <a:t>Full delivery package &amp; repository</a:t>
            </a:r>
            <a:endParaRPr sz="93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169663" y="2084831"/>
            <a:ext cx="256032" cy="36576"/>
          </a:xfrm>
          <a:prstGeom prst="rect">
            <a:avLst/>
          </a:prstGeom>
          <a:solidFill>
            <a:srgbClr val="5A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69663" y="3547872"/>
            <a:ext cx="256032" cy="36576"/>
          </a:xfrm>
          <a:prstGeom prst="rect">
            <a:avLst/>
          </a:prstGeom>
          <a:solidFill>
            <a:srgbClr val="5A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69663" y="5010912"/>
            <a:ext cx="256032" cy="36576"/>
          </a:xfrm>
          <a:prstGeom prst="rect">
            <a:avLst/>
          </a:prstGeom>
          <a:solidFill>
            <a:srgbClr val="5A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" y="5961888"/>
            <a:ext cx="11201400" cy="4572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60624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 panose="020F0502020204030204"/>
              </a:rPr>
              <a:t>M1 · Data (W1–2)</a:t>
            </a:r>
            <a:endParaRPr sz="10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611879" y="60624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 panose="020F0502020204030204"/>
              </a:rPr>
              <a:t>M2 · KPIs (W3–4)</a:t>
            </a:r>
            <a:endParaRPr sz="10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00800" y="60624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 panose="020F0502020204030204"/>
              </a:rPr>
              <a:t>M3 · Dashboards (W5–6)</a:t>
            </a:r>
            <a:endParaRPr sz="10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189719" y="60624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 panose="020F0502020204030204"/>
              </a:rPr>
              <a:t>M4 · Delivery (W7–8)</a:t>
            </a:r>
            <a:endParaRPr sz="10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6B85"/>
                </a:solidFill>
                <a:latin typeface="Calibri" panose="020F0502020204030204"/>
              </a:rPr>
              <a:t>MedTrack_DV — Hospital Operations &amp; Patient Analytics Dashboard  •  Group 2</a:t>
            </a:r>
            <a:endParaRPr sz="8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29284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B85"/>
                </a:solidFill>
                <a:latin typeface="Calibri" panose="020F0502020204030204"/>
              </a:rPr>
              <a:t>5</a:t>
            </a:r>
            <a:endParaRPr sz="900" b="1">
              <a:solidFill>
                <a:srgbClr val="5A6B8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88A2E"/>
                </a:solidFill>
                <a:latin typeface="Calibri" panose="020F0502020204030204"/>
              </a:rPr>
              <a:t>TECH STACK</a:t>
            </a:r>
            <a:endParaRPr sz="100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Technology Stack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The tools behind MedTrack_DV</a:t>
            </a:r>
            <a:endParaRPr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B88A2E"/>
                </a:solidFill>
                <a:latin typeface="Georgia" panose="02040502050405020303"/>
              </a:rPr>
              <a:t>MedTrack_DV</a:t>
            </a:r>
            <a:endParaRPr sz="14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95560" y="6766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D9E4F2"/>
                </a:solidFill>
                <a:latin typeface="Calibri" panose="020F0502020204030204"/>
              </a:rPr>
              <a:t>Hospital Operations &amp; Patient Analytics</a:t>
            </a:r>
            <a:endParaRPr sz="7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5486400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72768"/>
            <a:ext cx="5486400" cy="566928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72768"/>
            <a:ext cx="64008" cy="566928"/>
          </a:xfrm>
          <a:prstGeom prst="rect">
            <a:avLst/>
          </a:prstGeom>
          <a:solidFill>
            <a:srgbClr val="1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6459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Georgia" panose="02040502050405020303"/>
              </a:rPr>
              <a:t>Python</a:t>
            </a:r>
            <a:endParaRPr sz="14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" y="1911095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D9E4F2"/>
                </a:solidFill>
                <a:latin typeface="Calibri" panose="020F0502020204030204"/>
              </a:rPr>
              <a:t>Data Collection &amp; Processing</a:t>
            </a:r>
            <a:endParaRPr sz="9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952" y="2286000"/>
            <a:ext cx="498348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B88A2E"/>
                </a:solidFill>
                <a:latin typeface="Calibri" panose="020F0502020204030204"/>
              </a:rPr>
              <a:t>▪  </a:t>
            </a:r>
            <a:r>
              <a:rPr sz="1050" b="1">
                <a:solidFill>
                  <a:srgbClr val="0A2A5E"/>
                </a:solidFill>
                <a:latin typeface="Calibri" panose="020F0502020204030204"/>
              </a:rPr>
              <a:t>data_collection.py</a:t>
            </a:r>
            <a:r>
              <a:rPr sz="950">
                <a:solidFill>
                  <a:srgbClr val="1A2233"/>
                </a:solidFill>
                <a:latin typeface="Calibri" panose="020F0502020204030204"/>
              </a:rPr>
              <a:t> —  — integrates raw hospital datasets</a:t>
            </a:r>
            <a:endParaRPr sz="950">
              <a:solidFill>
                <a:srgbClr val="1A2233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B88A2E"/>
                </a:solidFill>
                <a:latin typeface="Calibri" panose="020F0502020204030204"/>
              </a:rPr>
              <a:t>▪  </a:t>
            </a:r>
            <a:r>
              <a:rPr sz="1050" b="1">
                <a:solidFill>
                  <a:srgbClr val="0A2A5E"/>
                </a:solidFill>
                <a:latin typeface="Calibri" panose="020F0502020204030204"/>
              </a:rPr>
              <a:t>Pandas · NumPy</a:t>
            </a:r>
            <a:r>
              <a:rPr sz="950">
                <a:solidFill>
                  <a:srgbClr val="1A2233"/>
                </a:solidFill>
                <a:latin typeface="Calibri" panose="020F0502020204030204"/>
              </a:rPr>
              <a:t> —  — cleaning &amp; transformation</a:t>
            </a:r>
            <a:endParaRPr sz="950">
              <a:solidFill>
                <a:srgbClr val="1A2233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B88A2E"/>
                </a:solidFill>
                <a:latin typeface="Calibri" panose="020F0502020204030204"/>
              </a:rPr>
              <a:t>▪  </a:t>
            </a:r>
            <a:r>
              <a:rPr sz="1050" b="1">
                <a:solidFill>
                  <a:srgbClr val="0A2A5E"/>
                </a:solidFill>
                <a:latin typeface="Calibri" panose="020F0502020204030204"/>
              </a:rPr>
              <a:t>generate_hospital_kpis.py</a:t>
            </a:r>
            <a:r>
              <a:rPr sz="950">
                <a:solidFill>
                  <a:srgbClr val="1A2233"/>
                </a:solidFill>
                <a:latin typeface="Calibri" panose="020F0502020204030204"/>
              </a:rPr>
              <a:t> —  — KPI engineering</a:t>
            </a:r>
            <a:endParaRPr sz="950">
              <a:solidFill>
                <a:srgbClr val="1A2233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0" y="1572768"/>
            <a:ext cx="5486400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72768"/>
            <a:ext cx="5486400" cy="566928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572768"/>
            <a:ext cx="64008" cy="5669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6459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Georgia" panose="02040502050405020303"/>
              </a:rPr>
              <a:t>Tableau Desktop</a:t>
            </a:r>
            <a:endParaRPr sz="14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73952" y="1911095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D9E4F2"/>
                </a:solidFill>
                <a:latin typeface="Calibri" panose="020F0502020204030204"/>
              </a:rPr>
              <a:t>Visualization &amp; Dashboards</a:t>
            </a:r>
            <a:endParaRPr sz="9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73952" y="2286000"/>
            <a:ext cx="498348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B88A2E"/>
                </a:solidFill>
                <a:latin typeface="Calibri" panose="020F0502020204030204"/>
              </a:rPr>
              <a:t>▪  </a:t>
            </a:r>
            <a:r>
              <a:rPr sz="1050" b="1">
                <a:solidFill>
                  <a:srgbClr val="0A2A5E"/>
                </a:solidFill>
                <a:latin typeface="Calibri" panose="020F0502020204030204"/>
              </a:rPr>
              <a:t>4 dashboards</a:t>
            </a:r>
            <a:r>
              <a:rPr sz="950">
                <a:solidFill>
                  <a:srgbClr val="1A2233"/>
                </a:solidFill>
                <a:latin typeface="Calibri" panose="020F0502020204030204"/>
              </a:rPr>
              <a:t> —  — 30+ linked worksheets</a:t>
            </a:r>
            <a:endParaRPr sz="950">
              <a:solidFill>
                <a:srgbClr val="1A2233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B88A2E"/>
                </a:solidFill>
                <a:latin typeface="Calibri" panose="020F0502020204030204"/>
              </a:rPr>
              <a:t>▪  </a:t>
            </a:r>
            <a:r>
              <a:rPr sz="1050" b="1">
                <a:solidFill>
                  <a:srgbClr val="0A2A5E"/>
                </a:solidFill>
                <a:latin typeface="Calibri" panose="020F0502020204030204"/>
              </a:rPr>
              <a:t>Calculated fields</a:t>
            </a:r>
            <a:r>
              <a:rPr sz="950">
                <a:solidFill>
                  <a:srgbClr val="1A2233"/>
                </a:solidFill>
                <a:latin typeface="Calibri" panose="020F0502020204030204"/>
              </a:rPr>
              <a:t> —  — Total Admissions, Avg LOS</a:t>
            </a:r>
            <a:endParaRPr sz="950">
              <a:solidFill>
                <a:srgbClr val="1A2233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B88A2E"/>
                </a:solidFill>
                <a:latin typeface="Calibri" panose="020F0502020204030204"/>
              </a:rPr>
              <a:t>▪  </a:t>
            </a:r>
            <a:r>
              <a:rPr sz="1050" b="1">
                <a:solidFill>
                  <a:srgbClr val="0A2A5E"/>
                </a:solidFill>
                <a:latin typeface="Calibri" panose="020F0502020204030204"/>
              </a:rPr>
              <a:t>Tableau Public</a:t>
            </a:r>
            <a:r>
              <a:rPr sz="950">
                <a:solidFill>
                  <a:srgbClr val="1A2233"/>
                </a:solidFill>
                <a:latin typeface="Calibri" panose="020F0502020204030204"/>
              </a:rPr>
              <a:t> —  — optional online publishing</a:t>
            </a:r>
            <a:endParaRPr sz="950">
              <a:solidFill>
                <a:srgbClr val="1A2233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3858768"/>
            <a:ext cx="5486400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858768"/>
            <a:ext cx="5486400" cy="566928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858768"/>
            <a:ext cx="64008" cy="56692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9319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Georgia" panose="02040502050405020303"/>
              </a:rPr>
              <a:t>Dashboard Integration</a:t>
            </a:r>
            <a:endParaRPr sz="14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8952" y="4197096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D9E4F2"/>
                </a:solidFill>
                <a:latin typeface="Calibri" panose="020F0502020204030204"/>
              </a:rPr>
              <a:t>Interactivity Layer</a:t>
            </a:r>
            <a:endParaRPr sz="9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8952" y="4572000"/>
            <a:ext cx="498348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B88A2E"/>
                </a:solidFill>
                <a:latin typeface="Calibri" panose="020F0502020204030204"/>
              </a:rPr>
              <a:t>▪  </a:t>
            </a:r>
            <a:r>
              <a:rPr sz="1050" b="1">
                <a:solidFill>
                  <a:srgbClr val="0A2A5E"/>
                </a:solidFill>
                <a:latin typeface="Calibri" panose="020F0502020204030204"/>
              </a:rPr>
              <a:t>Filters</a:t>
            </a:r>
            <a:r>
              <a:rPr sz="950">
                <a:solidFill>
                  <a:srgbClr val="1A2233"/>
                </a:solidFill>
                <a:latin typeface="Calibri" panose="020F0502020204030204"/>
              </a:rPr>
              <a:t> —  — department, date, status, demographics</a:t>
            </a:r>
            <a:endParaRPr sz="950">
              <a:solidFill>
                <a:srgbClr val="1A2233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B88A2E"/>
                </a:solidFill>
                <a:latin typeface="Calibri" panose="020F0502020204030204"/>
              </a:rPr>
              <a:t>▪  </a:t>
            </a:r>
            <a:r>
              <a:rPr sz="1050" b="1">
                <a:solidFill>
                  <a:srgbClr val="0A2A5E"/>
                </a:solidFill>
                <a:latin typeface="Calibri" panose="020F0502020204030204"/>
              </a:rPr>
              <a:t>Parameters &amp; Actions</a:t>
            </a:r>
            <a:r>
              <a:rPr sz="950">
                <a:solidFill>
                  <a:srgbClr val="1A2233"/>
                </a:solidFill>
                <a:latin typeface="Calibri" panose="020F0502020204030204"/>
              </a:rPr>
              <a:t> —  — cross-worksheet interactivity</a:t>
            </a:r>
            <a:endParaRPr sz="950">
              <a:solidFill>
                <a:srgbClr val="1A2233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B88A2E"/>
                </a:solidFill>
                <a:latin typeface="Calibri" panose="020F0502020204030204"/>
              </a:rPr>
              <a:t>▪  </a:t>
            </a:r>
            <a:r>
              <a:rPr sz="1050" b="1">
                <a:solidFill>
                  <a:srgbClr val="0A2A5E"/>
                </a:solidFill>
                <a:latin typeface="Calibri" panose="020F0502020204030204"/>
              </a:rPr>
              <a:t>Navigation</a:t>
            </a:r>
            <a:r>
              <a:rPr sz="950">
                <a:solidFill>
                  <a:srgbClr val="1A2233"/>
                </a:solidFill>
                <a:latin typeface="Calibri" panose="020F0502020204030204"/>
              </a:rPr>
              <a:t> —  — one-click dashboard switching</a:t>
            </a:r>
            <a:endParaRPr sz="950">
              <a:solidFill>
                <a:srgbClr val="1A2233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17920" y="3858768"/>
            <a:ext cx="5486400" cy="20848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858768"/>
            <a:ext cx="5486400" cy="566928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858768"/>
            <a:ext cx="64008" cy="566928"/>
          </a:xfrm>
          <a:prstGeom prst="rect">
            <a:avLst/>
          </a:prstGeom>
          <a:solidFill>
            <a:srgbClr val="9E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39319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Georgia" panose="02040502050405020303"/>
              </a:rPr>
              <a:t>GitHub &amp; Markdown</a:t>
            </a:r>
            <a:endParaRPr sz="14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73952" y="4197096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D9E4F2"/>
                </a:solidFill>
                <a:latin typeface="Calibri" panose="020F0502020204030204"/>
              </a:rPr>
              <a:t>Documentation &amp; Delivery</a:t>
            </a:r>
            <a:endParaRPr sz="9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73952" y="4572000"/>
            <a:ext cx="498348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B88A2E"/>
                </a:solidFill>
                <a:latin typeface="Calibri" panose="020F0502020204030204"/>
              </a:rPr>
              <a:t>▪  </a:t>
            </a:r>
            <a:r>
              <a:rPr sz="1050" b="1">
                <a:solidFill>
                  <a:srgbClr val="0A2A5E"/>
                </a:solidFill>
                <a:latin typeface="Calibri" panose="020F0502020204030204"/>
              </a:rPr>
              <a:t>Documentation</a:t>
            </a:r>
            <a:r>
              <a:rPr sz="950">
                <a:solidFill>
                  <a:srgbClr val="1A2233"/>
                </a:solidFill>
                <a:latin typeface="Calibri" panose="020F0502020204030204"/>
              </a:rPr>
              <a:t> —  — 5 PDF deliverables, version-controlled</a:t>
            </a:r>
            <a:endParaRPr sz="950">
              <a:solidFill>
                <a:srgbClr val="1A2233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B88A2E"/>
                </a:solidFill>
                <a:latin typeface="Calibri" panose="020F0502020204030204"/>
              </a:rPr>
              <a:t>▪  </a:t>
            </a:r>
            <a:r>
              <a:rPr sz="1050" b="1">
                <a:solidFill>
                  <a:srgbClr val="0A2A5E"/>
                </a:solidFill>
                <a:latin typeface="Calibri" panose="020F0502020204030204"/>
              </a:rPr>
              <a:t>Git repository</a:t>
            </a:r>
            <a:r>
              <a:rPr sz="950">
                <a:solidFill>
                  <a:srgbClr val="1A2233"/>
                </a:solidFill>
                <a:latin typeface="Calibri" panose="020F0502020204030204"/>
              </a:rPr>
              <a:t> —  — full project delivery</a:t>
            </a:r>
            <a:endParaRPr sz="950">
              <a:solidFill>
                <a:srgbClr val="1A2233"/>
              </a:solidFill>
              <a:latin typeface="Calibri" panose="020F0502020204030204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B88A2E"/>
                </a:solidFill>
                <a:latin typeface="Calibri" panose="020F0502020204030204"/>
              </a:rPr>
              <a:t>▪  </a:t>
            </a:r>
            <a:r>
              <a:rPr sz="1050" b="1">
                <a:solidFill>
                  <a:srgbClr val="0A2A5E"/>
                </a:solidFill>
                <a:latin typeface="Calibri" panose="020F0502020204030204"/>
              </a:rPr>
              <a:t>Modular repo</a:t>
            </a:r>
            <a:r>
              <a:rPr sz="950">
                <a:solidFill>
                  <a:srgbClr val="1A2233"/>
                </a:solidFill>
                <a:latin typeface="Calibri" panose="020F0502020204030204"/>
              </a:rPr>
              <a:t> —  — scripts / data / dashboard / docs</a:t>
            </a:r>
            <a:endParaRPr sz="950">
              <a:solidFill>
                <a:srgbClr val="1A2233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6B85"/>
                </a:solidFill>
                <a:latin typeface="Calibri" panose="020F0502020204030204"/>
              </a:rPr>
              <a:t>MedTrack_DV — Hospital Operations &amp; Patient Analytics Dashboard  •  Group 2</a:t>
            </a:r>
            <a:endParaRPr sz="8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9284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B85"/>
                </a:solidFill>
                <a:latin typeface="Calibri" panose="020F0502020204030204"/>
              </a:rPr>
              <a:t>6</a:t>
            </a:r>
            <a:endParaRPr sz="900" b="1">
              <a:solidFill>
                <a:srgbClr val="5A6B8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88A2E"/>
                </a:solidFill>
                <a:latin typeface="Calibri" panose="020F0502020204030204"/>
              </a:rPr>
              <a:t>DATA FOUNDATION</a:t>
            </a:r>
            <a:endParaRPr sz="100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Dataset &amp; KPI Engineering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One enriched dataset — twelve operational KPIs</a:t>
            </a:r>
            <a:endParaRPr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B88A2E"/>
                </a:solidFill>
                <a:latin typeface="Georgia" panose="02040502050405020303"/>
              </a:rPr>
              <a:t>MedTrack_DV</a:t>
            </a:r>
            <a:endParaRPr sz="14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95560" y="6766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D9E4F2"/>
                </a:solidFill>
                <a:latin typeface="Calibri" panose="020F0502020204030204"/>
              </a:rPr>
              <a:t>Hospital Operations &amp; Patient Analytics</a:t>
            </a:r>
            <a:endParaRPr sz="7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4206240" cy="4480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72768"/>
            <a:ext cx="4206240" cy="566928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72768"/>
            <a:ext cx="64008" cy="566928"/>
          </a:xfrm>
          <a:prstGeom prst="rect">
            <a:avLst/>
          </a:prstGeom>
          <a:solidFill>
            <a:srgbClr val="1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664208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Georgia" panose="02040502050405020303"/>
              </a:rPr>
              <a:t>Enriched Patient Flow Dataset</a:t>
            </a:r>
            <a:endParaRPr sz="13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37490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D9E4F2"/>
                </a:solidFill>
                <a:latin typeface="Calibri" panose="020F0502020204030204"/>
              </a:rPr>
              <a:t>cleaned_healthcare_patient_flow_data_enriched.csv</a:t>
            </a:r>
            <a:endParaRPr sz="8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2340864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5AA8"/>
                </a:solidFill>
                <a:latin typeface="Georgia" panose="02040502050405020303"/>
              </a:rPr>
              <a:t>9,216</a:t>
            </a:r>
            <a:endParaRPr sz="1500" b="1">
              <a:solidFill>
                <a:srgbClr val="1F5AA8"/>
              </a:solidFill>
              <a:latin typeface="Georgia" panose="0204050205040502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74519" y="238658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patient records (unique IDs)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2852928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5AA8"/>
                </a:solidFill>
                <a:latin typeface="Georgia" panose="02040502050405020303"/>
              </a:rPr>
              <a:t>41</a:t>
            </a:r>
            <a:endParaRPr sz="1500" b="1">
              <a:solidFill>
                <a:srgbClr val="1F5AA8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74519" y="289864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analytical fields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5AA8"/>
                </a:solidFill>
                <a:latin typeface="Georgia" panose="02040502050405020303"/>
              </a:rPr>
              <a:t>7</a:t>
            </a:r>
            <a:endParaRPr sz="1500" b="1">
              <a:solidFill>
                <a:srgbClr val="1F5AA8"/>
              </a:solidFill>
              <a:latin typeface="Georgia" panose="020405020504050203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74519" y="341071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departments — General Practice to Renal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3877056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5AA8"/>
                </a:solidFill>
                <a:latin typeface="Georgia" panose="02040502050405020303"/>
              </a:rPr>
              <a:t>19</a:t>
            </a:r>
            <a:endParaRPr sz="1500" b="1">
              <a:solidFill>
                <a:srgbClr val="1F5AA8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74519" y="392277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months — Apr 2023 → Oct 2024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438912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5AA8"/>
                </a:solidFill>
                <a:latin typeface="Georgia" panose="02040502050405020303"/>
              </a:rPr>
              <a:t>6</a:t>
            </a:r>
            <a:endParaRPr sz="1500" b="1">
              <a:solidFill>
                <a:srgbClr val="1F5AA8"/>
              </a:solidFill>
              <a:latin typeface="Georgia" panose="020405020504050203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74519" y="4434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field families — patient, admission, department, flow, outcome, resource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5029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A2A5E"/>
                </a:solidFill>
                <a:latin typeface="Calibri" panose="020F0502020204030204"/>
              </a:rPr>
              <a:t>PREPARATION PIPELINE</a:t>
            </a:r>
            <a:endParaRPr sz="9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" y="534924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D9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800" b="1">
                <a:solidFill>
                  <a:srgbClr val="0A2A5E"/>
                </a:solidFill>
                <a:latin typeface="Calibri" panose="020F0502020204030204"/>
              </a:rPr>
              <a:t>Collect</a:t>
            </a:r>
            <a:endParaRPr sz="8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99616" y="536752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5A6B85"/>
                </a:solidFill>
                <a:latin typeface="Calibri" panose="020F0502020204030204"/>
              </a:rPr>
              <a:t>›</a:t>
            </a:r>
            <a:endParaRPr sz="1100" b="1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636776" y="534924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D9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800" b="1">
                <a:solidFill>
                  <a:srgbClr val="0A2A5E"/>
                </a:solidFill>
                <a:latin typeface="Calibri" panose="020F0502020204030204"/>
              </a:rPr>
              <a:t>Integrate</a:t>
            </a:r>
            <a:endParaRPr sz="8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13432" y="536752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5A6B85"/>
                </a:solidFill>
                <a:latin typeface="Calibri" panose="020F0502020204030204"/>
              </a:rPr>
              <a:t>›</a:t>
            </a:r>
            <a:endParaRPr sz="1100" b="1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450592" y="534924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D9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800" b="1">
                <a:solidFill>
                  <a:srgbClr val="0A2A5E"/>
                </a:solidFill>
                <a:latin typeface="Calibri" panose="020F0502020204030204"/>
              </a:rPr>
              <a:t>Clean</a:t>
            </a:r>
            <a:endParaRPr sz="8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127248" y="536752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5A6B85"/>
                </a:solidFill>
                <a:latin typeface="Calibri" panose="020F0502020204030204"/>
              </a:rPr>
              <a:t>›</a:t>
            </a:r>
            <a:endParaRPr sz="1100" b="1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64408" y="534924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D9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800" b="1">
                <a:solidFill>
                  <a:srgbClr val="0A2A5E"/>
                </a:solidFill>
                <a:latin typeface="Calibri" panose="020F0502020204030204"/>
              </a:rPr>
              <a:t>Standardize</a:t>
            </a:r>
            <a:endParaRPr sz="8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41064" y="536752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5A6B85"/>
                </a:solidFill>
                <a:latin typeface="Calibri" panose="020F0502020204030204"/>
              </a:rPr>
              <a:t>›</a:t>
            </a:r>
            <a:endParaRPr sz="1100" b="1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078224" y="534924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D9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800" b="1">
                <a:solidFill>
                  <a:srgbClr val="0A2A5E"/>
                </a:solidFill>
                <a:latin typeface="Calibri" panose="020F0502020204030204"/>
              </a:rPr>
              <a:t>Enrich</a:t>
            </a:r>
            <a:endParaRPr sz="8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956048" y="1572768"/>
            <a:ext cx="22128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47488" y="1682495"/>
            <a:ext cx="50292" cy="950976"/>
          </a:xfrm>
          <a:prstGeom prst="rect">
            <a:avLst/>
          </a:prstGeom>
          <a:solidFill>
            <a:srgbClr val="1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93792" y="1664208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A2233"/>
                </a:solidFill>
                <a:latin typeface="Georgia" panose="02040502050405020303"/>
              </a:rPr>
              <a:t>9,216</a:t>
            </a:r>
            <a:endParaRPr sz="2000" b="1">
              <a:solidFill>
                <a:srgbClr val="1A2233"/>
              </a:solidFill>
              <a:latin typeface="Georgia" panose="020405020504050203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93792" y="210312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A2A5E"/>
                </a:solidFill>
                <a:latin typeface="Calibri" panose="020F0502020204030204"/>
              </a:rPr>
              <a:t>Total Patients</a:t>
            </a:r>
            <a:endParaRPr sz="10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193792" y="235915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6B85"/>
                </a:solidFill>
                <a:latin typeface="Calibri" panose="020F0502020204030204"/>
              </a:rPr>
              <a:t>COUNTD(patient_id)</a:t>
            </a:r>
            <a:endParaRPr sz="80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60336" y="1572768"/>
            <a:ext cx="22128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51775" y="1682495"/>
            <a:ext cx="50292" cy="950976"/>
          </a:xfrm>
          <a:prstGeom prst="rect">
            <a:avLst/>
          </a:prstGeom>
          <a:solidFill>
            <a:srgbClr val="1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79" y="1664208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A2233"/>
                </a:solidFill>
                <a:latin typeface="Georgia" panose="02040502050405020303"/>
              </a:rPr>
              <a:t>9,216</a:t>
            </a:r>
            <a:endParaRPr sz="2000" b="1">
              <a:solidFill>
                <a:srgbClr val="1A2233"/>
              </a:solidFill>
              <a:latin typeface="Georgia" panose="02040502050405020303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498079" y="210312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A2A5E"/>
                </a:solidFill>
                <a:latin typeface="Calibri" panose="020F0502020204030204"/>
              </a:rPr>
              <a:t>Total Admissions</a:t>
            </a:r>
            <a:endParaRPr sz="10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98079" y="235915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6B85"/>
                </a:solidFill>
                <a:latin typeface="Calibri" panose="020F0502020204030204"/>
              </a:rPr>
              <a:t>COUNT(admission_flag)</a:t>
            </a:r>
            <a:endParaRPr sz="80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564624" y="1572768"/>
            <a:ext cx="22128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56064" y="1682495"/>
            <a:ext cx="50292" cy="95097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02368" y="1664208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A2233"/>
                </a:solidFill>
                <a:latin typeface="Georgia" panose="02040502050405020303"/>
              </a:rPr>
              <a:t>2.7 d</a:t>
            </a:r>
            <a:endParaRPr sz="2000" b="1">
              <a:solidFill>
                <a:srgbClr val="1A2233"/>
              </a:solidFill>
              <a:latin typeface="Georgia" panose="020405020504050203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802368" y="210312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A2A5E"/>
                </a:solidFill>
                <a:latin typeface="Calibri" panose="020F0502020204030204"/>
              </a:rPr>
              <a:t>Avg Length of Stay</a:t>
            </a:r>
            <a:endParaRPr sz="10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802368" y="235915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6B85"/>
                </a:solidFill>
                <a:latin typeface="Calibri" panose="020F0502020204030204"/>
              </a:rPr>
              <a:t>AVG(LOS days)</a:t>
            </a:r>
            <a:endParaRPr sz="80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956048" y="2889504"/>
            <a:ext cx="22128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47488" y="2999232"/>
            <a:ext cx="50292" cy="9509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93792" y="2980944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A2233"/>
                </a:solidFill>
                <a:latin typeface="Georgia" panose="02040502050405020303"/>
              </a:rPr>
              <a:t>77.4%</a:t>
            </a:r>
            <a:endParaRPr sz="2000" b="1">
              <a:solidFill>
                <a:srgbClr val="1A2233"/>
              </a:solidFill>
              <a:latin typeface="Georgia" panose="02040502050405020303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93792" y="3419856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A2A5E"/>
                </a:solidFill>
                <a:latin typeface="Calibri" panose="020F0502020204030204"/>
              </a:rPr>
              <a:t>Occupancy Rate</a:t>
            </a:r>
            <a:endParaRPr sz="10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193792" y="3675888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6B85"/>
                </a:solidFill>
                <a:latin typeface="Calibri" panose="020F0502020204030204"/>
              </a:rPr>
              <a:t>AVG(bed_occupancy_rate)</a:t>
            </a:r>
            <a:endParaRPr sz="80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260336" y="2889504"/>
            <a:ext cx="22128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51775" y="2999232"/>
            <a:ext cx="50292" cy="950976"/>
          </a:xfrm>
          <a:prstGeom prst="rect">
            <a:avLst/>
          </a:prstGeom>
          <a:solidFill>
            <a:srgbClr val="9E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79" y="2980944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A2233"/>
                </a:solidFill>
                <a:latin typeface="Georgia" panose="02040502050405020303"/>
              </a:rPr>
              <a:t>4.0%</a:t>
            </a:r>
            <a:endParaRPr sz="2000" b="1">
              <a:solidFill>
                <a:srgbClr val="1A2233"/>
              </a:solidFill>
              <a:latin typeface="Georgia" panose="02040502050405020303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498079" y="3419856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A2A5E"/>
                </a:solidFill>
                <a:latin typeface="Calibri" panose="020F0502020204030204"/>
              </a:rPr>
              <a:t>Readmission Rate</a:t>
            </a:r>
            <a:endParaRPr sz="10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498079" y="3675888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6B85"/>
                </a:solidFill>
                <a:latin typeface="Calibri" panose="020F0502020204030204"/>
              </a:rPr>
              <a:t>AVG(is_readmitted)</a:t>
            </a:r>
            <a:endParaRPr sz="80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564624" y="2889504"/>
            <a:ext cx="22128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56064" y="2999232"/>
            <a:ext cx="50292" cy="950976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02368" y="2980944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A2233"/>
                </a:solidFill>
                <a:latin typeface="Georgia" panose="02040502050405020303"/>
              </a:rPr>
              <a:t>35.3 min</a:t>
            </a:r>
            <a:endParaRPr sz="2000" b="1">
              <a:solidFill>
                <a:srgbClr val="1A2233"/>
              </a:solidFill>
              <a:latin typeface="Georgia" panose="02040502050405020303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802368" y="3419856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A2A5E"/>
                </a:solidFill>
                <a:latin typeface="Calibri" panose="020F0502020204030204"/>
              </a:rPr>
              <a:t>Avg Wait Time</a:t>
            </a:r>
            <a:endParaRPr sz="10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802368" y="3675888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6B85"/>
                </a:solidFill>
                <a:latin typeface="Calibri" panose="020F0502020204030204"/>
              </a:rPr>
              <a:t>AVG(patient_waittime)</a:t>
            </a:r>
            <a:endParaRPr sz="80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956048" y="4206240"/>
            <a:ext cx="22128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47488" y="4315968"/>
            <a:ext cx="50292" cy="950976"/>
          </a:xfrm>
          <a:prstGeom prst="rect">
            <a:avLst/>
          </a:prstGeom>
          <a:solidFill>
            <a:srgbClr val="9E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93792" y="4297679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A2233"/>
                </a:solidFill>
                <a:latin typeface="Georgia" panose="02040502050405020303"/>
              </a:rPr>
              <a:t>2,750</a:t>
            </a:r>
            <a:endParaRPr sz="2000" b="1">
              <a:solidFill>
                <a:srgbClr val="1A2233"/>
              </a:solidFill>
              <a:latin typeface="Georgia" panose="02040502050405020303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193792" y="473659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A2A5E"/>
                </a:solidFill>
                <a:latin typeface="Calibri" panose="020F0502020204030204"/>
              </a:rPr>
              <a:t>Patients Waiting &gt;45m</a:t>
            </a:r>
            <a:endParaRPr sz="10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193792" y="4992624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6B85"/>
                </a:solidFill>
                <a:latin typeface="Calibri" panose="020F0502020204030204"/>
              </a:rPr>
              <a:t>29.8% of patients</a:t>
            </a:r>
            <a:endParaRPr sz="80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7260336" y="4206240"/>
            <a:ext cx="22128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51775" y="4315968"/>
            <a:ext cx="50292" cy="950976"/>
          </a:xfrm>
          <a:prstGeom prst="rect">
            <a:avLst/>
          </a:prstGeom>
          <a:solidFill>
            <a:srgbClr val="5E5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98079" y="4297679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A2233"/>
                </a:solidFill>
                <a:latin typeface="Georgia" panose="02040502050405020303"/>
              </a:rPr>
              <a:t>3.0 / 5</a:t>
            </a:r>
            <a:endParaRPr sz="2000" b="1">
              <a:solidFill>
                <a:srgbClr val="1A2233"/>
              </a:solidFill>
              <a:latin typeface="Georgia" panose="02040502050405020303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498079" y="473659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A2A5E"/>
                </a:solidFill>
                <a:latin typeface="Calibri" panose="020F0502020204030204"/>
              </a:rPr>
              <a:t>Satisfaction Score</a:t>
            </a:r>
            <a:endParaRPr sz="10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498079" y="4992624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6B85"/>
                </a:solidFill>
                <a:latin typeface="Calibri" panose="020F0502020204030204"/>
              </a:rPr>
              <a:t>AVG(satisfaction_score)</a:t>
            </a:r>
            <a:endParaRPr sz="80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9564624" y="4206240"/>
            <a:ext cx="221284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656064" y="4315968"/>
            <a:ext cx="50292" cy="950976"/>
          </a:xfrm>
          <a:prstGeom prst="rect">
            <a:avLst/>
          </a:prstGeom>
          <a:solidFill>
            <a:srgbClr val="5E5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02368" y="4297679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A2233"/>
                </a:solidFill>
                <a:latin typeface="Georgia" panose="02040502050405020303"/>
              </a:rPr>
              <a:t>64.7</a:t>
            </a:r>
            <a:endParaRPr sz="2000" b="1">
              <a:solidFill>
                <a:srgbClr val="1A2233"/>
              </a:solidFill>
              <a:latin typeface="Georgia" panose="02040502050405020303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802368" y="473659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A2A5E"/>
                </a:solidFill>
                <a:latin typeface="Calibri" panose="020F0502020204030204"/>
              </a:rPr>
              <a:t>Dept Efficiency</a:t>
            </a:r>
            <a:endParaRPr sz="1000" b="1">
              <a:solidFill>
                <a:srgbClr val="0A2A5E"/>
              </a:solidFill>
              <a:latin typeface="Calibri" panose="020F050202020403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802368" y="4992624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6B85"/>
                </a:solidFill>
                <a:latin typeface="Calibri" panose="020F0502020204030204"/>
              </a:rPr>
              <a:t>AVG(department_efficiency)</a:t>
            </a:r>
            <a:endParaRPr sz="80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956048" y="565099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85"/>
                </a:solidFill>
                <a:latin typeface="Calibri" panose="020F0502020204030204"/>
              </a:rPr>
              <a:t>+ Total Beds (200/record)  ·  Occupied Beds (avg 155)  ·  Bed Utilization Rate  →  12 KPIs in total</a:t>
            </a:r>
            <a:endParaRPr sz="9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6B85"/>
                </a:solidFill>
                <a:latin typeface="Calibri" panose="020F0502020204030204"/>
              </a:rPr>
              <a:t>Source: cleaned_healthcare_patient_flow_data_enriched.csv — 9,216 patient records, Apr 2023 – Oct 2024</a:t>
            </a:r>
            <a:endParaRPr sz="8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6B85"/>
                </a:solidFill>
                <a:latin typeface="Calibri" panose="020F0502020204030204"/>
              </a:rPr>
              <a:t>MedTrack_DV — Hospital Operations &amp; Patient Analytics Dashboard  •  Group 2</a:t>
            </a:r>
            <a:endParaRPr sz="8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129284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B85"/>
                </a:solidFill>
                <a:latin typeface="Calibri" panose="020F0502020204030204"/>
              </a:rPr>
              <a:t>7</a:t>
            </a:r>
            <a:endParaRPr sz="900" b="1">
              <a:solidFill>
                <a:srgbClr val="5A6B8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88A2E"/>
                </a:solidFill>
                <a:latin typeface="Calibri" panose="020F0502020204030204"/>
              </a:rPr>
              <a:t>RESULTS · DASHBOARD 1 OF 4</a:t>
            </a:r>
            <a:endParaRPr sz="100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Results — Hospital Overview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Hospital performance KPIs, admissions, occupancy, readmission &amp; satisfaction</a:t>
            </a:r>
            <a:endParaRPr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B88A2E"/>
                </a:solidFill>
                <a:latin typeface="Georgia" panose="02040502050405020303"/>
              </a:rPr>
              <a:t>MedTrack_DV</a:t>
            </a:r>
            <a:endParaRPr sz="14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95560" y="6766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D9E4F2"/>
                </a:solidFill>
                <a:latin typeface="Calibri" panose="020F0502020204030204"/>
              </a:rPr>
              <a:t>Hospital Operations &amp; Patient Analytics</a:t>
            </a:r>
            <a:endParaRPr sz="7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0" y="914400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D9E4F2"/>
                </a:solidFill>
                <a:latin typeface="Calibri" panose="020F0502020204030204"/>
              </a:rPr>
              <a:t>8 / 16</a:t>
            </a:r>
            <a:endParaRPr sz="850" b="1">
              <a:solidFill>
                <a:srgbClr val="D9E4F2"/>
              </a:solidFill>
              <a:latin typeface="Calibri" panose="020F0502020204030204"/>
            </a:endParaRPr>
          </a:p>
        </p:txBody>
      </p:sp>
      <p:pic>
        <p:nvPicPr>
          <p:cNvPr id="12" name="Picture 11" descr="Screenshot 2026-09-16 1733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00455"/>
            <a:ext cx="12191365" cy="57480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88A2E"/>
                </a:solidFill>
                <a:latin typeface="Calibri" panose="020F0502020204030204"/>
              </a:rPr>
              <a:t>RESULTS · DASHBOARD 2 OF 4</a:t>
            </a:r>
            <a:endParaRPr sz="100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Results — Patient Flow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Admissions, waiting time, admission status, shifts &amp; length of stay</a:t>
            </a:r>
            <a:endParaRPr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B88A2E"/>
                </a:solidFill>
                <a:latin typeface="Georgia" panose="02040502050405020303"/>
              </a:rPr>
              <a:t>MedTrack_DV</a:t>
            </a:r>
            <a:endParaRPr sz="14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95560" y="6766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D9E4F2"/>
                </a:solidFill>
                <a:latin typeface="Calibri" panose="020F0502020204030204"/>
              </a:rPr>
              <a:t>Hospital Operations &amp; Patient Analytics</a:t>
            </a:r>
            <a:endParaRPr sz="7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0" y="914400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D9E4F2"/>
                </a:solidFill>
                <a:latin typeface="Calibri" panose="020F0502020204030204"/>
              </a:rPr>
              <a:t>9 / 16</a:t>
            </a:r>
            <a:endParaRPr sz="850" b="1">
              <a:solidFill>
                <a:srgbClr val="D9E4F2"/>
              </a:solidFill>
              <a:latin typeface="Calibri" panose="020F0502020204030204"/>
            </a:endParaRPr>
          </a:p>
        </p:txBody>
      </p:sp>
      <p:pic>
        <p:nvPicPr>
          <p:cNvPr id="12" name="Picture 11" descr="Screenshot 2026-09-16 1733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8370"/>
            <a:ext cx="12191365" cy="5839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88A2E"/>
                </a:solidFill>
                <a:latin typeface="Calibri" panose="020F0502020204030204"/>
              </a:rPr>
              <a:t>RESULTS · DASHBOARD 3 OF 4</a:t>
            </a:r>
            <a:endParaRPr sz="100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Results — Department Analytics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Operational performance across hospital departments</a:t>
            </a:r>
            <a:endParaRPr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B88A2E"/>
                </a:solidFill>
                <a:latin typeface="Georgia" panose="02040502050405020303"/>
              </a:rPr>
              <a:t>MedTrack_DV</a:t>
            </a:r>
            <a:endParaRPr sz="14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95560" y="6766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D9E4F2"/>
                </a:solidFill>
                <a:latin typeface="Calibri" panose="020F0502020204030204"/>
              </a:rPr>
              <a:t>Hospital Operations &amp; Patient Analytics</a:t>
            </a:r>
            <a:endParaRPr sz="7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0" y="914400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D9E4F2"/>
                </a:solidFill>
                <a:latin typeface="Calibri" panose="020F0502020204030204"/>
              </a:rPr>
              <a:t>10 / 16</a:t>
            </a:r>
            <a:endParaRPr sz="850" b="1">
              <a:solidFill>
                <a:srgbClr val="D9E4F2"/>
              </a:solidFill>
              <a:latin typeface="Calibri" panose="020F0502020204030204"/>
            </a:endParaRPr>
          </a:p>
        </p:txBody>
      </p:sp>
      <p:pic>
        <p:nvPicPr>
          <p:cNvPr id="12" name="Picture 11" descr="Screenshot 2026-09-16 1733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88390"/>
            <a:ext cx="12191365" cy="5687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88A2E"/>
                </a:solidFill>
                <a:latin typeface="Calibri" panose="020F0502020204030204"/>
              </a:rPr>
              <a:t>RESULTS · DASHBOARD 4 OF 4</a:t>
            </a:r>
            <a:endParaRPr sz="100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Results — Resource Utilization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Bed capacity, occupancy, bed utilization &amp; department efficiency</a:t>
            </a:r>
            <a:endParaRPr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B88A2E"/>
                </a:solidFill>
                <a:latin typeface="Georgia" panose="02040502050405020303"/>
              </a:rPr>
              <a:t>MedTrack_DV</a:t>
            </a:r>
            <a:endParaRPr sz="14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95560" y="6766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D9E4F2"/>
                </a:solidFill>
                <a:latin typeface="Calibri" panose="020F0502020204030204"/>
              </a:rPr>
              <a:t>Hospital Operations &amp; Patient Analytics</a:t>
            </a:r>
            <a:endParaRPr sz="7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0" y="914400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D9E4F2"/>
                </a:solidFill>
                <a:latin typeface="Calibri" panose="020F0502020204030204"/>
              </a:rPr>
              <a:t>11 / 16</a:t>
            </a:r>
            <a:endParaRPr sz="850" b="1">
              <a:solidFill>
                <a:srgbClr val="D9E4F2"/>
              </a:solidFill>
              <a:latin typeface="Calibri" panose="020F0502020204030204"/>
            </a:endParaRPr>
          </a:p>
        </p:txBody>
      </p:sp>
      <p:pic>
        <p:nvPicPr>
          <p:cNvPr id="12" name="Picture 11" descr="Screenshot 2026-09-16 1734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120140"/>
            <a:ext cx="12191365" cy="57473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88A2E"/>
                </a:solidFill>
                <a:latin typeface="Calibri" panose="020F0502020204030204"/>
              </a:rPr>
              <a:t>IMPACT</a:t>
            </a:r>
            <a:endParaRPr sz="100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Measurable Outcomes &amp; Key Insights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Findings from the data — and what we recommend</a:t>
            </a:r>
            <a:endParaRPr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B88A2E"/>
                </a:solidFill>
                <a:latin typeface="Georgia" panose="02040502050405020303"/>
              </a:rPr>
              <a:t>MedTrack_DV</a:t>
            </a:r>
            <a:endParaRPr sz="14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95560" y="6766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D9E4F2"/>
                </a:solidFill>
                <a:latin typeface="Calibri" panose="020F0502020204030204"/>
              </a:rPr>
              <a:t>Hospital Operations &amp; Patient Analytics</a:t>
            </a:r>
            <a:endParaRPr sz="7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548640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82495"/>
            <a:ext cx="54864" cy="1170432"/>
          </a:xfrm>
          <a:prstGeom prst="rect">
            <a:avLst/>
          </a:prstGeom>
          <a:solidFill>
            <a:srgbClr val="9E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Waiting time is the #1 pressure point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2020824"/>
            <a:ext cx="50292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0">
                <a:solidFill>
                  <a:srgbClr val="5A6B85"/>
                </a:solidFill>
                <a:latin typeface="Calibri" panose="020F0502020204030204"/>
              </a:rPr>
              <a:t>35.3-min average wait; 2,750 patients (29.8%) exceed 45 minutes. → Recommendation: re-deploy triage staffing toward peak-delay windows.</a:t>
            </a:r>
            <a:endParaRPr sz="96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1572768"/>
            <a:ext cx="548640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82495"/>
            <a:ext cx="54864" cy="1170432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Night shift carries the load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55664" y="2020824"/>
            <a:ext cx="50292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0">
                <a:solidFill>
                  <a:srgbClr val="5A6B85"/>
                </a:solidFill>
                <a:latin typeface="Calibri" panose="020F0502020204030204"/>
              </a:rPr>
              <a:t>38% of all admissions occur overnight (21:00–05:00), peaking at 23:00. → Recommendation: align night staffing and bed-turnover with the night curve.</a:t>
            </a:r>
            <a:endParaRPr sz="96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3090672"/>
            <a:ext cx="548640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200400"/>
            <a:ext cx="54864" cy="1170432"/>
          </a:xfrm>
          <a:prstGeom prst="rect">
            <a:avLst/>
          </a:prstGeom>
          <a:solidFill>
            <a:srgbClr val="1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20954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General Practice dominates volume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0664" y="3538728"/>
            <a:ext cx="50292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0">
                <a:solidFill>
                  <a:srgbClr val="5A6B85"/>
                </a:solidFill>
                <a:latin typeface="Calibri" panose="020F0502020204030204"/>
              </a:rPr>
              <a:t>78.6% of patients (7,240 of 9,216) route through General Practice. → Recommendation: targeted GP triage moves the whole hospital's numbers.</a:t>
            </a:r>
            <a:endParaRPr sz="96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17920" y="3090672"/>
            <a:ext cx="548640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200400"/>
            <a:ext cx="54864" cy="1170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20954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Occupancy is healthy but watchful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55664" y="3538728"/>
            <a:ext cx="50292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0">
                <a:solidFill>
                  <a:srgbClr val="5A6B85"/>
                </a:solidFill>
                <a:latin typeface="Calibri" panose="020F0502020204030204"/>
              </a:rPr>
              <a:t>77.4% average utilization; no month above the 85% pressure threshold. → Recommendation: protect headroom — improve flow before capital expansion.</a:t>
            </a:r>
            <a:endParaRPr sz="96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4608576"/>
            <a:ext cx="548640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718304"/>
            <a:ext cx="54864" cy="1170432"/>
          </a:xfrm>
          <a:prstGeom prst="rect">
            <a:avLst/>
          </a:prstGeom>
          <a:solidFill>
            <a:srgbClr val="5E5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7274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Readmissions are well controlled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0664" y="5056632"/>
            <a:ext cx="50292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0">
                <a:solidFill>
                  <a:srgbClr val="5A6B85"/>
                </a:solidFill>
                <a:latin typeface="Calibri" panose="020F0502020204030204"/>
              </a:rPr>
              <a:t>4.0% overall (369 patients); Neurology runs highest at 5.7%. → Recommendation: focused Neurology discharge-review pilot.</a:t>
            </a:r>
            <a:endParaRPr sz="96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17920" y="4608576"/>
            <a:ext cx="548640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718304"/>
            <a:ext cx="54864" cy="1170432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47274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Stays are short and predictable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55664" y="5056632"/>
            <a:ext cx="50292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0">
                <a:solidFill>
                  <a:srgbClr val="5A6B85"/>
                </a:solidFill>
                <a:latin typeface="Calibri" panose="020F0502020204030204"/>
              </a:rPr>
              <a:t>5.5-day average LOS for admitted patients; 79% stay 8 days or fewer. → Recommendation: standardize discharge-planning protocols.</a:t>
            </a:r>
            <a:endParaRPr sz="96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6B85"/>
                </a:solidFill>
                <a:latin typeface="Calibri" panose="020F0502020204030204"/>
              </a:rPr>
              <a:t>Source: cleaned_healthcare_patient_flow_data_enriched.csv — 9,216 patient records, Apr 2023 – Oct 2024</a:t>
            </a:r>
            <a:endParaRPr sz="8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6B85"/>
                </a:solidFill>
                <a:latin typeface="Calibri" panose="020F0502020204030204"/>
              </a:rPr>
              <a:t>MedTrack_DV — Hospital Operations &amp; Patient Analytics Dashboard  •  Group 2</a:t>
            </a:r>
            <a:endParaRPr sz="8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29284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B85"/>
                </a:solidFill>
                <a:latin typeface="Calibri" panose="020F0502020204030204"/>
              </a:rPr>
              <a:t>12</a:t>
            </a:r>
            <a:endParaRPr sz="900" b="1">
              <a:solidFill>
                <a:srgbClr val="5A6B8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88A2E"/>
                </a:solidFill>
                <a:latin typeface="Calibri" panose="020F0502020204030204"/>
              </a:rPr>
              <a:t>ROADMAP AHEAD</a:t>
            </a:r>
            <a:endParaRPr sz="100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Future Scope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Where MedTrack_DV goes next</a:t>
            </a:r>
            <a:endParaRPr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B88A2E"/>
                </a:solidFill>
                <a:latin typeface="Georgia" panose="02040502050405020303"/>
              </a:rPr>
              <a:t>MedTrack_DV</a:t>
            </a:r>
            <a:endParaRPr sz="14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95560" y="6766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D9E4F2"/>
                </a:solidFill>
                <a:latin typeface="Calibri" panose="020F0502020204030204"/>
              </a:rPr>
              <a:t>Hospital Operations &amp; Patient Analytics</a:t>
            </a:r>
            <a:endParaRPr sz="7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82495"/>
            <a:ext cx="54864" cy="1106424"/>
          </a:xfrm>
          <a:prstGeom prst="rect">
            <a:avLst/>
          </a:prstGeom>
          <a:solidFill>
            <a:srgbClr val="1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Real-Time Data Pipeline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2020824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0">
                <a:solidFill>
                  <a:srgbClr val="5A6B85"/>
                </a:solidFill>
                <a:latin typeface="Calibri" panose="020F0502020204030204"/>
              </a:rPr>
              <a:t>Stream admissions into the dashboard live — from monthly batch files to hourly operational monitoring.</a:t>
            </a:r>
            <a:endParaRPr sz="96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1572768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82495"/>
            <a:ext cx="54864" cy="110642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Predictive Analytics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55664" y="2020824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0">
                <a:solidFill>
                  <a:srgbClr val="5A6B85"/>
                </a:solidFill>
                <a:latin typeface="Calibri" panose="020F0502020204030204"/>
              </a:rPr>
              <a:t>Forecast admissions, occupancy and LOS with machine learning; predict readmission risk per patient.</a:t>
            </a:r>
            <a:endParaRPr sz="96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301752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127248"/>
            <a:ext cx="54864" cy="1106424"/>
          </a:xfrm>
          <a:prstGeom prst="rect">
            <a:avLst/>
          </a:prstGeom>
          <a:solidFill>
            <a:srgbClr val="9E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136391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Alerts &amp; Threshold Monitoring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0664" y="3465576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0">
                <a:solidFill>
                  <a:srgbClr val="5A6B85"/>
                </a:solidFill>
                <a:latin typeface="Calibri" panose="020F0502020204030204"/>
              </a:rPr>
              <a:t>Automatic alerts when occupancy crosses 85%, waits exceed targets or a department's readmissions spike.</a:t>
            </a:r>
            <a:endParaRPr sz="96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17920" y="301752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127248"/>
            <a:ext cx="54864" cy="1106424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136391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Bed-Level &amp; Ward-Level Views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55664" y="3465576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0">
                <a:solidFill>
                  <a:srgbClr val="5A6B85"/>
                </a:solidFill>
                <a:latin typeface="Calibri" panose="020F0502020204030204"/>
              </a:rPr>
              <a:t>Drill from hospital to ward to individual bed — real-time floor maps for capacity managers.</a:t>
            </a:r>
            <a:endParaRPr sz="96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4462272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572000"/>
            <a:ext cx="54864" cy="1106424"/>
          </a:xfrm>
          <a:prstGeom prst="rect">
            <a:avLst/>
          </a:prstGeom>
          <a:solidFill>
            <a:srgbClr val="5E5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58114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Multi-Hospital &amp; Regional Rollout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0664" y="4910328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0">
                <a:solidFill>
                  <a:srgbClr val="5A6B85"/>
                </a:solidFill>
                <a:latin typeface="Calibri" panose="020F0502020204030204"/>
              </a:rPr>
              <a:t>Benchmark departments across hospitals and regions on one shared KPI framework.</a:t>
            </a:r>
            <a:endParaRPr sz="96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17920" y="4462272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572000"/>
            <a:ext cx="54864" cy="1106424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458114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A2A5E"/>
                </a:solidFill>
                <a:latin typeface="Georgia" panose="02040502050405020303"/>
              </a:rPr>
              <a:t>Natural-Language Q&amp;A</a:t>
            </a:r>
            <a:endParaRPr sz="1200" b="1">
              <a:solidFill>
                <a:srgbClr val="0A2A5E"/>
              </a:solidFill>
              <a:latin typeface="Georgia" panose="020405020504050203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55664" y="4910328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60" b="0">
                <a:solidFill>
                  <a:srgbClr val="5A6B85"/>
                </a:solidFill>
                <a:latin typeface="Calibri" panose="020F0502020204030204"/>
              </a:rPr>
              <a:t>Ask the dashboard questions — 'which department had the longest waits in June?' — powered by NLP.</a:t>
            </a:r>
            <a:endParaRPr sz="96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02920" y="5961888"/>
            <a:ext cx="11201400" cy="4572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961888"/>
            <a:ext cx="64008" cy="4572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02132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B88A2E"/>
                </a:solidFill>
                <a:latin typeface="Georgia" panose="02040502050405020303"/>
              </a:rPr>
              <a:t>CONCLUSION</a:t>
            </a:r>
            <a:endParaRPr sz="1000" b="1">
              <a:solidFill>
                <a:srgbClr val="B88A2E"/>
              </a:solidFill>
              <a:latin typeface="Georgia" panose="020405020504050203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331720" y="6007608"/>
            <a:ext cx="9235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80" b="0">
                <a:solidFill>
                  <a:srgbClr val="FFFFFF"/>
                </a:solidFill>
                <a:latin typeface="Calibri" panose="020F0502020204030204"/>
              </a:rPr>
              <a:t>MedTrack_DV demonstrates that disciplined data engineering combined with purposeful visualization converts routine hospital records into actionable operational intelligence — a scalable foundation for hospital-wide analytics.</a:t>
            </a:r>
            <a:endParaRPr sz="98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6B85"/>
                </a:solidFill>
                <a:latin typeface="Calibri" panose="020F0502020204030204"/>
              </a:rPr>
              <a:t>MedTrack_DV — Hospital Operations &amp; Patient Analytics Dashboard  •  Group 2</a:t>
            </a:r>
            <a:endParaRPr sz="850" b="0">
              <a:solidFill>
                <a:srgbClr val="5A6B85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29284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5A6B85"/>
                </a:solidFill>
                <a:latin typeface="Calibri" panose="020F0502020204030204"/>
              </a:rPr>
              <a:t>13</a:t>
            </a:r>
            <a:endParaRPr sz="900" b="1">
              <a:solidFill>
                <a:srgbClr val="5A6B8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1280160"/>
            <a:ext cx="4206240" cy="4206240"/>
          </a:xfrm>
          <a:prstGeom prst="ellipse">
            <a:avLst/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463040" y="4937760"/>
            <a:ext cx="3657600" cy="3657600"/>
          </a:xfrm>
          <a:prstGeom prst="ellipse">
            <a:avLst/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515600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B88A2E"/>
                </a:solidFill>
                <a:latin typeface="Calibri" panose="020F0502020204030204"/>
              </a:rPr>
              <a:t>MENTORSHIP</a:t>
            </a:r>
            <a:endParaRPr sz="1250" b="1">
              <a:solidFill>
                <a:srgbClr val="B88A2E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Georgia" panose="02040502050405020303"/>
              </a:rPr>
              <a:t>Guided by dedicated mentorship</a:t>
            </a:r>
            <a:endParaRPr sz="29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10515600" cy="1600200"/>
          </a:xfrm>
          <a:prstGeom prst="roundRect">
            <a:avLst>
              <a:gd name="adj" fmla="val 9000"/>
            </a:avLst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48840"/>
            <a:ext cx="64008" cy="1600200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39572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Mentor</a:t>
            </a:r>
            <a:endParaRPr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Pathina Likhita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0160" y="324612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D9E4F2"/>
                </a:solidFill>
                <a:latin typeface="Calibri" panose="020F0502020204030204"/>
              </a:rPr>
              <a:t>Project Guide — MedTrack_DV, Hospital Operations &amp; Patient Analytics Dashboard</a:t>
            </a:r>
            <a:endParaRPr sz="11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10515600" cy="1463040"/>
          </a:xfrm>
          <a:prstGeom prst="roundRect">
            <a:avLst>
              <a:gd name="adj" fmla="val 9000"/>
            </a:avLst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64008" cy="1463040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4905" y="4213987"/>
            <a:ext cx="969264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E4F2"/>
                </a:solidFill>
                <a:latin typeface="Calibri" panose="020F0502020204030204"/>
              </a:rPr>
              <a:t>Presented by</a:t>
            </a:r>
            <a:br>
              <a:rPr sz="1200" b="0">
                <a:solidFill>
                  <a:srgbClr val="D9E4F2"/>
                </a:solidFill>
                <a:latin typeface="Calibri" panose="020F0502020204030204"/>
              </a:rPr>
            </a:br>
            <a:r>
              <a:rPr lang="en-US" sz="1200" b="0">
                <a:solidFill>
                  <a:srgbClr val="D9E4F2"/>
                </a:solidFill>
                <a:latin typeface="Calibri" panose="020F0502020204030204"/>
              </a:rPr>
              <a:t>	Abinaya Vijay</a:t>
            </a:r>
            <a:endParaRPr lang="en-US" sz="12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0160" y="457200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Georgia" panose="02040502050405020303"/>
              </a:rPr>
              <a:t>Group 2 — Hospital Operations &amp; Patient Analytics Dashboard</a:t>
            </a:r>
            <a:endParaRPr sz="17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80160" y="504748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D9E4F2"/>
                </a:solidFill>
                <a:latin typeface="Calibri" panose="020F0502020204030204"/>
              </a:rPr>
              <a:t>Modules 1–8 delivered end-to-end: data collection → cleaning → KPI engineering → dashboards → documentation</a:t>
            </a:r>
            <a:endParaRPr sz="105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D9E4F2"/>
                </a:solidFill>
                <a:latin typeface="Calibri" panose="020F0502020204030204"/>
              </a:rPr>
              <a:t>Repository: Hospital-Operations-and-Patient-Analytics-Dashboard-Group-2</a:t>
            </a:r>
            <a:endParaRPr sz="1000" b="0">
              <a:solidFill>
                <a:srgbClr val="D9E4F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023360"/>
            <a:ext cx="4206240" cy="4206240"/>
          </a:xfrm>
          <a:prstGeom prst="ellipse">
            <a:avLst/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123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240280"/>
            <a:ext cx="1219169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6200" b="1">
                <a:solidFill>
                  <a:srgbClr val="FFFFFF"/>
                </a:solidFill>
                <a:latin typeface="Georgia" panose="02040502050405020303"/>
              </a:rPr>
              <a:t>Thank You</a:t>
            </a:r>
            <a:endParaRPr sz="62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72887" y="3520440"/>
            <a:ext cx="1645920" cy="41148"/>
          </a:xfrm>
          <a:prstGeom prst="rect">
            <a:avLst/>
          </a:prstGeom>
          <a:solidFill>
            <a:srgbClr val="B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9E4F2"/>
                </a:solidFill>
                <a:latin typeface="Calibri" panose="020F0502020204030204"/>
              </a:rPr>
              <a:t>MedTrack_DV — Hospital Operations &amp; Patient Analytics Dashboard</a:t>
            </a:r>
            <a:endParaRPr sz="1500" b="0">
              <a:solidFill>
                <a:srgbClr val="D9E4F2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224528"/>
            <a:ext cx="1219169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US" sz="1300" b="1">
                <a:solidFill>
                  <a:srgbClr val="B88A2E"/>
                </a:solidFill>
                <a:latin typeface="Calibri" panose="020F0502020204030204"/>
              </a:rPr>
              <a:t>Abinaya Vijay</a:t>
            </a:r>
            <a:r>
              <a:rPr sz="1300" b="1">
                <a:solidFill>
                  <a:srgbClr val="B88A2E"/>
                </a:solidFill>
                <a:latin typeface="Calibri" panose="020F0502020204030204"/>
              </a:rPr>
              <a:t>  ·  Mentor: Pathina Likhita</a:t>
            </a:r>
            <a:endParaRPr sz="1300" b="1">
              <a:solidFill>
                <a:srgbClr val="B88A2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10308</Words>
  <Application>WPS Presentation</Application>
  <PresentationFormat>On-screen Show (4:3)</PresentationFormat>
  <Paragraphs>571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Georgia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Abinaya</cp:lastModifiedBy>
  <cp:revision>6</cp:revision>
  <dcterms:created xsi:type="dcterms:W3CDTF">2013-01-27T09:14:00Z</dcterms:created>
  <dcterms:modified xsi:type="dcterms:W3CDTF">2026-09-17T12:32:12Z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C40FA084AA4247478D7875E90CC99068_12</vt:lpwstr>
  </property>
  <property fmtid="{D5CDD505-2E9C-101B-9397-08002B2CF9AE}" pid="3" name="KSOProductBuildVer">
    <vt:lpwstr>1033-12.1.0.28485</vt:lpwstr>
  </property>
</Properties>
</file>