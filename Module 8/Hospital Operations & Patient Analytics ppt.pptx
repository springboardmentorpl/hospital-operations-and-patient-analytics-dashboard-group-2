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325" r:id="rId5"/>
    <p:sldId id="259" r:id="rId6"/>
    <p:sldId id="326" r:id="rId7"/>
    <p:sldId id="257" r:id="rId8"/>
    <p:sldId id="261" r:id="rId9"/>
    <p:sldId id="263" r:id="rId10"/>
    <p:sldId id="264" r:id="rId11"/>
    <p:sldId id="342" r:id="rId12"/>
    <p:sldId id="343" r:id="rId13"/>
    <p:sldId id="344" r:id="rId14"/>
    <p:sldId id="345" r:id="rId15"/>
    <p:sldId id="267" r:id="rId16"/>
    <p:sldId id="268" r:id="rId17"/>
    <p:sldId id="34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240" autoAdjust="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9/16/2026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9/16/2026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B82FF-5339-5456-4D30-0C2DA7907AAE}"/>
              </a:ext>
            </a:extLst>
          </p:cNvPr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</p:spPr>
        <p:txBody>
          <a:bodyPr/>
          <a:lstStyle>
            <a:lvl1pPr>
              <a:defRPr sz="32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</p:spPr>
        <p:txBody>
          <a:bodyPr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A4A755-28B6-5A01-94AB-C3CCC4368885}"/>
              </a:ext>
            </a:extLst>
          </p:cNvPr>
          <p:cNvCxnSpPr>
            <a:cxnSpLocks/>
          </p:cNvCxnSpPr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59BA83-0C6E-2A70-AED3-E386CABE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80160" y="2377440"/>
            <a:ext cx="9619488" cy="342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612406-06E6-DCE4-7F2F-D98836A802A6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anchor="ctr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4" r:id="rId3"/>
    <p:sldLayoutId id="2147483675" r:id="rId4"/>
    <p:sldLayoutId id="2147483664" r:id="rId5"/>
    <p:sldLayoutId id="2147483676" r:id="rId6"/>
    <p:sldLayoutId id="2147483677" r:id="rId7"/>
    <p:sldLayoutId id="2147483681" r:id="rId8"/>
    <p:sldLayoutId id="2147483682" r:id="rId9"/>
    <p:sldLayoutId id="2147483683" r:id="rId10"/>
    <p:sldLayoutId id="2147483680" r:id="rId11"/>
    <p:sldLayoutId id="2147483684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/>
          <a:lstStyle/>
          <a:p>
            <a:r>
              <a:rPr lang="en-IN" sz="2000" b="1" dirty="0">
                <a:latin typeface="Felix Titling" panose="04060505060202020A04" pitchFamily="82" charset="0"/>
              </a:rPr>
              <a:t>Hospital Operations &amp; Patient Analytics Dashboard</a:t>
            </a:r>
            <a:br>
              <a:rPr lang="en-IN" sz="2000" dirty="0">
                <a:latin typeface="Felix Titling" panose="04060505060202020A04" pitchFamily="82" charset="0"/>
              </a:rPr>
            </a:br>
            <a:r>
              <a:rPr lang="en-IN" sz="2000" dirty="0">
                <a:latin typeface="Felix Titling" panose="04060505060202020A04" pitchFamily="82" charset="0"/>
              </a:rPr>
              <a:t>Infosys Springboard Virtual Internship 7.0 – Batch 2</a:t>
            </a:r>
            <a:br>
              <a:rPr lang="en-IN" sz="2000" dirty="0">
                <a:latin typeface="Felix Titling" panose="04060505060202020A04" pitchFamily="82" charset="0"/>
              </a:rPr>
            </a:br>
            <a:endParaRPr lang="en-US" sz="2000" dirty="0">
              <a:latin typeface="Felix Titling" panose="04060505060202020A04" pitchFamily="82" charset="0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1307D8B-2864-21B6-1CE1-B605F2928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IN" dirty="0">
                <a:latin typeface="Felix Titling" panose="04060505060202020A04" pitchFamily="82" charset="0"/>
              </a:rPr>
              <a:t>Presented by: Mythri L</a:t>
            </a:r>
            <a:br>
              <a:rPr lang="en-IN" dirty="0">
                <a:latin typeface="Felix Titling" panose="04060505060202020A04" pitchFamily="82" charset="0"/>
              </a:rPr>
            </a:br>
            <a:br>
              <a:rPr lang="en-IN" dirty="0">
                <a:latin typeface="Felix Titling" panose="04060505060202020A04" pitchFamily="82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731520"/>
          </a:xfrm>
          <a:noFill/>
        </p:spPr>
        <p:txBody>
          <a:bodyPr anchor="ctr" anchorCtr="0">
            <a:noAutofit/>
          </a:bodyPr>
          <a:lstStyle/>
          <a:p>
            <a:r>
              <a:rPr lang="en-US" sz="2000" dirty="0"/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3283974"/>
            <a:ext cx="10515600" cy="2310581"/>
          </a:xfrm>
          <a:noFill/>
        </p:spPr>
        <p:txBody>
          <a:bodyPr>
            <a:normAutofit/>
          </a:bodyPr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/>
              <a:t>Hospital data is available across multiple datasets.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/>
              <a:t>The data requires preparation before it can be </a:t>
            </a:r>
            <a:r>
              <a:rPr lang="en-IN" dirty="0" err="1"/>
              <a:t>analyzed</a:t>
            </a:r>
            <a:r>
              <a:rPr lang="en-IN" dirty="0"/>
              <a:t>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/>
              <a:t>Important operational measures may be difficult to monitor in raw tables.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/>
              <a:t>A consolidated dashboard-based view is needed to support easier exploration of hospital data.</a:t>
            </a:r>
          </a:p>
          <a:p>
            <a:endParaRPr lang="en-US" dirty="0"/>
          </a:p>
        </p:txBody>
      </p:sp>
      <p:pic>
        <p:nvPicPr>
          <p:cNvPr id="10" name="Picture Placeholder 9" descr="Close up of bubbles">
            <a:extLst>
              <a:ext uri="{FF2B5EF4-FFF2-40B4-BE49-F238E27FC236}">
                <a16:creationId xmlns:a16="http://schemas.microsoft.com/office/drawing/2014/main" id="{99058E17-80B3-F3F9-AF6A-0518C39D940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83" r="83"/>
          <a:stretch/>
        </p:blipFill>
        <p:spPr>
          <a:xfrm>
            <a:off x="0" y="0"/>
            <a:ext cx="12188952" cy="2368296"/>
          </a:xfrm>
        </p:spPr>
      </p:pic>
    </p:spTree>
    <p:extLst>
      <p:ext uri="{BB962C8B-B14F-4D97-AF65-F5344CB8AC3E}">
        <p14:creationId xmlns:p14="http://schemas.microsoft.com/office/powerpoint/2010/main" val="1008037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B422-1287-FCEB-63CE-599FDC84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884904"/>
            <a:ext cx="6094034" cy="471948"/>
          </a:xfrm>
        </p:spPr>
        <p:txBody>
          <a:bodyPr/>
          <a:lstStyle/>
          <a:p>
            <a:r>
              <a:rPr lang="en-US" dirty="0"/>
              <a:t>Proposed solution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38CD2-9585-7E51-5359-D52935A77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1333" y="1356852"/>
            <a:ext cx="4599531" cy="5171767"/>
          </a:xfrm>
        </p:spPr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IN" sz="2000" b="1" dirty="0"/>
              <a:t>Data-Driven Hospital Analytics System</a:t>
            </a:r>
          </a:p>
          <a:p>
            <a:pPr lvl="0"/>
            <a:r>
              <a:rPr lang="en-IN" sz="2000" dirty="0"/>
              <a:t>Real-time overview of hospital operations </a:t>
            </a:r>
          </a:p>
          <a:p>
            <a:pPr lvl="0"/>
            <a:r>
              <a:rPr lang="en-IN" sz="2000" dirty="0"/>
              <a:t>Patient admission and discharge analysis </a:t>
            </a:r>
          </a:p>
          <a:p>
            <a:pPr lvl="0"/>
            <a:r>
              <a:rPr lang="en-IN" sz="2000" dirty="0"/>
              <a:t>Department-wise performance insights </a:t>
            </a:r>
          </a:p>
          <a:p>
            <a:pPr lvl="0"/>
            <a:r>
              <a:rPr lang="en-IN" sz="2000" dirty="0"/>
              <a:t>Bed occupancy and utilization monitoring </a:t>
            </a:r>
          </a:p>
          <a:p>
            <a:pPr lvl="0"/>
            <a:r>
              <a:rPr lang="en-IN" sz="2000" dirty="0"/>
              <a:t>Average Length of Stay (LOS) analysis </a:t>
            </a:r>
          </a:p>
          <a:p>
            <a:pPr lvl="0"/>
            <a:r>
              <a:rPr lang="en-IN" sz="2000" dirty="0"/>
              <a:t>Readmission analysis </a:t>
            </a:r>
          </a:p>
          <a:p>
            <a:pPr lvl="0"/>
            <a:r>
              <a:rPr lang="en-IN" sz="2000" dirty="0"/>
              <a:t>Interactive filters for detailed exploration</a:t>
            </a:r>
          </a:p>
          <a:p>
            <a:pPr marL="0" indent="0">
              <a:buNone/>
            </a:pPr>
            <a:endParaRPr lang="en-US" sz="2000" b="1" dirty="0"/>
          </a:p>
        </p:txBody>
      </p:sp>
      <p:pic>
        <p:nvPicPr>
          <p:cNvPr id="8" name="Picture Placeholder 7" descr="Pipette diffusing dyes in flasks">
            <a:extLst>
              <a:ext uri="{FF2B5EF4-FFF2-40B4-BE49-F238E27FC236}">
                <a16:creationId xmlns:a16="http://schemas.microsoft.com/office/drawing/2014/main" id="{9DA934D8-2609-4227-78DF-CF8F07A2F9C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" b="97"/>
          <a:stretch/>
        </p:blipFill>
        <p:spPr>
          <a:xfrm>
            <a:off x="5687568" y="1435608"/>
            <a:ext cx="5897880" cy="3977640"/>
          </a:xfrm>
        </p:spPr>
      </p:pic>
    </p:spTree>
    <p:extLst>
      <p:ext uri="{BB962C8B-B14F-4D97-AF65-F5344CB8AC3E}">
        <p14:creationId xmlns:p14="http://schemas.microsoft.com/office/powerpoint/2010/main" val="2910866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1206910"/>
          </a:xfrm>
          <a:noFill/>
        </p:spPr>
        <p:txBody>
          <a:bodyPr anchor="b" anchorCtr="0"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038168"/>
            <a:ext cx="8046720" cy="2408904"/>
          </a:xfrm>
          <a:noFill/>
        </p:spPr>
        <p:txBody>
          <a:bodyPr>
            <a:normAutofit/>
          </a:bodyPr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/>
              <a:t>Collect and combine the required hospital datasets.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/>
              <a:t>Clean and standardize the data.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/>
              <a:t>Generate a final dataset and calculate relevant KPIs.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/>
              <a:t>Create interactive dashboards using Power BI and Tableau.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/>
              <a:t>Organize the dashboards into consolidated project files.</a:t>
            </a:r>
          </a:p>
        </p:txBody>
      </p: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731520"/>
          </a:xfrm>
          <a:noFill/>
        </p:spPr>
        <p:txBody>
          <a:bodyPr/>
          <a:lstStyle/>
          <a:p>
            <a:r>
              <a:rPr lang="en-US" dirty="0"/>
              <a:t>METHODOLOGY</a:t>
            </a:r>
          </a:p>
        </p:txBody>
      </p:sp>
      <p:pic>
        <p:nvPicPr>
          <p:cNvPr id="16" name="Picture Placeholder 15" descr="Pipette over three glass jars">
            <a:extLst>
              <a:ext uri="{FF2B5EF4-FFF2-40B4-BE49-F238E27FC236}">
                <a16:creationId xmlns:a16="http://schemas.microsoft.com/office/drawing/2014/main" id="{363B2CE7-DE69-D368-9719-08D0C83ABC0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/>
          <a:stretch/>
        </p:blipFill>
        <p:spPr>
          <a:xfrm>
            <a:off x="1298448" y="1828800"/>
            <a:ext cx="3200400" cy="32004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1700981"/>
            <a:ext cx="6217920" cy="4471219"/>
          </a:xfrm>
          <a:noFill/>
        </p:spPr>
        <p:txBody>
          <a:bodyPr>
            <a:normAutofit fontScale="92500" lnSpcReduction="20000"/>
          </a:bodyPr>
          <a:lstStyle/>
          <a:p>
            <a:pPr lvl="0"/>
            <a:r>
              <a:rPr lang="en-IN" b="1" dirty="0"/>
              <a:t>Data collection:</a:t>
            </a:r>
            <a:r>
              <a:rPr lang="en-IN" dirty="0"/>
              <a:t> Obtain the required datasets from Kaggle.</a:t>
            </a:r>
          </a:p>
          <a:p>
            <a:pPr lvl="0"/>
            <a:r>
              <a:rPr lang="en-IN" b="1" dirty="0"/>
              <a:t>Data preparation:</a:t>
            </a:r>
            <a:r>
              <a:rPr lang="en-IN" dirty="0"/>
              <a:t> Use Python to combine the source files into a hospital dataset.</a:t>
            </a:r>
          </a:p>
          <a:p>
            <a:pPr lvl="0"/>
            <a:r>
              <a:rPr lang="en-IN" b="1" dirty="0"/>
              <a:t>Data cleaning:</a:t>
            </a:r>
            <a:r>
              <a:rPr lang="en-IN" dirty="0"/>
              <a:t> Prepare the dataset and save the cleaned output.</a:t>
            </a:r>
          </a:p>
          <a:p>
            <a:pPr lvl="0"/>
            <a:r>
              <a:rPr lang="en-IN" b="1" dirty="0"/>
              <a:t>KPI generation:</a:t>
            </a:r>
            <a:r>
              <a:rPr lang="en-IN" dirty="0"/>
              <a:t> Process the cleaned data and generate the final Excel dataset.</a:t>
            </a:r>
          </a:p>
          <a:p>
            <a:pPr lvl="0"/>
            <a:r>
              <a:rPr lang="en-IN" b="1" dirty="0"/>
              <a:t>Visualization:</a:t>
            </a:r>
            <a:r>
              <a:rPr lang="en-IN" dirty="0"/>
              <a:t> Build dashboards in Power BI and Tableau.</a:t>
            </a:r>
          </a:p>
          <a:p>
            <a:pPr lvl="0"/>
            <a:r>
              <a:rPr lang="en-IN" b="1" dirty="0"/>
              <a:t>Integration:</a:t>
            </a:r>
            <a:r>
              <a:rPr lang="en-IN" dirty="0"/>
              <a:t> Organize the dashboards into consolidated files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  <a:noFill/>
        </p:spPr>
        <p:txBody>
          <a:bodyPr/>
          <a:lstStyle/>
          <a:p>
            <a:r>
              <a:rPr lang="en-IN" dirty="0"/>
              <a:t>Tools and Technologies</a:t>
            </a:r>
            <a:endParaRPr lang="en-US" dirty="0"/>
          </a:p>
        </p:txBody>
      </p:sp>
      <p:pic>
        <p:nvPicPr>
          <p:cNvPr id="6" name="Picture Placeholder 17" descr="Scientist looking at a test tube">
            <a:extLst>
              <a:ext uri="{FF2B5EF4-FFF2-40B4-BE49-F238E27FC236}">
                <a16:creationId xmlns:a16="http://schemas.microsoft.com/office/drawing/2014/main" id="{23F775E2-246C-F1D2-C3A0-D4C55F65CC8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" b="26"/>
          <a:stretch/>
        </p:blipFill>
        <p:spPr>
          <a:xfrm>
            <a:off x="1280160" y="548640"/>
            <a:ext cx="3017520" cy="301752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548640"/>
            <a:ext cx="4306824" cy="5577840"/>
          </a:xfrm>
          <a:noFill/>
        </p:spPr>
        <p:txBody>
          <a:bodyPr vert="horz" lIns="91440" tIns="45720" rIns="91440" bIns="45720" rtlCol="0" anchor="b" anchorCtr="0">
            <a:noAutofit/>
          </a:bodyPr>
          <a:lstStyle/>
          <a:p>
            <a:pPr lvl="0"/>
            <a:r>
              <a:rPr lang="en-IN" b="1" dirty="0"/>
              <a:t>Kaggle:</a:t>
            </a:r>
            <a:r>
              <a:rPr lang="en-IN" dirty="0"/>
              <a:t> Dataset source</a:t>
            </a:r>
          </a:p>
          <a:p>
            <a:pPr lvl="0"/>
            <a:r>
              <a:rPr lang="en-IN" b="1" dirty="0"/>
              <a:t>Python:</a:t>
            </a:r>
            <a:r>
              <a:rPr lang="en-IN" dirty="0"/>
              <a:t> Data processing and KPI generation</a:t>
            </a:r>
          </a:p>
          <a:p>
            <a:pPr lvl="0"/>
            <a:r>
              <a:rPr lang="en-IN" b="1" dirty="0"/>
              <a:t>Jupyter Notebook:</a:t>
            </a:r>
            <a:r>
              <a:rPr lang="en-IN" dirty="0"/>
              <a:t> Data-cleaning workflow</a:t>
            </a:r>
          </a:p>
          <a:p>
            <a:pPr lvl="0"/>
            <a:r>
              <a:rPr lang="en-IN" b="1" dirty="0"/>
              <a:t>VS Code:</a:t>
            </a:r>
            <a:r>
              <a:rPr lang="en-IN" dirty="0"/>
              <a:t> Code development and execution</a:t>
            </a:r>
          </a:p>
          <a:p>
            <a:pPr lvl="0"/>
            <a:r>
              <a:rPr lang="en-IN" b="1" dirty="0"/>
              <a:t>Excel:</a:t>
            </a:r>
            <a:r>
              <a:rPr lang="en-IN" dirty="0"/>
              <a:t> Final dataset storage</a:t>
            </a:r>
          </a:p>
          <a:p>
            <a:pPr lvl="0"/>
            <a:r>
              <a:rPr lang="en-IN" b="1" dirty="0"/>
              <a:t>Power BI and Tableau:</a:t>
            </a:r>
            <a:r>
              <a:rPr lang="en-IN" dirty="0"/>
              <a:t> Dashboard creation and visualization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48119"/>
            <a:ext cx="9821955" cy="914400"/>
          </a:xfrm>
          <a:noFill/>
        </p:spPr>
        <p:txBody>
          <a:bodyPr anchor="t" anchorCtr="0"/>
          <a:lstStyle/>
          <a:p>
            <a:r>
              <a:rPr lang="en-IN" dirty="0"/>
              <a:t>Analysis and Dashboard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/>
          <a:p>
            <a:pPr marL="0" indent="0">
              <a:buNone/>
            </a:pPr>
            <a:r>
              <a:rPr lang="en-IN" b="1" dirty="0"/>
              <a:t>KPIs included:</a:t>
            </a:r>
            <a:endParaRPr lang="en-IN" dirty="0"/>
          </a:p>
          <a:p>
            <a:pPr lvl="0"/>
            <a:r>
              <a:rPr lang="en-IN" dirty="0"/>
              <a:t>Total Admissions</a:t>
            </a:r>
          </a:p>
          <a:p>
            <a:pPr lvl="0"/>
            <a:r>
              <a:rPr lang="en-IN" dirty="0"/>
              <a:t>Occupancy Rate</a:t>
            </a:r>
          </a:p>
          <a:p>
            <a:pPr lvl="0"/>
            <a:r>
              <a:rPr lang="en-IN" dirty="0"/>
              <a:t>Average Length of Stay</a:t>
            </a:r>
          </a:p>
          <a:p>
            <a:pPr lvl="0"/>
            <a:r>
              <a:rPr lang="en-IN" dirty="0"/>
              <a:t>Readmission Rate</a:t>
            </a:r>
          </a:p>
          <a:p>
            <a:pPr lvl="0"/>
            <a:r>
              <a:rPr lang="en-IN" dirty="0"/>
              <a:t>Bed Utilization Rate</a:t>
            </a:r>
          </a:p>
          <a:p>
            <a:pPr lvl="0"/>
            <a:r>
              <a:rPr lang="en-IN" dirty="0"/>
              <a:t>Department Efficiency Score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/>
          <a:p>
            <a:pPr marL="0" indent="0">
              <a:buNone/>
            </a:pPr>
            <a:r>
              <a:rPr lang="en-IN" b="1" dirty="0"/>
              <a:t>Dashboard development:</a:t>
            </a:r>
            <a:endParaRPr lang="en-IN" dirty="0"/>
          </a:p>
          <a:p>
            <a:pPr lvl="0"/>
            <a:r>
              <a:rPr lang="en-IN" dirty="0"/>
              <a:t>Power BI dashboards</a:t>
            </a:r>
          </a:p>
          <a:p>
            <a:pPr lvl="0"/>
            <a:r>
              <a:rPr lang="en-IN" dirty="0"/>
              <a:t>Tableau dashboards</a:t>
            </a:r>
          </a:p>
          <a:p>
            <a:pPr lvl="0"/>
            <a:r>
              <a:rPr lang="en-IN" dirty="0"/>
              <a:t>Consolidated dashboard files</a:t>
            </a:r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2E682-897B-B2E1-5D93-AE72433F83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2999"/>
            <a:ext cx="10241280" cy="1619865"/>
          </a:xfrm>
        </p:spPr>
        <p:txBody>
          <a:bodyPr/>
          <a:lstStyle/>
          <a:p>
            <a:r>
              <a:rPr lang="en-IN" dirty="0"/>
              <a:t>HOSPITAL OVERVIEW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3980C1-1EFB-19FB-778C-670CCEDDB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2979174"/>
            <a:ext cx="8046720" cy="1739130"/>
          </a:xfrm>
        </p:spPr>
        <p:txBody>
          <a:bodyPr/>
          <a:lstStyle/>
          <a:p>
            <a:pPr algn="l"/>
            <a:r>
              <a:rPr lang="en-IN" dirty="0"/>
              <a:t>Provides a quick view of the hospital’s key operational and patient metrics.</a:t>
            </a:r>
          </a:p>
          <a:p>
            <a:pPr lvl="0" algn="l"/>
            <a:r>
              <a:rPr lang="en-IN" b="1" dirty="0"/>
              <a:t>Total Admissions                         Readmission Rate</a:t>
            </a:r>
            <a:endParaRPr lang="en-IN" dirty="0"/>
          </a:p>
          <a:p>
            <a:pPr algn="l"/>
            <a:r>
              <a:rPr lang="en-IN" b="1" dirty="0"/>
              <a:t>Bed Utilization Rate                     Average Length of Stay</a:t>
            </a:r>
            <a:endParaRPr lang="en-IN" dirty="0"/>
          </a:p>
          <a:p>
            <a:pPr lvl="0" algn="l"/>
            <a:r>
              <a:rPr lang="en-IN" b="1" dirty="0"/>
              <a:t>Occupancy Rate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9000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23773-A08C-7687-178B-9C085BBC9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6676" y="2368296"/>
            <a:ext cx="10515600" cy="851965"/>
          </a:xfrm>
        </p:spPr>
        <p:txBody>
          <a:bodyPr>
            <a:normAutofit/>
          </a:bodyPr>
          <a:lstStyle/>
          <a:p>
            <a:r>
              <a:rPr lang="en-US" sz="4000" dirty="0"/>
              <a:t>Patient flow analysis</a:t>
            </a:r>
            <a:endParaRPr lang="en-IN" sz="4000" dirty="0"/>
          </a:p>
        </p:txBody>
      </p:sp>
      <p:pic>
        <p:nvPicPr>
          <p:cNvPr id="7" name="Picture Placeholder 6" descr="Test tube with blood">
            <a:extLst>
              <a:ext uri="{FF2B5EF4-FFF2-40B4-BE49-F238E27FC236}">
                <a16:creationId xmlns:a16="http://schemas.microsoft.com/office/drawing/2014/main" id="{EBC973F2-F69A-7CF8-E3F4-7DB5BF83B49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35426" b="35426"/>
          <a:stretch>
            <a:fillRect/>
          </a:stretch>
        </p:blipFill>
        <p:spPr/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1A018C-98FD-32DF-25B4-11516C52C792}"/>
              </a:ext>
            </a:extLst>
          </p:cNvPr>
          <p:cNvSpPr txBox="1"/>
          <p:nvPr/>
        </p:nvSpPr>
        <p:spPr>
          <a:xfrm>
            <a:off x="844984" y="3854245"/>
            <a:ext cx="1033802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Analyzes</a:t>
            </a:r>
            <a:r>
              <a:rPr lang="en-IN" dirty="0"/>
              <a:t> how patients move through the hospital over time.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Admission trends over time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Admission type analysis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Patient status distribution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Gender-wise patient analysis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Department-wise patient distribution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7F7853-C1F9-1C0A-DDB8-DE4CB7ED6442}"/>
              </a:ext>
            </a:extLst>
          </p:cNvPr>
          <p:cNvSpPr txBox="1"/>
          <p:nvPr/>
        </p:nvSpPr>
        <p:spPr>
          <a:xfrm>
            <a:off x="844984" y="3236453"/>
            <a:ext cx="96248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Monitoring Patient Admissions and Flow</a:t>
            </a:r>
          </a:p>
        </p:txBody>
      </p:sp>
    </p:spTree>
    <p:extLst>
      <p:ext uri="{BB962C8B-B14F-4D97-AF65-F5344CB8AC3E}">
        <p14:creationId xmlns:p14="http://schemas.microsoft.com/office/powerpoint/2010/main" val="3244688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40873-EB94-8A34-97F0-F41236159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466049"/>
          </a:xfrm>
        </p:spPr>
        <p:txBody>
          <a:bodyPr/>
          <a:lstStyle/>
          <a:p>
            <a:r>
              <a:rPr lang="en-IN" dirty="0"/>
              <a:t>DEPARTMENT ANALYTICS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08736E-626A-9C1F-EA2E-C7033C748156}"/>
              </a:ext>
            </a:extLst>
          </p:cNvPr>
          <p:cNvSpPr txBox="1"/>
          <p:nvPr/>
        </p:nvSpPr>
        <p:spPr>
          <a:xfrm>
            <a:off x="1201502" y="2005780"/>
            <a:ext cx="10559845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Provides department-level insights for operational comparison.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Patient count by department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Average Length of Stay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Readmission Rate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Total Beds by Department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Relationship between LOS and readmissions</a:t>
            </a:r>
          </a:p>
          <a:p>
            <a:pPr lvl="0"/>
            <a:endParaRPr lang="en-IN" sz="2800" dirty="0"/>
          </a:p>
          <a:p>
            <a:r>
              <a:rPr lang="en-IN" sz="2800" b="1" dirty="0"/>
              <a:t>Purpose:</a:t>
            </a:r>
            <a:r>
              <a:rPr lang="en-IN" sz="2800" dirty="0"/>
              <a:t> Identify variations in department workload and patient outcomes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3025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DA14F-0FBC-C151-A5B6-28B5F09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704" y="294967"/>
            <a:ext cx="5629656" cy="737419"/>
          </a:xfrm>
        </p:spPr>
        <p:txBody>
          <a:bodyPr/>
          <a:lstStyle/>
          <a:p>
            <a:r>
              <a:rPr lang="en-IN" dirty="0"/>
              <a:t>RESOURCE UTILIZATION</a:t>
            </a:r>
          </a:p>
        </p:txBody>
      </p:sp>
      <p:pic>
        <p:nvPicPr>
          <p:cNvPr id="7" name="Content Placeholder 6" descr="Stethoscope on white background">
            <a:extLst>
              <a:ext uri="{FF2B5EF4-FFF2-40B4-BE49-F238E27FC236}">
                <a16:creationId xmlns:a16="http://schemas.microsoft.com/office/drawing/2014/main" id="{865EEFE0-A2B1-93DB-1EA1-52CBCED57FD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715432" y="0"/>
            <a:ext cx="5476567" cy="6857999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F6AC71-C419-3A86-A7EF-3DC72CCC0133}"/>
              </a:ext>
            </a:extLst>
          </p:cNvPr>
          <p:cNvSpPr txBox="1"/>
          <p:nvPr/>
        </p:nvSpPr>
        <p:spPr>
          <a:xfrm>
            <a:off x="704973" y="1536174"/>
            <a:ext cx="560438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Optimizing Hospital Capacity</a:t>
            </a:r>
          </a:p>
          <a:p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err="1"/>
              <a:t>Analyzes</a:t>
            </a:r>
            <a:r>
              <a:rPr lang="en-IN" sz="2400" dirty="0"/>
              <a:t> the utilization of available hospital resources.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Total beds by department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Bed utilization rate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Occupancy rate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Department-wise capacity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High and low resource utilization</a:t>
            </a:r>
          </a:p>
          <a:p>
            <a:pPr lvl="0"/>
            <a:endParaRPr lang="en-IN" sz="2400" dirty="0"/>
          </a:p>
          <a:p>
            <a:r>
              <a:rPr lang="en-IN" sz="2400" b="1" dirty="0"/>
              <a:t>Purpose:</a:t>
            </a:r>
            <a:r>
              <a:rPr lang="en-IN" sz="2400" dirty="0"/>
              <a:t> Support effective bed allocation and capacity planning.</a:t>
            </a:r>
          </a:p>
        </p:txBody>
      </p:sp>
    </p:spTree>
    <p:extLst>
      <p:ext uri="{BB962C8B-B14F-4D97-AF65-F5344CB8AC3E}">
        <p14:creationId xmlns:p14="http://schemas.microsoft.com/office/powerpoint/2010/main" val="3623444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  <a:noFill/>
        </p:spPr>
        <p:txBody>
          <a:bodyPr anchor="t" anchorCtr="0"/>
          <a:lstStyle/>
          <a:p>
            <a:r>
              <a:rPr lang="en-IN" dirty="0"/>
              <a:t>Future Scope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4EB7FF-5B84-36CF-8CCF-E43FEBD68C8D}"/>
              </a:ext>
            </a:extLst>
          </p:cNvPr>
          <p:cNvSpPr txBox="1"/>
          <p:nvPr/>
        </p:nvSpPr>
        <p:spPr>
          <a:xfrm>
            <a:off x="1280160" y="2133600"/>
            <a:ext cx="1007609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3600" dirty="0"/>
              <a:t>Add more hospital datasets and operational measures.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3600" dirty="0"/>
              <a:t>Improve dashboard filtering and navigation.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3600" dirty="0"/>
              <a:t>Refresh dashboards when updated data becomes available.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3600" dirty="0"/>
              <a:t>Extend the analysis with additional comparisons across departments or time periods.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50925"/>
            <a:ext cx="9820656" cy="914400"/>
          </a:xfrm>
          <a:noFill/>
        </p:spPr>
        <p:txBody>
          <a:bodyPr anchor="t" anchorCtr="0"/>
          <a:lstStyle/>
          <a:p>
            <a:r>
              <a:rPr lang="en-IN" dirty="0"/>
              <a:t>Conclusion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5CE58D-2739-522B-7C3A-6A7C98536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IN" dirty="0"/>
              <a:t>The project establishes a workflow for preparing hospital data and presenting it through dashboards.</a:t>
            </a:r>
          </a:p>
          <a:p>
            <a:pPr lvl="0"/>
            <a:r>
              <a:rPr lang="en-IN" dirty="0"/>
              <a:t>Python is used for data preparation and KPI generation.</a:t>
            </a:r>
          </a:p>
          <a:p>
            <a:pPr lvl="0"/>
            <a:r>
              <a:rPr lang="en-IN" dirty="0"/>
              <a:t>Power BI and Tableau are used to visualize the prepared data.</a:t>
            </a:r>
          </a:p>
          <a:p>
            <a:pPr lvl="0"/>
            <a:r>
              <a:rPr lang="en-IN" dirty="0"/>
              <a:t>The dashboards provide a consolidated way to explore hospital operations and patient-related measures.</a:t>
            </a:r>
          </a:p>
        </p:txBody>
      </p:sp>
      <p:pic>
        <p:nvPicPr>
          <p:cNvPr id="7" name="Content Placeholder 6" descr="Person using iPad">
            <a:extLst>
              <a:ext uri="{FF2B5EF4-FFF2-40B4-BE49-F238E27FC236}">
                <a16:creationId xmlns:a16="http://schemas.microsoft.com/office/drawing/2014/main" id="{5757A1DF-227F-C679-9D1F-A1D87A38197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30297" y="1592826"/>
            <a:ext cx="5142271" cy="4049631"/>
          </a:xfrm>
        </p:spPr>
      </p:pic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E39FA-84F2-3624-49D6-32B9E036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noFill/>
        </p:spPr>
        <p:txBody>
          <a:bodyPr bIns="0" anchor="ctr" anchorCtr="0"/>
          <a:lstStyle/>
          <a:p>
            <a:r>
              <a:rPr lang="en-US" dirty="0"/>
              <a:t>Thank you</a:t>
            </a:r>
          </a:p>
        </p:txBody>
      </p:sp>
      <p:pic>
        <p:nvPicPr>
          <p:cNvPr id="7" name="Picture Placeholder 25" descr="Bacteria cultured in a petri dish for a laboratory or a scientific investigation">
            <a:extLst>
              <a:ext uri="{FF2B5EF4-FFF2-40B4-BE49-F238E27FC236}">
                <a16:creationId xmlns:a16="http://schemas.microsoft.com/office/drawing/2014/main" id="{F46DA087-2662-0725-53F9-CF835D1DC8F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" r="74"/>
          <a:stretch/>
        </p:blipFill>
        <p:spPr>
          <a:xfrm>
            <a:off x="4953000" y="548640"/>
            <a:ext cx="2286000" cy="2286000"/>
          </a:xfrm>
        </p:spPr>
      </p:pic>
    </p:spTree>
    <p:extLst>
      <p:ext uri="{BB962C8B-B14F-4D97-AF65-F5344CB8AC3E}">
        <p14:creationId xmlns:p14="http://schemas.microsoft.com/office/powerpoint/2010/main" val="48752273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 discovery_V1_win32_EF_v4.potx" id="{C76E1CB0-558D-4FB9-AA8B-DAB0BFDB970A}" vid="{87D4F3E9-C3BB-413B-A87E-0B7BB674A5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881D8D6-8849-400B-8BC9-21D401C7DD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{B12BFF50-8996-4F5E-BDEE-62C3B530745F}TF51de1e5f-e0e8-4dd0-99f3-5b7584f7abdc7d30e886_win32-78d4aef5ad8e</Template>
  <TotalTime>76</TotalTime>
  <Words>525</Words>
  <Application>Microsoft Office PowerPoint</Application>
  <PresentationFormat>Widescreen</PresentationFormat>
  <Paragraphs>92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Courier New</vt:lpstr>
      <vt:lpstr>Daytona Condensed Light</vt:lpstr>
      <vt:lpstr>Felix Titling</vt:lpstr>
      <vt:lpstr>Posterama</vt:lpstr>
      <vt:lpstr>Custom</vt:lpstr>
      <vt:lpstr>Hospital Operations &amp; Patient Analytics Dashboard Infosys Springboard Virtual Internship 7.0 – Batch 2 </vt:lpstr>
      <vt:lpstr>PROBLEM STATEMENT</vt:lpstr>
      <vt:lpstr>Proposed solution </vt:lpstr>
      <vt:lpstr>Project overview</vt:lpstr>
      <vt:lpstr>METHODOLOGY</vt:lpstr>
      <vt:lpstr>Tools and Technologies</vt:lpstr>
      <vt:lpstr>Analysis and Dashboard Overview</vt:lpstr>
      <vt:lpstr>HOSPITAL OVERVIEW DASHBOARD</vt:lpstr>
      <vt:lpstr>Patient flow analysis</vt:lpstr>
      <vt:lpstr>DEPARTMENT ANALYTICS</vt:lpstr>
      <vt:lpstr>RESOURCE UTILIZATION</vt:lpstr>
      <vt:lpstr>Future Scope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Mythri L</dc:creator>
  <cp:lastModifiedBy>Mythri L</cp:lastModifiedBy>
  <cp:revision>3</cp:revision>
  <dcterms:created xsi:type="dcterms:W3CDTF">2026-09-16T06:56:07Z</dcterms:created>
  <dcterms:modified xsi:type="dcterms:W3CDTF">2026-09-16T08:56:04Z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