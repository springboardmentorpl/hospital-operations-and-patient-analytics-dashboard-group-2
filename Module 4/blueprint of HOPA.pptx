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11"/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0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82B9E"/>
          </a:solidFill>
          <a:ln>
            <a:solidFill>
              <a:srgbClr val="182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" y="36576"/>
            <a:ext cx="41148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HOSPITAL PATIENT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" y="347472"/>
            <a:ext cx="4389120" cy="1554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Hospital operations and patient analytics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54864"/>
            <a:ext cx="1325880" cy="384048"/>
          </a:xfrm>
          <a:prstGeom prst="roundRect">
            <a:avLst/>
          </a:prstGeom>
          <a:solidFill>
            <a:srgbClr val="1F1F1F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25312" y="100584"/>
            <a:ext cx="1271016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>
                <a:latin typeface="Aptos"/>
              </a:rPr>
              <a:t>Hospital Patient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54864"/>
            <a:ext cx="144475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34071" y="100584"/>
            <a:ext cx="138988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>
                <a:latin typeface="Aptos"/>
              </a:rPr>
              <a:t>Service Performance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15984" y="54864"/>
            <a:ext cx="15087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43415" y="100584"/>
            <a:ext cx="1453895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>
                <a:latin typeface="Aptos"/>
              </a:rPr>
              <a:t>Staff Management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33888" y="54864"/>
            <a:ext cx="15087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61319" y="100584"/>
            <a:ext cx="1453895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>
                <a:latin typeface="Aptos"/>
              </a:rPr>
              <a:t>Financial Overview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74352" y="932688"/>
            <a:ext cx="2359152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857232" y="1078992"/>
            <a:ext cx="1993392" cy="1207008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AAAF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48672" y="1481328"/>
            <a:ext cx="1810512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5F5F5F"/>
                </a:solidFill>
                <a:latin typeface="Aptos"/>
              </a:rPr>
              <a:t>HOSPITAL / PATIENT
IMAGE PLACEHOLDER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48672" y="2450592"/>
            <a:ext cx="1783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Admission Date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57232" y="2697480"/>
            <a:ext cx="19933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0" y="2734056"/>
            <a:ext cx="160020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5F5F5F"/>
                </a:solidFill>
                <a:latin typeface="Aptos"/>
              </a:rPr>
              <a:t>All                         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48672" y="3118104"/>
            <a:ext cx="1783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Department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57232" y="3364992"/>
            <a:ext cx="19933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60" y="3401568"/>
            <a:ext cx="160020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5F5F5F"/>
                </a:solidFill>
                <a:latin typeface="Aptos"/>
              </a:rPr>
              <a:t>All                         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48672" y="3785616"/>
            <a:ext cx="1783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Condition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57232" y="4032504"/>
            <a:ext cx="19933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0" y="4069080"/>
            <a:ext cx="160020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5F5F5F"/>
                </a:solidFill>
                <a:latin typeface="Aptos"/>
              </a:rPr>
              <a:t>All                         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48672" y="4453128"/>
            <a:ext cx="1783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Gender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57232" y="4700016"/>
            <a:ext cx="19933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60" y="4736592"/>
            <a:ext cx="160020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5F5F5F"/>
                </a:solidFill>
                <a:latin typeface="Aptos"/>
              </a:rPr>
              <a:t>All                         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48672" y="5120640"/>
            <a:ext cx="1783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Insurance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57232" y="5367528"/>
            <a:ext cx="19933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66960" y="5404104"/>
            <a:ext cx="160020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5F5F5F"/>
                </a:solidFill>
                <a:latin typeface="Aptos"/>
              </a:rPr>
              <a:t>All                         ▾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" y="749808"/>
            <a:ext cx="15727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" y="749808"/>
            <a:ext cx="64008" cy="713232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1168" y="804672"/>
            <a:ext cx="129844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Total Patients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168" y="1005840"/>
            <a:ext cx="1298448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  <a:latin typeface="Aptos"/>
              </a:rPr>
              <a:t>[KPI]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719072" y="749808"/>
            <a:ext cx="15727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719072" y="749808"/>
            <a:ext cx="64008" cy="713232"/>
          </a:xfrm>
          <a:prstGeom prst="rect">
            <a:avLst/>
          </a:prstGeom>
          <a:solidFill>
            <a:srgbClr val="EF6C3B"/>
          </a:solidFill>
          <a:ln>
            <a:solidFill>
              <a:srgbClr val="EF6C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47088" y="804672"/>
            <a:ext cx="129844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Admissions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47088" y="1005840"/>
            <a:ext cx="1298448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  <a:latin typeface="Aptos"/>
              </a:rPr>
              <a:t>[KPI]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64992" y="749808"/>
            <a:ext cx="15727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364992" y="749808"/>
            <a:ext cx="64008" cy="713232"/>
          </a:xfrm>
          <a:prstGeom prst="rect">
            <a:avLst/>
          </a:prstGeom>
          <a:solidFill>
            <a:srgbClr val="182B9E"/>
          </a:solidFill>
          <a:ln>
            <a:solidFill>
              <a:srgbClr val="182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93008" y="804672"/>
            <a:ext cx="129844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Avg LOS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93008" y="1005840"/>
            <a:ext cx="1298448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  <a:latin typeface="Aptos"/>
              </a:rPr>
              <a:t>[KPI]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10912" y="749808"/>
            <a:ext cx="15727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10912" y="749808"/>
            <a:ext cx="64008" cy="71323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38928" y="804672"/>
            <a:ext cx="129844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Bed Utilization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38928" y="1005840"/>
            <a:ext cx="1298448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  <a:latin typeface="Aptos"/>
              </a:rPr>
              <a:t>[KPI]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56832" y="749808"/>
            <a:ext cx="15727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56832" y="749808"/>
            <a:ext cx="64008" cy="713232"/>
          </a:xfrm>
          <a:prstGeom prst="rect">
            <a:avLst/>
          </a:prstGeom>
          <a:solidFill>
            <a:srgbClr val="BE3237"/>
          </a:solidFill>
          <a:ln>
            <a:solidFill>
              <a:srgbClr val="BE3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84848" y="804672"/>
            <a:ext cx="129844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Satisfaction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84848" y="1005840"/>
            <a:ext cx="1298448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  <a:latin typeface="Aptos"/>
              </a:rPr>
              <a:t>[KPI]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152" y="1627632"/>
            <a:ext cx="425196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64592" y="1700784"/>
            <a:ext cx="406908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Patient Admissions Trend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2024" y="2020824"/>
            <a:ext cx="4014216" cy="1371599"/>
          </a:xfrm>
          <a:prstGeom prst="rect">
            <a:avLst/>
          </a:prstGeom>
          <a:solidFill>
            <a:srgbClr val="FAFBFD"/>
          </a:solidFill>
          <a:ln w="12700"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192024" y="2363724"/>
            <a:ext cx="401421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92024" y="2706624"/>
            <a:ext cx="401421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92024" y="3049524"/>
            <a:ext cx="401421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92734" y="2596896"/>
            <a:ext cx="521848" cy="384048"/>
          </a:xfrm>
          <a:prstGeom prst="line">
            <a:avLst/>
          </a:prstGeom>
          <a:ln w="3175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14582" y="2596896"/>
            <a:ext cx="561991" cy="246888"/>
          </a:xfrm>
          <a:prstGeom prst="line">
            <a:avLst/>
          </a:prstGeom>
          <a:ln w="3175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1476573" y="2363724"/>
            <a:ext cx="561990" cy="480060"/>
          </a:xfrm>
          <a:prstGeom prst="line">
            <a:avLst/>
          </a:prstGeom>
          <a:ln w="3175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038563" y="2363724"/>
            <a:ext cx="561990" cy="315467"/>
          </a:xfrm>
          <a:prstGeom prst="line">
            <a:avLst/>
          </a:prstGeom>
          <a:ln w="3175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2600553" y="2459736"/>
            <a:ext cx="602133" cy="219455"/>
          </a:xfrm>
          <a:prstGeom prst="line">
            <a:avLst/>
          </a:prstGeom>
          <a:ln w="3175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202686" y="2459736"/>
            <a:ext cx="682416" cy="274320"/>
          </a:xfrm>
          <a:prstGeom prst="line">
            <a:avLst/>
          </a:prstGeom>
          <a:ln w="3175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182880" y="3291840"/>
            <a:ext cx="4032504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Visual: Line chart  •  patient volume over time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462272" y="1627632"/>
            <a:ext cx="48920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53712" y="1700784"/>
            <a:ext cx="4709159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Patient Distribution by Department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81144" y="2020824"/>
            <a:ext cx="4654296" cy="1371599"/>
          </a:xfrm>
          <a:prstGeom prst="rect">
            <a:avLst/>
          </a:prstGeom>
          <a:solidFill>
            <a:srgbClr val="FAFBFD"/>
          </a:solidFill>
          <a:ln w="12700"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4581144" y="2363724"/>
            <a:ext cx="465429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581144" y="2706624"/>
            <a:ext cx="465429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581144" y="3049524"/>
            <a:ext cx="465429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5046573" y="2912364"/>
            <a:ext cx="465429" cy="480059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837803" y="2775204"/>
            <a:ext cx="465429" cy="617219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629034" y="2638044"/>
            <a:ext cx="465429" cy="75438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420264" y="2912364"/>
            <a:ext cx="465429" cy="480059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211494" y="2775204"/>
            <a:ext cx="465429" cy="617219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72000" y="3291840"/>
            <a:ext cx="4672583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Visual: Bars chart  •  department comparison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3152" y="3675887"/>
            <a:ext cx="4251960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4592" y="3749039"/>
            <a:ext cx="406908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Condition / Diagnosis Mix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92024" y="4069079"/>
            <a:ext cx="4014216" cy="1984248"/>
          </a:xfrm>
          <a:prstGeom prst="rect">
            <a:avLst/>
          </a:prstGeom>
          <a:solidFill>
            <a:srgbClr val="FAFBFD"/>
          </a:solidFill>
          <a:ln w="12700"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192024" y="4565142"/>
            <a:ext cx="401421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92024" y="5061203"/>
            <a:ext cx="401421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92024" y="5557265"/>
            <a:ext cx="401421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1476573" y="4307189"/>
            <a:ext cx="1230233" cy="1230233"/>
          </a:xfrm>
          <a:prstGeom prst="ellipse">
            <a:avLst/>
          </a:prstGeom>
          <a:solidFill>
            <a:srgbClr val="7B1FA2"/>
          </a:solidFill>
          <a:ln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918136" y="4525457"/>
            <a:ext cx="793699" cy="793699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757568" y="4902464"/>
            <a:ext cx="168597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5F5F5F"/>
                </a:solidFill>
                <a:latin typeface="Aptos"/>
              </a:rPr>
              <a:t>KPI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952744"/>
            <a:ext cx="4032504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Visual: Donut chart  •  patient distribution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462272" y="3675887"/>
            <a:ext cx="4892040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553712" y="3749039"/>
            <a:ext cx="4709159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Operational Performance Scorecard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581144" y="4069079"/>
            <a:ext cx="4654296" cy="1984248"/>
          </a:xfrm>
          <a:prstGeom prst="rect">
            <a:avLst/>
          </a:prstGeom>
          <a:solidFill>
            <a:srgbClr val="FAFBFD"/>
          </a:solidFill>
          <a:ln w="12700"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4581144" y="4565142"/>
            <a:ext cx="465429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581144" y="5061203"/>
            <a:ext cx="465429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4581144" y="5557265"/>
            <a:ext cx="465429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ectangle 91"/>
          <p:cNvSpPr/>
          <p:nvPr/>
        </p:nvSpPr>
        <p:spPr>
          <a:xfrm>
            <a:off x="4581144" y="4069079"/>
            <a:ext cx="655755" cy="486918"/>
          </a:xfrm>
          <a:prstGeom prst="rect">
            <a:avLst/>
          </a:prstGeom>
          <a:solidFill>
            <a:srgbClr val="ECF3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5246043" y="4069079"/>
            <a:ext cx="655755" cy="486918"/>
          </a:xfrm>
          <a:prstGeom prst="rect">
            <a:avLst/>
          </a:prstGeom>
          <a:solidFill>
            <a:srgbClr val="BED7F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5910942" y="4069079"/>
            <a:ext cx="655755" cy="486918"/>
          </a:xfrm>
          <a:prstGeom prst="rect">
            <a:avLst/>
          </a:prstGeom>
          <a:solidFill>
            <a:srgbClr val="78AA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575842" y="4069079"/>
            <a:ext cx="655755" cy="486918"/>
          </a:xfrm>
          <a:prstGeom prst="rect">
            <a:avLst/>
          </a:prstGeom>
          <a:solidFill>
            <a:srgbClr val="417DD7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240741" y="4069079"/>
            <a:ext cx="655755" cy="486918"/>
          </a:xfrm>
          <a:prstGeom prst="rect">
            <a:avLst/>
          </a:prstGeom>
          <a:solidFill>
            <a:srgbClr val="ECF3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905641" y="4069079"/>
            <a:ext cx="655755" cy="486918"/>
          </a:xfrm>
          <a:prstGeom prst="rect">
            <a:avLst/>
          </a:prstGeom>
          <a:solidFill>
            <a:srgbClr val="BED7F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570540" y="4069079"/>
            <a:ext cx="655755" cy="486918"/>
          </a:xfrm>
          <a:prstGeom prst="rect">
            <a:avLst/>
          </a:prstGeom>
          <a:solidFill>
            <a:srgbClr val="78AA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4581144" y="4565142"/>
            <a:ext cx="655755" cy="486918"/>
          </a:xfrm>
          <a:prstGeom prst="rect">
            <a:avLst/>
          </a:prstGeom>
          <a:solidFill>
            <a:srgbClr val="BED7F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5246043" y="4565142"/>
            <a:ext cx="655755" cy="486918"/>
          </a:xfrm>
          <a:prstGeom prst="rect">
            <a:avLst/>
          </a:prstGeom>
          <a:solidFill>
            <a:srgbClr val="78AA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5910942" y="4565142"/>
            <a:ext cx="655755" cy="486918"/>
          </a:xfrm>
          <a:prstGeom prst="rect">
            <a:avLst/>
          </a:prstGeom>
          <a:solidFill>
            <a:srgbClr val="417DD7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575842" y="4565142"/>
            <a:ext cx="655755" cy="486918"/>
          </a:xfrm>
          <a:prstGeom prst="rect">
            <a:avLst/>
          </a:prstGeom>
          <a:solidFill>
            <a:srgbClr val="ECF3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7240741" y="4565142"/>
            <a:ext cx="655755" cy="486918"/>
          </a:xfrm>
          <a:prstGeom prst="rect">
            <a:avLst/>
          </a:prstGeom>
          <a:solidFill>
            <a:srgbClr val="BED7F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7905641" y="4565142"/>
            <a:ext cx="655755" cy="486918"/>
          </a:xfrm>
          <a:prstGeom prst="rect">
            <a:avLst/>
          </a:prstGeom>
          <a:solidFill>
            <a:srgbClr val="78AA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570540" y="4565142"/>
            <a:ext cx="655755" cy="486918"/>
          </a:xfrm>
          <a:prstGeom prst="rect">
            <a:avLst/>
          </a:prstGeom>
          <a:solidFill>
            <a:srgbClr val="417DD7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4581144" y="5061203"/>
            <a:ext cx="655755" cy="486918"/>
          </a:xfrm>
          <a:prstGeom prst="rect">
            <a:avLst/>
          </a:prstGeom>
          <a:solidFill>
            <a:srgbClr val="78AA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5246043" y="5061203"/>
            <a:ext cx="655755" cy="486918"/>
          </a:xfrm>
          <a:prstGeom prst="rect">
            <a:avLst/>
          </a:prstGeom>
          <a:solidFill>
            <a:srgbClr val="417DD7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5910942" y="5061203"/>
            <a:ext cx="655755" cy="486918"/>
          </a:xfrm>
          <a:prstGeom prst="rect">
            <a:avLst/>
          </a:prstGeom>
          <a:solidFill>
            <a:srgbClr val="ECF3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6575842" y="5061203"/>
            <a:ext cx="655755" cy="486918"/>
          </a:xfrm>
          <a:prstGeom prst="rect">
            <a:avLst/>
          </a:prstGeom>
          <a:solidFill>
            <a:srgbClr val="BED7F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7240741" y="5061203"/>
            <a:ext cx="655755" cy="486918"/>
          </a:xfrm>
          <a:prstGeom prst="rect">
            <a:avLst/>
          </a:prstGeom>
          <a:solidFill>
            <a:srgbClr val="78AA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7905641" y="5061203"/>
            <a:ext cx="655755" cy="486918"/>
          </a:xfrm>
          <a:prstGeom prst="rect">
            <a:avLst/>
          </a:prstGeom>
          <a:solidFill>
            <a:srgbClr val="417DD7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8570540" y="5061203"/>
            <a:ext cx="655755" cy="486918"/>
          </a:xfrm>
          <a:prstGeom prst="rect">
            <a:avLst/>
          </a:prstGeom>
          <a:solidFill>
            <a:srgbClr val="ECF3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4581144" y="5557265"/>
            <a:ext cx="655755" cy="486918"/>
          </a:xfrm>
          <a:prstGeom prst="rect">
            <a:avLst/>
          </a:prstGeom>
          <a:solidFill>
            <a:srgbClr val="417DD7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5246043" y="5557265"/>
            <a:ext cx="655755" cy="486918"/>
          </a:xfrm>
          <a:prstGeom prst="rect">
            <a:avLst/>
          </a:prstGeom>
          <a:solidFill>
            <a:srgbClr val="ECF3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910942" y="5557265"/>
            <a:ext cx="655755" cy="486918"/>
          </a:xfrm>
          <a:prstGeom prst="rect">
            <a:avLst/>
          </a:prstGeom>
          <a:solidFill>
            <a:srgbClr val="BED7F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6575842" y="5557265"/>
            <a:ext cx="655755" cy="486918"/>
          </a:xfrm>
          <a:prstGeom prst="rect">
            <a:avLst/>
          </a:prstGeom>
          <a:solidFill>
            <a:srgbClr val="78AA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7240741" y="5557265"/>
            <a:ext cx="655755" cy="486918"/>
          </a:xfrm>
          <a:prstGeom prst="rect">
            <a:avLst/>
          </a:prstGeom>
          <a:solidFill>
            <a:srgbClr val="417DD7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7905641" y="5557265"/>
            <a:ext cx="655755" cy="486918"/>
          </a:xfrm>
          <a:prstGeom prst="rect">
            <a:avLst/>
          </a:prstGeom>
          <a:solidFill>
            <a:srgbClr val="ECF3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570540" y="5557265"/>
            <a:ext cx="655755" cy="486918"/>
          </a:xfrm>
          <a:prstGeom prst="rect">
            <a:avLst/>
          </a:prstGeom>
          <a:solidFill>
            <a:srgbClr val="BED7F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572000" y="5952744"/>
            <a:ext cx="4672583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Visual: Matrix chart  •  KPI monitoring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37160" y="6556248"/>
            <a:ext cx="54864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50" b="0">
                <a:solidFill>
                  <a:srgbClr val="5F5F5F"/>
                </a:solidFill>
                <a:latin typeface="Aptos"/>
              </a:rPr>
              <a:t>POWER BI WIREFRAME • STRUCTURE ONLY • VALUES/CHARTS TO BE CONNECTED TO DATA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1384280" y="6556248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00" b="1">
                <a:solidFill>
                  <a:srgbClr val="5F5F5F"/>
                </a:solidFill>
                <a:latin typeface="Aptos"/>
              </a:rPr>
              <a:t>1/4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0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82B9E"/>
          </a:solidFill>
          <a:ln>
            <a:solidFill>
              <a:srgbClr val="182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" y="36576"/>
            <a:ext cx="41148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SERVICE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" y="347472"/>
            <a:ext cx="4389120" cy="1554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Service-level performance and operational efficiency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54864"/>
            <a:ext cx="13258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25312" y="100584"/>
            <a:ext cx="1271016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>
                <a:latin typeface="Aptos"/>
              </a:rPr>
              <a:t>Hospital Patient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54864"/>
            <a:ext cx="1444752" cy="384048"/>
          </a:xfrm>
          <a:prstGeom prst="roundRect">
            <a:avLst/>
          </a:prstGeom>
          <a:solidFill>
            <a:srgbClr val="1F1F1F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34071" y="100584"/>
            <a:ext cx="138988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>
                <a:latin typeface="Aptos"/>
              </a:rPr>
              <a:t>Service Performance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15984" y="54864"/>
            <a:ext cx="15087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43415" y="100584"/>
            <a:ext cx="1453895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>
                <a:latin typeface="Aptos"/>
              </a:rPr>
              <a:t>Staff Management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33888" y="54864"/>
            <a:ext cx="15087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61319" y="100584"/>
            <a:ext cx="1453895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>
                <a:latin typeface="Aptos"/>
              </a:rPr>
              <a:t>Financial Overview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74352" y="932688"/>
            <a:ext cx="2359152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857232" y="1078992"/>
            <a:ext cx="1993392" cy="1207008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AAAF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48672" y="1481328"/>
            <a:ext cx="1810512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5F5F5F"/>
                </a:solidFill>
                <a:latin typeface="Aptos"/>
              </a:rPr>
              <a:t>HOSPITAL / PATIENT
IMAGE PLACEHOLDER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48672" y="2450592"/>
            <a:ext cx="1783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Month / Year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57232" y="2697480"/>
            <a:ext cx="19933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0" y="2734056"/>
            <a:ext cx="160020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5F5F5F"/>
                </a:solidFill>
                <a:latin typeface="Aptos"/>
              </a:rPr>
              <a:t>All                         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48672" y="3118104"/>
            <a:ext cx="1783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Service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57232" y="3364992"/>
            <a:ext cx="19933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60" y="3401568"/>
            <a:ext cx="160020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5F5F5F"/>
                </a:solidFill>
                <a:latin typeface="Aptos"/>
              </a:rPr>
              <a:t>All                         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48672" y="3785616"/>
            <a:ext cx="1783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Department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57232" y="4032504"/>
            <a:ext cx="19933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0" y="4069080"/>
            <a:ext cx="160020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5F5F5F"/>
                </a:solidFill>
                <a:latin typeface="Aptos"/>
              </a:rPr>
              <a:t>All                         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48672" y="4453128"/>
            <a:ext cx="1783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Patient Type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57232" y="4700016"/>
            <a:ext cx="19933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60" y="4736592"/>
            <a:ext cx="160020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5F5F5F"/>
                </a:solidFill>
                <a:latin typeface="Aptos"/>
              </a:rPr>
              <a:t>All                         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48672" y="5120640"/>
            <a:ext cx="1783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Outcome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57232" y="5367528"/>
            <a:ext cx="19933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66960" y="5404104"/>
            <a:ext cx="160020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5F5F5F"/>
                </a:solidFill>
                <a:latin typeface="Aptos"/>
              </a:rPr>
              <a:t>All                         ▾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" y="749808"/>
            <a:ext cx="15727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" y="749808"/>
            <a:ext cx="64008" cy="713232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1168" y="804672"/>
            <a:ext cx="129844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Total Requests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168" y="1005840"/>
            <a:ext cx="1298448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  <a:latin typeface="Aptos"/>
              </a:rPr>
              <a:t>[KPI]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719072" y="749808"/>
            <a:ext cx="15727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719072" y="749808"/>
            <a:ext cx="64008" cy="713232"/>
          </a:xfrm>
          <a:prstGeom prst="rect">
            <a:avLst/>
          </a:prstGeom>
          <a:solidFill>
            <a:srgbClr val="BE3237"/>
          </a:solidFill>
          <a:ln>
            <a:solidFill>
              <a:srgbClr val="BE3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47088" y="804672"/>
            <a:ext cx="129844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Admitted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47088" y="1005840"/>
            <a:ext cx="1298448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  <a:latin typeface="Aptos"/>
              </a:rPr>
              <a:t>[KPI]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64992" y="749808"/>
            <a:ext cx="15727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364992" y="749808"/>
            <a:ext cx="64008" cy="71323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93008" y="804672"/>
            <a:ext cx="129844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Refused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93008" y="1005840"/>
            <a:ext cx="1298448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  <a:latin typeface="Aptos"/>
              </a:rPr>
              <a:t>[KPI]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10912" y="749808"/>
            <a:ext cx="15727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10912" y="749808"/>
            <a:ext cx="64008" cy="713232"/>
          </a:xfrm>
          <a:prstGeom prst="rect">
            <a:avLst/>
          </a:prstGeom>
          <a:solidFill>
            <a:srgbClr val="EF6C3B"/>
          </a:solidFill>
          <a:ln>
            <a:solidFill>
              <a:srgbClr val="EF6C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38928" y="804672"/>
            <a:ext cx="129844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Avg Wait Time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38928" y="1005840"/>
            <a:ext cx="1298448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  <a:latin typeface="Aptos"/>
              </a:rPr>
              <a:t>[KPI]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56832" y="749808"/>
            <a:ext cx="15727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56832" y="749808"/>
            <a:ext cx="64008" cy="713232"/>
          </a:xfrm>
          <a:prstGeom prst="rect">
            <a:avLst/>
          </a:prstGeom>
          <a:solidFill>
            <a:srgbClr val="182B9E"/>
          </a:solidFill>
          <a:ln>
            <a:solidFill>
              <a:srgbClr val="182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84848" y="804672"/>
            <a:ext cx="129844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Service Satisfaction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84848" y="1005840"/>
            <a:ext cx="1298448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  <a:latin typeface="Aptos"/>
              </a:rPr>
              <a:t>[KPI]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152" y="1627632"/>
            <a:ext cx="29718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64592" y="1700784"/>
            <a:ext cx="278892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Service Demand Trend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2024" y="2020824"/>
            <a:ext cx="2734056" cy="1417320"/>
          </a:xfrm>
          <a:prstGeom prst="rect">
            <a:avLst/>
          </a:prstGeom>
          <a:solidFill>
            <a:srgbClr val="FAFBFD"/>
          </a:solidFill>
          <a:ln w="12700"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192024" y="2375154"/>
            <a:ext cx="273405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92024" y="2729484"/>
            <a:ext cx="273405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92024" y="3083814"/>
            <a:ext cx="273405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465429" y="2942082"/>
            <a:ext cx="273405" cy="496062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30219" y="2800350"/>
            <a:ext cx="273405" cy="637793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395008" y="2658618"/>
            <a:ext cx="273405" cy="779526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859798" y="2942082"/>
            <a:ext cx="273405" cy="496062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324587" y="2800350"/>
            <a:ext cx="273405" cy="637793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82880" y="3337560"/>
            <a:ext cx="2752344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Visual: Line chart  •  service demand over time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182112" y="1627632"/>
            <a:ext cx="29718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73552" y="1700784"/>
            <a:ext cx="278892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Admission Conversion by Service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300984" y="2020824"/>
            <a:ext cx="2734056" cy="1417320"/>
          </a:xfrm>
          <a:prstGeom prst="rect">
            <a:avLst/>
          </a:prstGeom>
          <a:solidFill>
            <a:srgbClr val="FAFBFD"/>
          </a:solidFill>
          <a:ln w="12700"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>
            <a:off x="3300984" y="2375154"/>
            <a:ext cx="273405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3300984" y="2729484"/>
            <a:ext cx="273405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3300984" y="3083814"/>
            <a:ext cx="273405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3465027" y="2130552"/>
            <a:ext cx="2405969" cy="226771"/>
          </a:xfrm>
          <a:prstGeom prst="rect">
            <a:avLst/>
          </a:prstGeom>
          <a:solidFill>
            <a:srgbClr val="7B1FA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465027" y="2130552"/>
            <a:ext cx="2405969" cy="22677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Requests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738432" y="2484882"/>
            <a:ext cx="1859158" cy="226771"/>
          </a:xfrm>
          <a:prstGeom prst="rect">
            <a:avLst/>
          </a:prstGeom>
          <a:solidFill>
            <a:srgbClr val="505F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738432" y="2484882"/>
            <a:ext cx="1859158" cy="22677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Admitted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011838" y="2839212"/>
            <a:ext cx="1312346" cy="226771"/>
          </a:xfrm>
          <a:prstGeom prst="rect">
            <a:avLst/>
          </a:prstGeom>
          <a:solidFill>
            <a:srgbClr val="505F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011838" y="2839212"/>
            <a:ext cx="1312346" cy="22677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Refused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291840" y="3337560"/>
            <a:ext cx="2752344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Visual: Bars chart  •  service comparison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291072" y="1627632"/>
            <a:ext cx="30632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82512" y="1700784"/>
            <a:ext cx="288036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Service Performance / Outcome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409944" y="2020824"/>
            <a:ext cx="2825496" cy="1417320"/>
          </a:xfrm>
          <a:prstGeom prst="rect">
            <a:avLst/>
          </a:prstGeom>
          <a:solidFill>
            <a:srgbClr val="FAFBFD"/>
          </a:solidFill>
          <a:ln w="12700"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6409944" y="2375154"/>
            <a:ext cx="282549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6409944" y="2729484"/>
            <a:ext cx="282549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6409944" y="3083814"/>
            <a:ext cx="282549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6551218" y="2616098"/>
            <a:ext cx="367315" cy="396850"/>
          </a:xfrm>
          <a:prstGeom prst="line">
            <a:avLst/>
          </a:prstGeom>
          <a:ln w="31750">
            <a:solidFill>
              <a:srgbClr val="182B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6918533" y="2616098"/>
            <a:ext cx="395569" cy="255117"/>
          </a:xfrm>
          <a:prstGeom prst="line">
            <a:avLst/>
          </a:prstGeom>
          <a:ln w="31750">
            <a:solidFill>
              <a:srgbClr val="182B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7314102" y="2375154"/>
            <a:ext cx="395570" cy="496061"/>
          </a:xfrm>
          <a:prstGeom prst="line">
            <a:avLst/>
          </a:prstGeom>
          <a:ln w="31750">
            <a:solidFill>
              <a:srgbClr val="182B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7709672" y="2375154"/>
            <a:ext cx="395569" cy="325983"/>
          </a:xfrm>
          <a:prstGeom prst="line">
            <a:avLst/>
          </a:prstGeom>
          <a:ln w="31750">
            <a:solidFill>
              <a:srgbClr val="182B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8105241" y="2474366"/>
            <a:ext cx="423825" cy="226771"/>
          </a:xfrm>
          <a:prstGeom prst="line">
            <a:avLst/>
          </a:prstGeom>
          <a:ln w="31750">
            <a:solidFill>
              <a:srgbClr val="182B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529066" y="2474366"/>
            <a:ext cx="480334" cy="283464"/>
          </a:xfrm>
          <a:prstGeom prst="line">
            <a:avLst/>
          </a:prstGeom>
          <a:ln w="31750">
            <a:solidFill>
              <a:srgbClr val="182B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6400800" y="3337560"/>
            <a:ext cx="2843784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Visual: Funnel chart  •  request-to-admission flow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3152" y="3703320"/>
            <a:ext cx="4251960" cy="24597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64592" y="3776472"/>
            <a:ext cx="406908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Service Scorecard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92024" y="4096511"/>
            <a:ext cx="4014216" cy="1956815"/>
          </a:xfrm>
          <a:prstGeom prst="rect">
            <a:avLst/>
          </a:prstGeom>
          <a:solidFill>
            <a:srgbClr val="FAFBFD"/>
          </a:solidFill>
          <a:ln w="12700"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" name="Connector 91"/>
          <p:cNvCxnSpPr/>
          <p:nvPr/>
        </p:nvCxnSpPr>
        <p:spPr>
          <a:xfrm>
            <a:off x="192024" y="4585716"/>
            <a:ext cx="401421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192024" y="5074919"/>
            <a:ext cx="401421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192024" y="5564123"/>
            <a:ext cx="401421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Oval 94"/>
          <p:cNvSpPr/>
          <p:nvPr/>
        </p:nvSpPr>
        <p:spPr>
          <a:xfrm>
            <a:off x="859718" y="5411419"/>
            <a:ext cx="109728" cy="109728"/>
          </a:xfrm>
          <a:prstGeom prst="ellipse">
            <a:avLst/>
          </a:prstGeom>
          <a:solidFill>
            <a:srgbClr val="2196F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421709" y="5117896"/>
            <a:ext cx="109728" cy="109728"/>
          </a:xfrm>
          <a:prstGeom prst="ellipse">
            <a:avLst/>
          </a:prstGeom>
          <a:solidFill>
            <a:srgbClr val="2196F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2144268" y="5215737"/>
            <a:ext cx="109728" cy="109728"/>
          </a:xfrm>
          <a:prstGeom prst="ellipse">
            <a:avLst/>
          </a:prstGeom>
          <a:solidFill>
            <a:srgbClr val="2196F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2746400" y="4726533"/>
            <a:ext cx="109728" cy="109728"/>
          </a:xfrm>
          <a:prstGeom prst="ellipse">
            <a:avLst/>
          </a:prstGeom>
          <a:solidFill>
            <a:srgbClr val="2196F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3428817" y="4922215"/>
            <a:ext cx="109728" cy="109728"/>
          </a:xfrm>
          <a:prstGeom prst="ellipse">
            <a:avLst/>
          </a:prstGeom>
          <a:solidFill>
            <a:srgbClr val="2196F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82880" y="5952744"/>
            <a:ext cx="4032504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Visual: Matrix chart  •  current performance vs KPI status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4462272" y="3703320"/>
            <a:ext cx="4892040" cy="24597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553712" y="3776472"/>
            <a:ext cx="4709159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F1F1F"/>
                </a:solidFill>
                <a:latin typeface="Aptos"/>
              </a:rPr>
              <a:t>Age vs Satisfaction / Cost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581144" y="4096511"/>
            <a:ext cx="4654296" cy="1956815"/>
          </a:xfrm>
          <a:prstGeom prst="rect">
            <a:avLst/>
          </a:prstGeom>
          <a:solidFill>
            <a:srgbClr val="FAFBFD"/>
          </a:solidFill>
          <a:ln w="12700"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4" name="Connector 103"/>
          <p:cNvCxnSpPr/>
          <p:nvPr/>
        </p:nvCxnSpPr>
        <p:spPr>
          <a:xfrm>
            <a:off x="4581144" y="4585716"/>
            <a:ext cx="465429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4581144" y="5074919"/>
            <a:ext cx="465429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4581144" y="5564123"/>
            <a:ext cx="465429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Oval 106"/>
          <p:cNvSpPr/>
          <p:nvPr/>
        </p:nvSpPr>
        <p:spPr>
          <a:xfrm>
            <a:off x="5364053" y="5411419"/>
            <a:ext cx="109728" cy="109728"/>
          </a:xfrm>
          <a:prstGeom prst="ellipse">
            <a:avLst/>
          </a:prstGeom>
          <a:solidFill>
            <a:srgbClr val="2E7D3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6015654" y="5117896"/>
            <a:ext cx="109728" cy="109728"/>
          </a:xfrm>
          <a:prstGeom prst="ellipse">
            <a:avLst/>
          </a:prstGeom>
          <a:solidFill>
            <a:srgbClr val="2E7D3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6853428" y="5215737"/>
            <a:ext cx="109728" cy="109728"/>
          </a:xfrm>
          <a:prstGeom prst="ellipse">
            <a:avLst/>
          </a:prstGeom>
          <a:solidFill>
            <a:srgbClr val="2E7D3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7551572" y="4726533"/>
            <a:ext cx="109728" cy="109728"/>
          </a:xfrm>
          <a:prstGeom prst="ellipse">
            <a:avLst/>
          </a:prstGeom>
          <a:solidFill>
            <a:srgbClr val="2E7D3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8342802" y="4922215"/>
            <a:ext cx="109728" cy="109728"/>
          </a:xfrm>
          <a:prstGeom prst="ellipse">
            <a:avLst/>
          </a:prstGeom>
          <a:solidFill>
            <a:srgbClr val="2E7D3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572000" y="5952744"/>
            <a:ext cx="4672583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80" b="0">
                <a:solidFill>
                  <a:srgbClr val="5F5F5F"/>
                </a:solidFill>
                <a:latin typeface="Aptos"/>
              </a:rPr>
              <a:t>Visual: Scatter chart  •  patient segment analysis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37160" y="6556248"/>
            <a:ext cx="54864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50" b="0">
                <a:solidFill>
                  <a:srgbClr val="5F5F5F"/>
                </a:solidFill>
                <a:latin typeface="Aptos"/>
              </a:rPr>
              <a:t>POWER BI WIREFRAME • STRUCTURE ONLY • VALUES/CHARTS TO BE CONNECTED TO DATA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1384280" y="6556248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00" b="1">
                <a:solidFill>
                  <a:srgbClr val="5F5F5F"/>
                </a:solidFill>
                <a:latin typeface="Aptos"/>
              </a:rPr>
              <a:t>2/4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0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82B9E"/>
          </a:solidFill>
          <a:ln>
            <a:solidFill>
              <a:srgbClr val="182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" y="36576"/>
            <a:ext cx="41148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STAFF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" y="347472"/>
            <a:ext cx="4389120" cy="1554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Workforce utilization, staffing performance and resource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54864"/>
            <a:ext cx="13258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25312" y="100584"/>
            <a:ext cx="1271016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>
                <a:latin typeface="Aptos"/>
              </a:rPr>
              <a:t>Hospital Patient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54864"/>
            <a:ext cx="144475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34071" y="100584"/>
            <a:ext cx="138988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>
                <a:latin typeface="Aptos"/>
              </a:rPr>
              <a:t>Service Performance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15984" y="54864"/>
            <a:ext cx="1508760" cy="384048"/>
          </a:xfrm>
          <a:prstGeom prst="roundRect">
            <a:avLst/>
          </a:prstGeom>
          <a:solidFill>
            <a:srgbClr val="1F1F1F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43415" y="100584"/>
            <a:ext cx="1453895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>
                <a:latin typeface="Aptos"/>
              </a:rPr>
              <a:t>Staff Management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33888" y="54864"/>
            <a:ext cx="15087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61319" y="100584"/>
            <a:ext cx="1453895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>
                <a:latin typeface="Aptos"/>
              </a:rPr>
              <a:t>Financial Overview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74352" y="932688"/>
            <a:ext cx="2359152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857232" y="1078992"/>
            <a:ext cx="1993392" cy="1207008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AAAF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48672" y="1481328"/>
            <a:ext cx="1810512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5F5F5F"/>
                </a:solidFill>
                <a:latin typeface="Aptos"/>
              </a:rPr>
              <a:t>HOSPITAL / PATIENT
IMAGE PLACEHOLDER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48672" y="2450592"/>
            <a:ext cx="1783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Month / Year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57232" y="2697480"/>
            <a:ext cx="19933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0" y="2734056"/>
            <a:ext cx="160020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5F5F5F"/>
                </a:solidFill>
                <a:latin typeface="Aptos"/>
              </a:rPr>
              <a:t>All                         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48672" y="3118104"/>
            <a:ext cx="1783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Department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57232" y="3364992"/>
            <a:ext cx="19933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60" y="3401568"/>
            <a:ext cx="160020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5F5F5F"/>
                </a:solidFill>
                <a:latin typeface="Aptos"/>
              </a:rPr>
              <a:t>All                         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48672" y="3785616"/>
            <a:ext cx="1783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Staff Role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57232" y="4032504"/>
            <a:ext cx="19933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0" y="4069080"/>
            <a:ext cx="160020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5F5F5F"/>
                </a:solidFill>
                <a:latin typeface="Aptos"/>
              </a:rPr>
              <a:t>All                         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48672" y="4453128"/>
            <a:ext cx="1783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Shift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57232" y="4700016"/>
            <a:ext cx="19933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60" y="4736592"/>
            <a:ext cx="160020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5F5F5F"/>
                </a:solidFill>
                <a:latin typeface="Aptos"/>
              </a:rPr>
              <a:t>All                         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48672" y="5120640"/>
            <a:ext cx="1783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Service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57232" y="5367528"/>
            <a:ext cx="19933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66960" y="5404104"/>
            <a:ext cx="160020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5F5F5F"/>
                </a:solidFill>
                <a:latin typeface="Aptos"/>
              </a:rPr>
              <a:t>All                         ▾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" y="749808"/>
            <a:ext cx="15727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" y="749808"/>
            <a:ext cx="64008" cy="713232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1168" y="804672"/>
            <a:ext cx="129844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Total Staff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168" y="1005840"/>
            <a:ext cx="1298448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  <a:latin typeface="Aptos"/>
              </a:rPr>
              <a:t>[KPI]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719072" y="749808"/>
            <a:ext cx="15727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719072" y="749808"/>
            <a:ext cx="64008" cy="71323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47088" y="804672"/>
            <a:ext cx="129844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Avg Attendance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47088" y="1005840"/>
            <a:ext cx="1298448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  <a:latin typeface="Aptos"/>
              </a:rPr>
              <a:t>[KPI]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64992" y="749808"/>
            <a:ext cx="15727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364992" y="749808"/>
            <a:ext cx="64008" cy="713232"/>
          </a:xfrm>
          <a:prstGeom prst="rect">
            <a:avLst/>
          </a:prstGeom>
          <a:solidFill>
            <a:srgbClr val="BE3237"/>
          </a:solidFill>
          <a:ln>
            <a:solidFill>
              <a:srgbClr val="BE3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93008" y="804672"/>
            <a:ext cx="129844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Staff Utilization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93008" y="1005840"/>
            <a:ext cx="1298448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  <a:latin typeface="Aptos"/>
              </a:rPr>
              <a:t>[KPI]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10912" y="749808"/>
            <a:ext cx="15727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10912" y="749808"/>
            <a:ext cx="64008" cy="713232"/>
          </a:xfrm>
          <a:prstGeom prst="rect">
            <a:avLst/>
          </a:prstGeom>
          <a:solidFill>
            <a:srgbClr val="182B9E"/>
          </a:solidFill>
          <a:ln>
            <a:solidFill>
              <a:srgbClr val="182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38928" y="804672"/>
            <a:ext cx="129844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Avg Workload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38928" y="1005840"/>
            <a:ext cx="1298448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  <a:latin typeface="Aptos"/>
              </a:rPr>
              <a:t>[KPI]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56832" y="749808"/>
            <a:ext cx="15727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56832" y="749808"/>
            <a:ext cx="64008" cy="71323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84848" y="804672"/>
            <a:ext cx="129844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Staff Satisfaction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84848" y="1005840"/>
            <a:ext cx="1298448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  <a:latin typeface="Aptos"/>
              </a:rPr>
              <a:t>[KPI]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152" y="1627632"/>
            <a:ext cx="425196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64592" y="1700784"/>
            <a:ext cx="406908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Staff Attendance Trend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2024" y="2020824"/>
            <a:ext cx="4014216" cy="1371599"/>
          </a:xfrm>
          <a:prstGeom prst="rect">
            <a:avLst/>
          </a:prstGeom>
          <a:solidFill>
            <a:srgbClr val="FAFBFD"/>
          </a:solidFill>
          <a:ln w="12700"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192024" y="2363724"/>
            <a:ext cx="401421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92024" y="2706624"/>
            <a:ext cx="401421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92024" y="3049524"/>
            <a:ext cx="401421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92734" y="2596896"/>
            <a:ext cx="521848" cy="384048"/>
          </a:xfrm>
          <a:prstGeom prst="line">
            <a:avLst/>
          </a:prstGeom>
          <a:ln w="3175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14582" y="2596896"/>
            <a:ext cx="561991" cy="246888"/>
          </a:xfrm>
          <a:prstGeom prst="line">
            <a:avLst/>
          </a:prstGeom>
          <a:ln w="3175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1476573" y="2363724"/>
            <a:ext cx="561990" cy="480060"/>
          </a:xfrm>
          <a:prstGeom prst="line">
            <a:avLst/>
          </a:prstGeom>
          <a:ln w="3175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038563" y="2363724"/>
            <a:ext cx="561990" cy="315467"/>
          </a:xfrm>
          <a:prstGeom prst="line">
            <a:avLst/>
          </a:prstGeom>
          <a:ln w="3175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2600553" y="2459736"/>
            <a:ext cx="602133" cy="219455"/>
          </a:xfrm>
          <a:prstGeom prst="line">
            <a:avLst/>
          </a:prstGeom>
          <a:ln w="3175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202686" y="2459736"/>
            <a:ext cx="682416" cy="274320"/>
          </a:xfrm>
          <a:prstGeom prst="line">
            <a:avLst/>
          </a:prstGeom>
          <a:ln w="3175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182880" y="3291840"/>
            <a:ext cx="4032504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Visual: Line chart  •  attendance over time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462272" y="1627632"/>
            <a:ext cx="48920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53712" y="1700784"/>
            <a:ext cx="4709159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Staff Distribution by Department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81144" y="2020824"/>
            <a:ext cx="4654296" cy="1371599"/>
          </a:xfrm>
          <a:prstGeom prst="rect">
            <a:avLst/>
          </a:prstGeom>
          <a:solidFill>
            <a:srgbClr val="FAFBFD"/>
          </a:solidFill>
          <a:ln w="12700"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4581144" y="2363724"/>
            <a:ext cx="465429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581144" y="2706624"/>
            <a:ext cx="465429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581144" y="3049524"/>
            <a:ext cx="465429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5046573" y="2912364"/>
            <a:ext cx="465429" cy="480059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837803" y="2775204"/>
            <a:ext cx="465429" cy="617219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629034" y="2638044"/>
            <a:ext cx="465429" cy="7543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420264" y="2912364"/>
            <a:ext cx="465429" cy="480059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211494" y="2775204"/>
            <a:ext cx="465429" cy="617219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72000" y="3291840"/>
            <a:ext cx="4672583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Visual: Bars chart  •  workforce allocation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3152" y="3675887"/>
            <a:ext cx="4251960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4592" y="3749039"/>
            <a:ext cx="406908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Workload vs Satisfaction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92024" y="4069079"/>
            <a:ext cx="4014216" cy="1984248"/>
          </a:xfrm>
          <a:prstGeom prst="rect">
            <a:avLst/>
          </a:prstGeom>
          <a:solidFill>
            <a:srgbClr val="FAFBFD"/>
          </a:solidFill>
          <a:ln w="12700"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192024" y="4565142"/>
            <a:ext cx="401421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92024" y="5061203"/>
            <a:ext cx="401421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92024" y="5557265"/>
            <a:ext cx="401421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859718" y="5403189"/>
            <a:ext cx="109728" cy="109728"/>
          </a:xfrm>
          <a:prstGeom prst="ellipse">
            <a:avLst/>
          </a:prstGeom>
          <a:solidFill>
            <a:srgbClr val="7B1FA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421709" y="5105552"/>
            <a:ext cx="109728" cy="109728"/>
          </a:xfrm>
          <a:prstGeom prst="ellipse">
            <a:avLst/>
          </a:prstGeom>
          <a:solidFill>
            <a:srgbClr val="7B1FA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2144268" y="5204764"/>
            <a:ext cx="109728" cy="109728"/>
          </a:xfrm>
          <a:prstGeom prst="ellipse">
            <a:avLst/>
          </a:prstGeom>
          <a:solidFill>
            <a:srgbClr val="7B1FA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2746400" y="4708702"/>
            <a:ext cx="109728" cy="109728"/>
          </a:xfrm>
          <a:prstGeom prst="ellipse">
            <a:avLst/>
          </a:prstGeom>
          <a:solidFill>
            <a:srgbClr val="7B1FA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428817" y="4907127"/>
            <a:ext cx="109728" cy="109728"/>
          </a:xfrm>
          <a:prstGeom prst="ellipse">
            <a:avLst/>
          </a:prstGeom>
          <a:solidFill>
            <a:srgbClr val="7B1FA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82880" y="5952744"/>
            <a:ext cx="4032504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Visual: Scatter chart  •  staff pressure analysis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462272" y="3675887"/>
            <a:ext cx="4892040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553712" y="3749039"/>
            <a:ext cx="4709159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Staff Performance Scorecard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581144" y="4069079"/>
            <a:ext cx="4654296" cy="1984248"/>
          </a:xfrm>
          <a:prstGeom prst="rect">
            <a:avLst/>
          </a:prstGeom>
          <a:solidFill>
            <a:srgbClr val="FAFBFD"/>
          </a:solidFill>
          <a:ln w="12700"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" name="Connector 90"/>
          <p:cNvCxnSpPr/>
          <p:nvPr/>
        </p:nvCxnSpPr>
        <p:spPr>
          <a:xfrm>
            <a:off x="4581144" y="4565142"/>
            <a:ext cx="465429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4581144" y="5061203"/>
            <a:ext cx="465429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4581144" y="5557265"/>
            <a:ext cx="465429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ectangle 93"/>
          <p:cNvSpPr/>
          <p:nvPr/>
        </p:nvSpPr>
        <p:spPr>
          <a:xfrm>
            <a:off x="4581144" y="4069079"/>
            <a:ext cx="655755" cy="486918"/>
          </a:xfrm>
          <a:prstGeom prst="rect">
            <a:avLst/>
          </a:prstGeom>
          <a:solidFill>
            <a:srgbClr val="ECF3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5246043" y="4069079"/>
            <a:ext cx="655755" cy="486918"/>
          </a:xfrm>
          <a:prstGeom prst="rect">
            <a:avLst/>
          </a:prstGeom>
          <a:solidFill>
            <a:srgbClr val="BED7F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5910942" y="4069079"/>
            <a:ext cx="655755" cy="486918"/>
          </a:xfrm>
          <a:prstGeom prst="rect">
            <a:avLst/>
          </a:prstGeom>
          <a:solidFill>
            <a:srgbClr val="78AA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575842" y="4069079"/>
            <a:ext cx="655755" cy="486918"/>
          </a:xfrm>
          <a:prstGeom prst="rect">
            <a:avLst/>
          </a:prstGeom>
          <a:solidFill>
            <a:srgbClr val="417DD7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240741" y="4069079"/>
            <a:ext cx="655755" cy="486918"/>
          </a:xfrm>
          <a:prstGeom prst="rect">
            <a:avLst/>
          </a:prstGeom>
          <a:solidFill>
            <a:srgbClr val="ECF3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7905641" y="4069079"/>
            <a:ext cx="655755" cy="486918"/>
          </a:xfrm>
          <a:prstGeom prst="rect">
            <a:avLst/>
          </a:prstGeom>
          <a:solidFill>
            <a:srgbClr val="BED7F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570540" y="4069079"/>
            <a:ext cx="655755" cy="486918"/>
          </a:xfrm>
          <a:prstGeom prst="rect">
            <a:avLst/>
          </a:prstGeom>
          <a:solidFill>
            <a:srgbClr val="78AA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4581144" y="4565142"/>
            <a:ext cx="655755" cy="486918"/>
          </a:xfrm>
          <a:prstGeom prst="rect">
            <a:avLst/>
          </a:prstGeom>
          <a:solidFill>
            <a:srgbClr val="BED7F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5246043" y="4565142"/>
            <a:ext cx="655755" cy="486918"/>
          </a:xfrm>
          <a:prstGeom prst="rect">
            <a:avLst/>
          </a:prstGeom>
          <a:solidFill>
            <a:srgbClr val="78AA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5910942" y="4565142"/>
            <a:ext cx="655755" cy="486918"/>
          </a:xfrm>
          <a:prstGeom prst="rect">
            <a:avLst/>
          </a:prstGeom>
          <a:solidFill>
            <a:srgbClr val="417DD7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575842" y="4565142"/>
            <a:ext cx="655755" cy="486918"/>
          </a:xfrm>
          <a:prstGeom prst="rect">
            <a:avLst/>
          </a:prstGeom>
          <a:solidFill>
            <a:srgbClr val="ECF3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240741" y="4565142"/>
            <a:ext cx="655755" cy="486918"/>
          </a:xfrm>
          <a:prstGeom prst="rect">
            <a:avLst/>
          </a:prstGeom>
          <a:solidFill>
            <a:srgbClr val="BED7F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905641" y="4565142"/>
            <a:ext cx="655755" cy="486918"/>
          </a:xfrm>
          <a:prstGeom prst="rect">
            <a:avLst/>
          </a:prstGeom>
          <a:solidFill>
            <a:srgbClr val="78AA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8570540" y="4565142"/>
            <a:ext cx="655755" cy="486918"/>
          </a:xfrm>
          <a:prstGeom prst="rect">
            <a:avLst/>
          </a:prstGeom>
          <a:solidFill>
            <a:srgbClr val="417DD7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4581144" y="5061203"/>
            <a:ext cx="655755" cy="486918"/>
          </a:xfrm>
          <a:prstGeom prst="rect">
            <a:avLst/>
          </a:prstGeom>
          <a:solidFill>
            <a:srgbClr val="78AA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5246043" y="5061203"/>
            <a:ext cx="655755" cy="486918"/>
          </a:xfrm>
          <a:prstGeom prst="rect">
            <a:avLst/>
          </a:prstGeom>
          <a:solidFill>
            <a:srgbClr val="417DD7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5910942" y="5061203"/>
            <a:ext cx="655755" cy="486918"/>
          </a:xfrm>
          <a:prstGeom prst="rect">
            <a:avLst/>
          </a:prstGeom>
          <a:solidFill>
            <a:srgbClr val="ECF3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575842" y="5061203"/>
            <a:ext cx="655755" cy="486918"/>
          </a:xfrm>
          <a:prstGeom prst="rect">
            <a:avLst/>
          </a:prstGeom>
          <a:solidFill>
            <a:srgbClr val="BED7F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7240741" y="5061203"/>
            <a:ext cx="655755" cy="486918"/>
          </a:xfrm>
          <a:prstGeom prst="rect">
            <a:avLst/>
          </a:prstGeom>
          <a:solidFill>
            <a:srgbClr val="78AA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7905641" y="5061203"/>
            <a:ext cx="655755" cy="486918"/>
          </a:xfrm>
          <a:prstGeom prst="rect">
            <a:avLst/>
          </a:prstGeom>
          <a:solidFill>
            <a:srgbClr val="417DD7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570540" y="5061203"/>
            <a:ext cx="655755" cy="486918"/>
          </a:xfrm>
          <a:prstGeom prst="rect">
            <a:avLst/>
          </a:prstGeom>
          <a:solidFill>
            <a:srgbClr val="ECF3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4581144" y="5557265"/>
            <a:ext cx="655755" cy="486918"/>
          </a:xfrm>
          <a:prstGeom prst="rect">
            <a:avLst/>
          </a:prstGeom>
          <a:solidFill>
            <a:srgbClr val="417DD7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246043" y="5557265"/>
            <a:ext cx="655755" cy="486918"/>
          </a:xfrm>
          <a:prstGeom prst="rect">
            <a:avLst/>
          </a:prstGeom>
          <a:solidFill>
            <a:srgbClr val="ECF3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5910942" y="5557265"/>
            <a:ext cx="655755" cy="486918"/>
          </a:xfrm>
          <a:prstGeom prst="rect">
            <a:avLst/>
          </a:prstGeom>
          <a:solidFill>
            <a:srgbClr val="BED7F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6575842" y="5557265"/>
            <a:ext cx="655755" cy="486918"/>
          </a:xfrm>
          <a:prstGeom prst="rect">
            <a:avLst/>
          </a:prstGeom>
          <a:solidFill>
            <a:srgbClr val="78AA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7240741" y="5557265"/>
            <a:ext cx="655755" cy="486918"/>
          </a:xfrm>
          <a:prstGeom prst="rect">
            <a:avLst/>
          </a:prstGeom>
          <a:solidFill>
            <a:srgbClr val="417DD7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7905641" y="5557265"/>
            <a:ext cx="655755" cy="486918"/>
          </a:xfrm>
          <a:prstGeom prst="rect">
            <a:avLst/>
          </a:prstGeom>
          <a:solidFill>
            <a:srgbClr val="ECF3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570540" y="5557265"/>
            <a:ext cx="655755" cy="486918"/>
          </a:xfrm>
          <a:prstGeom prst="rect">
            <a:avLst/>
          </a:prstGeom>
          <a:solidFill>
            <a:srgbClr val="BED7F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572000" y="5952744"/>
            <a:ext cx="4672583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Visual: Matrix chart  •  department × KPI status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37160" y="6556248"/>
            <a:ext cx="54864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50" b="0">
                <a:solidFill>
                  <a:srgbClr val="5F5F5F"/>
                </a:solidFill>
                <a:latin typeface="Aptos"/>
              </a:rPr>
              <a:t>POWER BI WIREFRAME • STRUCTURE ONLY • VALUES/CHARTS TO BE CONNECTED TO DATA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1384280" y="6556248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00" b="1">
                <a:solidFill>
                  <a:srgbClr val="5F5F5F"/>
                </a:solidFill>
                <a:latin typeface="Aptos"/>
              </a:rPr>
              <a:t>3/4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0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82B9E"/>
          </a:solidFill>
          <a:ln>
            <a:solidFill>
              <a:srgbClr val="182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" y="36576"/>
            <a:ext cx="41148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FINANCIAL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" y="347472"/>
            <a:ext cx="4389120" cy="1554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Hospital financial performance, revenue and cost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54864"/>
            <a:ext cx="13258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25312" y="100584"/>
            <a:ext cx="1271016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>
                <a:latin typeface="Aptos"/>
              </a:rPr>
              <a:t>Hospital Patient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54864"/>
            <a:ext cx="144475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34071" y="100584"/>
            <a:ext cx="138988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>
                <a:latin typeface="Aptos"/>
              </a:rPr>
              <a:t>Service Performance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15984" y="54864"/>
            <a:ext cx="15087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43415" y="100584"/>
            <a:ext cx="1453895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>
                <a:latin typeface="Aptos"/>
              </a:rPr>
              <a:t>Staff Management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33888" y="54864"/>
            <a:ext cx="1508760" cy="384048"/>
          </a:xfrm>
          <a:prstGeom prst="roundRect">
            <a:avLst/>
          </a:prstGeom>
          <a:solidFill>
            <a:srgbClr val="1F1F1F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61319" y="100584"/>
            <a:ext cx="1453895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>
                <a:latin typeface="Aptos"/>
              </a:rPr>
              <a:t>Financial Overview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74352" y="932688"/>
            <a:ext cx="2359152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857232" y="1078992"/>
            <a:ext cx="1993392" cy="1207008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AAAF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48672" y="1481328"/>
            <a:ext cx="1810512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5F5F5F"/>
                </a:solidFill>
                <a:latin typeface="Aptos"/>
              </a:rPr>
              <a:t>HOSPITAL / PATIENT
IMAGE PLACEHOLDER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48672" y="2450592"/>
            <a:ext cx="1783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Year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57232" y="2697480"/>
            <a:ext cx="19933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0" y="2734056"/>
            <a:ext cx="160020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5F5F5F"/>
                </a:solidFill>
                <a:latin typeface="Aptos"/>
              </a:rPr>
              <a:t>All                         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48672" y="3118104"/>
            <a:ext cx="1783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Department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57232" y="3364992"/>
            <a:ext cx="19933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60" y="3401568"/>
            <a:ext cx="160020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5F5F5F"/>
                </a:solidFill>
                <a:latin typeface="Aptos"/>
              </a:rPr>
              <a:t>All                         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48672" y="3785616"/>
            <a:ext cx="1783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Service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57232" y="4032504"/>
            <a:ext cx="19933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0" y="4069080"/>
            <a:ext cx="160020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5F5F5F"/>
                </a:solidFill>
                <a:latin typeface="Aptos"/>
              </a:rPr>
              <a:t>All                         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48672" y="4453128"/>
            <a:ext cx="1783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Insurance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57232" y="4700016"/>
            <a:ext cx="19933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60" y="4736592"/>
            <a:ext cx="160020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5F5F5F"/>
                </a:solidFill>
                <a:latin typeface="Aptos"/>
              </a:rPr>
              <a:t>All                         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48672" y="5120640"/>
            <a:ext cx="1783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Payment Status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57232" y="5367528"/>
            <a:ext cx="19933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66960" y="5404104"/>
            <a:ext cx="160020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5F5F5F"/>
                </a:solidFill>
                <a:latin typeface="Aptos"/>
              </a:rPr>
              <a:t>All                         ▾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" y="749808"/>
            <a:ext cx="15727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" y="749808"/>
            <a:ext cx="64008" cy="713232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1168" y="804672"/>
            <a:ext cx="129844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Total Revenue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168" y="1005840"/>
            <a:ext cx="1298448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  <a:latin typeface="Aptos"/>
              </a:rPr>
              <a:t>[KPI]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719072" y="749808"/>
            <a:ext cx="15727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719072" y="749808"/>
            <a:ext cx="64008" cy="713232"/>
          </a:xfrm>
          <a:prstGeom prst="rect">
            <a:avLst/>
          </a:prstGeom>
          <a:solidFill>
            <a:srgbClr val="EF6C3B"/>
          </a:solidFill>
          <a:ln>
            <a:solidFill>
              <a:srgbClr val="EF6C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47088" y="804672"/>
            <a:ext cx="129844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Total Cost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47088" y="1005840"/>
            <a:ext cx="1298448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  <a:latin typeface="Aptos"/>
              </a:rPr>
              <a:t>[KPI]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64992" y="749808"/>
            <a:ext cx="15727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364992" y="749808"/>
            <a:ext cx="64008" cy="71323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93008" y="804672"/>
            <a:ext cx="129844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Avg Patient Cost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93008" y="1005840"/>
            <a:ext cx="1298448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  <a:latin typeface="Aptos"/>
              </a:rPr>
              <a:t>[KPI]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10912" y="749808"/>
            <a:ext cx="15727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10912" y="749808"/>
            <a:ext cx="64008" cy="713232"/>
          </a:xfrm>
          <a:prstGeom prst="rect">
            <a:avLst/>
          </a:prstGeom>
          <a:solidFill>
            <a:srgbClr val="BE3237"/>
          </a:solidFill>
          <a:ln>
            <a:solidFill>
              <a:srgbClr val="BE3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38928" y="804672"/>
            <a:ext cx="129844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Insurance Claims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38928" y="1005840"/>
            <a:ext cx="1298448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  <a:latin typeface="Aptos"/>
              </a:rPr>
              <a:t>[KPI]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56832" y="749808"/>
            <a:ext cx="15727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56832" y="749808"/>
            <a:ext cx="64008" cy="713232"/>
          </a:xfrm>
          <a:prstGeom prst="rect">
            <a:avLst/>
          </a:prstGeom>
          <a:solidFill>
            <a:srgbClr val="182B9E"/>
          </a:solidFill>
          <a:ln>
            <a:solidFill>
              <a:srgbClr val="182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84848" y="804672"/>
            <a:ext cx="129844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Profit / Margin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84848" y="1005840"/>
            <a:ext cx="1298448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  <a:latin typeface="Aptos"/>
              </a:rPr>
              <a:t>[KPI]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152" y="1627632"/>
            <a:ext cx="29718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64592" y="1700784"/>
            <a:ext cx="278892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Revenue Trend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2024" y="2020824"/>
            <a:ext cx="2734056" cy="1417320"/>
          </a:xfrm>
          <a:prstGeom prst="rect">
            <a:avLst/>
          </a:prstGeom>
          <a:solidFill>
            <a:srgbClr val="FAFBFD"/>
          </a:solidFill>
          <a:ln w="12700"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192024" y="2375154"/>
            <a:ext cx="273405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92024" y="2729484"/>
            <a:ext cx="273405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92024" y="3083814"/>
            <a:ext cx="273405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465429" y="2942082"/>
            <a:ext cx="273405" cy="496062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30219" y="2800350"/>
            <a:ext cx="273405" cy="637793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395008" y="2658618"/>
            <a:ext cx="273405" cy="779526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859798" y="2942082"/>
            <a:ext cx="273405" cy="496062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324587" y="2800350"/>
            <a:ext cx="273405" cy="637793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82880" y="3337560"/>
            <a:ext cx="2752344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Visual: Line chart  •  financial trend over time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182112" y="1627632"/>
            <a:ext cx="29718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73552" y="1700784"/>
            <a:ext cx="278892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Revenue by Department / Service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300984" y="2020824"/>
            <a:ext cx="2734056" cy="1417320"/>
          </a:xfrm>
          <a:prstGeom prst="rect">
            <a:avLst/>
          </a:prstGeom>
          <a:solidFill>
            <a:srgbClr val="FAFBFD"/>
          </a:solidFill>
          <a:ln w="12700"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>
            <a:off x="3300984" y="2375154"/>
            <a:ext cx="273405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3300984" y="2729484"/>
            <a:ext cx="273405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3300984" y="3083814"/>
            <a:ext cx="273405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3574389" y="2942082"/>
            <a:ext cx="273405" cy="496062"/>
          </a:xfrm>
          <a:prstGeom prst="rect">
            <a:avLst/>
          </a:prstGeom>
          <a:solidFill>
            <a:srgbClr val="EF6C3B"/>
          </a:solidFill>
          <a:ln>
            <a:solidFill>
              <a:srgbClr val="EF6C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039179" y="2800350"/>
            <a:ext cx="273405" cy="637793"/>
          </a:xfrm>
          <a:prstGeom prst="rect">
            <a:avLst/>
          </a:prstGeom>
          <a:solidFill>
            <a:srgbClr val="EF6C3B"/>
          </a:solidFill>
          <a:ln>
            <a:solidFill>
              <a:srgbClr val="EF6C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503968" y="2658618"/>
            <a:ext cx="273405" cy="779526"/>
          </a:xfrm>
          <a:prstGeom prst="rect">
            <a:avLst/>
          </a:prstGeom>
          <a:solidFill>
            <a:srgbClr val="EF6C3B"/>
          </a:solidFill>
          <a:ln>
            <a:solidFill>
              <a:srgbClr val="EF6C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968758" y="2942082"/>
            <a:ext cx="273405" cy="496062"/>
          </a:xfrm>
          <a:prstGeom prst="rect">
            <a:avLst/>
          </a:prstGeom>
          <a:solidFill>
            <a:srgbClr val="EF6C3B"/>
          </a:solidFill>
          <a:ln>
            <a:solidFill>
              <a:srgbClr val="EF6C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433547" y="2800350"/>
            <a:ext cx="273405" cy="637793"/>
          </a:xfrm>
          <a:prstGeom prst="rect">
            <a:avLst/>
          </a:prstGeom>
          <a:solidFill>
            <a:srgbClr val="EF6C3B"/>
          </a:solidFill>
          <a:ln>
            <a:solidFill>
              <a:srgbClr val="EF6C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291840" y="3337560"/>
            <a:ext cx="2752344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Visual: Bars chart  •  revenue comparison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291072" y="1627632"/>
            <a:ext cx="30632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382512" y="1700784"/>
            <a:ext cx="288036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Cost Distribution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09944" y="2020824"/>
            <a:ext cx="2825496" cy="1417320"/>
          </a:xfrm>
          <a:prstGeom prst="rect">
            <a:avLst/>
          </a:prstGeom>
          <a:solidFill>
            <a:srgbClr val="FAFBFD"/>
          </a:solidFill>
          <a:ln w="12700"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>
            <a:off x="6409944" y="2375154"/>
            <a:ext cx="282549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6409944" y="2729484"/>
            <a:ext cx="282549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6409944" y="3083814"/>
            <a:ext cx="282549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Oval 80"/>
          <p:cNvSpPr/>
          <p:nvPr/>
        </p:nvSpPr>
        <p:spPr>
          <a:xfrm>
            <a:off x="6863669" y="2958084"/>
            <a:ext cx="109728" cy="109728"/>
          </a:xfrm>
          <a:prstGeom prst="ellipse">
            <a:avLst/>
          </a:prstGeom>
          <a:solidFill>
            <a:srgbClr val="2E7D3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7259238" y="2745486"/>
            <a:ext cx="109728" cy="109728"/>
          </a:xfrm>
          <a:prstGeom prst="ellipse">
            <a:avLst/>
          </a:prstGeom>
          <a:solidFill>
            <a:srgbClr val="2E7D3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7767827" y="2816351"/>
            <a:ext cx="109728" cy="109728"/>
          </a:xfrm>
          <a:prstGeom prst="ellipse">
            <a:avLst/>
          </a:prstGeom>
          <a:solidFill>
            <a:srgbClr val="2E7D3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191652" y="2462022"/>
            <a:ext cx="109728" cy="109728"/>
          </a:xfrm>
          <a:prstGeom prst="ellipse">
            <a:avLst/>
          </a:prstGeom>
          <a:solidFill>
            <a:srgbClr val="2E7D3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8671986" y="2603753"/>
            <a:ext cx="109728" cy="109728"/>
          </a:xfrm>
          <a:prstGeom prst="ellipse">
            <a:avLst/>
          </a:prstGeom>
          <a:solidFill>
            <a:srgbClr val="2E7D3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400800" y="3337560"/>
            <a:ext cx="2843784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Visual: Donut chart  •  expense share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3152" y="3703320"/>
            <a:ext cx="4251960" cy="24597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64592" y="3776472"/>
            <a:ext cx="406908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Financial Performance Scorecard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92024" y="4096511"/>
            <a:ext cx="4014216" cy="1956815"/>
          </a:xfrm>
          <a:prstGeom prst="rect">
            <a:avLst/>
          </a:prstGeom>
          <a:solidFill>
            <a:srgbClr val="FAFBFD"/>
          </a:solidFill>
          <a:ln w="12700"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" name="Connector 89"/>
          <p:cNvCxnSpPr/>
          <p:nvPr/>
        </p:nvCxnSpPr>
        <p:spPr>
          <a:xfrm>
            <a:off x="192024" y="4585716"/>
            <a:ext cx="401421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192024" y="5074919"/>
            <a:ext cx="401421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192024" y="5564123"/>
            <a:ext cx="401421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392734" y="4918374"/>
            <a:ext cx="521848" cy="547909"/>
          </a:xfrm>
          <a:prstGeom prst="line">
            <a:avLst/>
          </a:prstGeom>
          <a:ln w="31750">
            <a:solidFill>
              <a:srgbClr val="182B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14582" y="4918374"/>
            <a:ext cx="561991" cy="352227"/>
          </a:xfrm>
          <a:prstGeom prst="line">
            <a:avLst/>
          </a:prstGeom>
          <a:ln w="31750">
            <a:solidFill>
              <a:srgbClr val="182B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1476573" y="4585716"/>
            <a:ext cx="561990" cy="684885"/>
          </a:xfrm>
          <a:prstGeom prst="line">
            <a:avLst/>
          </a:prstGeom>
          <a:ln w="31750">
            <a:solidFill>
              <a:srgbClr val="182B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2038563" y="4585716"/>
            <a:ext cx="561990" cy="450067"/>
          </a:xfrm>
          <a:prstGeom prst="line">
            <a:avLst/>
          </a:prstGeom>
          <a:ln w="31750">
            <a:solidFill>
              <a:srgbClr val="182B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2600553" y="4722693"/>
            <a:ext cx="602133" cy="313090"/>
          </a:xfrm>
          <a:prstGeom prst="line">
            <a:avLst/>
          </a:prstGeom>
          <a:ln w="31750">
            <a:solidFill>
              <a:srgbClr val="182B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3202686" y="4722693"/>
            <a:ext cx="682416" cy="391363"/>
          </a:xfrm>
          <a:prstGeom prst="line">
            <a:avLst/>
          </a:prstGeom>
          <a:ln w="31750">
            <a:solidFill>
              <a:srgbClr val="182B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182880" y="5952744"/>
            <a:ext cx="4032504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latin typeface="Aptos"/>
              </a:rPr>
              <a:t>Visual: Matrix chart  •  revenue, cost and margin status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4462272" y="3703320"/>
            <a:ext cx="4892040" cy="24597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553712" y="3776472"/>
            <a:ext cx="4709159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F1F1F"/>
                </a:solidFill>
                <a:latin typeface="Aptos"/>
              </a:rPr>
              <a:t>Insurance / Claim Status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581144" y="4096511"/>
            <a:ext cx="4654296" cy="1956815"/>
          </a:xfrm>
          <a:prstGeom prst="rect">
            <a:avLst/>
          </a:prstGeom>
          <a:solidFill>
            <a:srgbClr val="FAFBFD"/>
          </a:solidFill>
          <a:ln w="12700"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3" name="Connector 102"/>
          <p:cNvCxnSpPr/>
          <p:nvPr/>
        </p:nvCxnSpPr>
        <p:spPr>
          <a:xfrm>
            <a:off x="4581144" y="4585716"/>
            <a:ext cx="465429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4581144" y="5074919"/>
            <a:ext cx="465429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4581144" y="5564123"/>
            <a:ext cx="465429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Oval 105"/>
          <p:cNvSpPr/>
          <p:nvPr/>
        </p:nvSpPr>
        <p:spPr>
          <a:xfrm>
            <a:off x="6070518" y="4331329"/>
            <a:ext cx="1213225" cy="1213225"/>
          </a:xfrm>
          <a:prstGeom prst="ellipse">
            <a:avLst/>
          </a:prstGeom>
          <a:solidFill>
            <a:srgbClr val="7B1FA2"/>
          </a:solidFill>
          <a:ln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6582491" y="4546579"/>
            <a:ext cx="782726" cy="782726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396319" y="4918374"/>
            <a:ext cx="1954804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5F5F5F"/>
                </a:solidFill>
                <a:latin typeface="Aptos"/>
              </a:rPr>
              <a:t>KPI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572000" y="5952744"/>
            <a:ext cx="4672583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80" b="0">
                <a:solidFill>
                  <a:srgbClr val="5F5F5F"/>
                </a:solidFill>
                <a:latin typeface="Aptos"/>
              </a:rPr>
              <a:t>Visual: Donut chart  •  claimed vs not claimed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37160" y="6556248"/>
            <a:ext cx="54864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50" b="0">
                <a:solidFill>
                  <a:srgbClr val="5F5F5F"/>
                </a:solidFill>
                <a:latin typeface="Aptos"/>
              </a:rPr>
              <a:t>POWER BI WIREFRAME • STRUCTURE ONLY • VALUES/CHARTS TO BE CONNECTED TO DATA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1384280" y="6556248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00" b="1">
                <a:solidFill>
                  <a:srgbClr val="5F5F5F"/>
                </a:solidFill>
                <a:latin typeface="Aptos"/>
              </a:rPr>
              <a:t>4/4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8872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 Display"/>
              </a:rPr>
              <a:t>HOSPITAL OPERATIONS &amp;</a:t>
            </a:r>
            <a:br/>
            <a:r>
              <a:rPr sz="3000" b="1">
                <a:solidFill>
                  <a:srgbClr val="FFFFFF"/>
                </a:solidFill>
                <a:latin typeface="Aptos Display"/>
              </a:rPr>
              <a:t>PATIENT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97180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D2E1F0"/>
                </a:solidFill>
              </a:rPr>
              <a:t>Dashboard Blueprint &amp; Visualization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977639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EBF0F5"/>
                </a:solidFill>
              </a:rPr>
              <a:t>Four-page dashboard blueprint covering patient analytics, service performance, staff management and financial overview.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