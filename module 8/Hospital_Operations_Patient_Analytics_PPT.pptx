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9" r:id="rId3"/>
    <p:sldId id="261" r:id="rId4"/>
    <p:sldId id="262" r:id="rId5"/>
    <p:sldId id="264" r:id="rId6"/>
    <p:sldId id="260" r:id="rId7"/>
    <p:sldId id="273" r:id="rId8"/>
    <p:sldId id="265" r:id="rId9"/>
    <p:sldId id="271" r:id="rId10"/>
    <p:sldId id="272"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66"/>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rbhog.rutuja@gmail.com" userId="33c5f769b7886ba5" providerId="LiveId" clId="{5FE2D278-7AD8-4590-9DD7-CD0B3CCA1765}"/>
    <pc:docChg chg="modSld">
      <pc:chgData name="warbhog.rutuja@gmail.com" userId="33c5f769b7886ba5" providerId="LiveId" clId="{5FE2D278-7AD8-4590-9DD7-CD0B3CCA1765}" dt="2026-09-16T12:16:59.227" v="7" actId="20577"/>
      <pc:docMkLst>
        <pc:docMk/>
      </pc:docMkLst>
      <pc:sldChg chg="modSp mod">
        <pc:chgData name="warbhog.rutuja@gmail.com" userId="33c5f769b7886ba5" providerId="LiveId" clId="{5FE2D278-7AD8-4590-9DD7-CD0B3CCA1765}" dt="2026-09-16T12:16:59.227" v="7" actId="20577"/>
        <pc:sldMkLst>
          <pc:docMk/>
          <pc:sldMk cId="0" sldId="259"/>
        </pc:sldMkLst>
        <pc:spChg chg="mod">
          <ac:chgData name="warbhog.rutuja@gmail.com" userId="33c5f769b7886ba5" providerId="LiveId" clId="{5FE2D278-7AD8-4590-9DD7-CD0B3CCA1765}" dt="2026-09-16T12:16:59.227" v="7" actId="20577"/>
          <ac:spMkLst>
            <pc:docMk/>
            <pc:sldMk cId="0" sldId="259"/>
            <ac:spMk id="42" creationId="{F0C45504-9E30-4A57-3C53-BEC312CF1C40}"/>
          </ac:spMkLst>
        </pc:spChg>
        <pc:spChg chg="mod">
          <ac:chgData name="warbhog.rutuja@gmail.com" userId="33c5f769b7886ba5" providerId="LiveId" clId="{5FE2D278-7AD8-4590-9DD7-CD0B3CCA1765}" dt="2026-09-16T12:16:55.955" v="5" actId="20577"/>
          <ac:spMkLst>
            <pc:docMk/>
            <pc:sldMk cId="0" sldId="259"/>
            <ac:spMk id="44" creationId="{4CAA0063-9657-7119-D3BD-A28754FEA518}"/>
          </ac:spMkLst>
        </pc:spChg>
        <pc:spChg chg="mod">
          <ac:chgData name="warbhog.rutuja@gmail.com" userId="33c5f769b7886ba5" providerId="LiveId" clId="{5FE2D278-7AD8-4590-9DD7-CD0B3CCA1765}" dt="2026-09-16T12:16:52.821" v="3" actId="20577"/>
          <ac:spMkLst>
            <pc:docMk/>
            <pc:sldMk cId="0" sldId="259"/>
            <ac:spMk id="46" creationId="{67938972-9906-4081-5B84-7E77E8F829A4}"/>
          </ac:spMkLst>
        </pc:spChg>
        <pc:spChg chg="mod">
          <ac:chgData name="warbhog.rutuja@gmail.com" userId="33c5f769b7886ba5" providerId="LiveId" clId="{5FE2D278-7AD8-4590-9DD7-CD0B3CCA1765}" dt="2026-09-16T12:16:48.891" v="1" actId="20577"/>
          <ac:spMkLst>
            <pc:docMk/>
            <pc:sldMk cId="0" sldId="259"/>
            <ac:spMk id="48" creationId="{67054E48-733C-3DFA-FD25-C93F450AD237}"/>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50" b="0" i="0" u="none" strike="noStrike" kern="1200" baseline="0">
                <a:solidFill>
                  <a:srgbClr val="2A2523"/>
                </a:solidFill>
                <a:latin typeface="Arial"/>
                <a:ea typeface="+mn-ea"/>
                <a:cs typeface="+mn-cs"/>
              </a:defRPr>
            </a:pPr>
            <a:r>
              <a:rPr lang="en-US" sz="1150" b="0" i="0" u="none" strike="noStrike">
                <a:solidFill>
                  <a:srgbClr val="2A2523"/>
                </a:solidFill>
                <a:latin typeface="Arial"/>
              </a:rPr>
              <a:t>LOS Category — derived field distribution</a:t>
            </a:r>
          </a:p>
        </c:rich>
      </c:tx>
      <c:overlay val="0"/>
      <c:spPr>
        <a:noFill/>
        <a:ln>
          <a:noFill/>
        </a:ln>
        <a:effectLst/>
      </c:spPr>
      <c:txPr>
        <a:bodyPr rot="0" spcFirstLastPara="1" vertOverflow="ellipsis" vert="horz" wrap="square" anchor="ctr" anchorCtr="1"/>
        <a:lstStyle/>
        <a:p>
          <a:pPr>
            <a:defRPr sz="1150" b="0" i="0" u="none" strike="noStrike" kern="1200" baseline="0">
              <a:solidFill>
                <a:srgbClr val="2A2523"/>
              </a:solidFill>
              <a:latin typeface="Arial"/>
              <a:ea typeface="+mn-ea"/>
              <a:cs typeface="+mn-cs"/>
            </a:defRPr>
          </a:pPr>
          <a:endParaRPr lang="en-US"/>
        </a:p>
      </c:txPr>
    </c:title>
    <c:autoTitleDeleted val="0"/>
    <c:plotArea>
      <c:layout/>
      <c:barChart>
        <c:barDir val="bar"/>
        <c:grouping val="clustered"/>
        <c:varyColors val="0"/>
        <c:ser>
          <c:idx val="0"/>
          <c:order val="0"/>
          <c:tx>
            <c:strRef>
              <c:f>Sheet1!$B$1</c:f>
              <c:strCache>
                <c:ptCount val="1"/>
                <c:pt idx="0">
                  <c:v>Records</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000" b="0" i="0" u="none" strike="noStrike" kern="1200" baseline="0">
                    <a:solidFill>
                      <a:srgbClr val="2A2523"/>
                    </a:solidFill>
                    <a:latin typeface="Calibri"/>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Extended</c:v>
                </c:pt>
                <c:pt idx="1">
                  <c:v>Long</c:v>
                </c:pt>
                <c:pt idx="2">
                  <c:v>Medium</c:v>
                </c:pt>
                <c:pt idx="3">
                  <c:v>Short</c:v>
                </c:pt>
              </c:strCache>
            </c:strRef>
          </c:cat>
          <c:val>
            <c:numRef>
              <c:f>Sheet1!$B$2:$B$5</c:f>
              <c:numCache>
                <c:formatCode>General</c:formatCode>
                <c:ptCount val="4"/>
                <c:pt idx="0">
                  <c:v>6226</c:v>
                </c:pt>
                <c:pt idx="1">
                  <c:v>1474</c:v>
                </c:pt>
                <c:pt idx="2">
                  <c:v>1208</c:v>
                </c:pt>
                <c:pt idx="3">
                  <c:v>1092</c:v>
                </c:pt>
              </c:numCache>
            </c:numRef>
          </c:val>
          <c:extLst>
            <c:ext xmlns:c16="http://schemas.microsoft.com/office/drawing/2014/chart" uri="{C3380CC4-5D6E-409C-BE32-E72D297353CC}">
              <c16:uniqueId val="{00000000-D3B4-4E40-895C-542A370FE1D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1000" b="0" i="0" u="none" strike="noStrike" kern="1200" baseline="0">
                <a:solidFill>
                  <a:srgbClr val="6E625C"/>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max val="7500"/>
          <c:min val="0"/>
        </c:scaling>
        <c:delete val="0"/>
        <c:axPos val="b"/>
        <c:majorGridlines>
          <c:spPr>
            <a:ln w="12700" cap="flat" cmpd="sng" algn="ctr">
              <a:solidFill>
                <a:srgbClr val="F1DDD5"/>
              </a:solidFill>
              <a:prstDash val="solid"/>
              <a:round/>
            </a:ln>
            <a:effectLst/>
          </c:spPr>
        </c:majorGridlines>
        <c:numFmt formatCode="General" sourceLinked="0"/>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900" b="0" i="0" u="none" strike="noStrike" kern="1200" baseline="0">
                <a:solidFill>
                  <a:srgbClr val="6E625C"/>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9269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Rutuja Warbhog, final-year B.Tech CSE student at Walchand Institute of Technology. This is my final internship project presentation on Hospital Operations and Patient Analytics, completed under Infosys Springboard with mentor Ms. Likhita Pathina.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objectives I set at the start: workflow, Python, BI tools, metric discipline and communication.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covers ten thousand admission records across fifty-three fields, delivered as four connected dashboards.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fragmentation: the data exists, but not in a form that answers operational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was fixed across five areas so each dashboard answers a distinct operational question.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92996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was the primary dashboard tool; Power BI was used to rebuild the same solution. Python and Pandas validated every headline KPI.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follows an end-to-end data analytics workflow from raw data to validated dashboards and documentation.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82274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dataset is 10,000 records and 53 fields spanning eight data areas. Four different data grains sit inside one file, which is why aggregation had to be handled carefully.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922893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was not just removing nulls — the key decisions were retaining same-day stays as zero days, recalculating length of stay from the dates, and keeping the four data grains separate.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51814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 occupancy is the KPI to be careful with: averaging the prepared Bed_Occupancy_Rate_% field gives 36.76%, while a count of Bed Occupied = Yes gives a different answer. The definition and denominator have to stay consistent wherever the metric is reported.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20182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dashboards, each answering a different operational question, built on the same cleaned dataset.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are from the Power BI build; the same four dashboards exist in the Tableau workbook with identical KPI values.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utilisation is the highest of the three utilisation measures; bed and equipment utilisation both sit in the thirties.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test cases were run across KPI values, filters, navigation and interactions. The one open item is the Total Inventory KPI on the Resource Utilization dashboard.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on the KPI definitions or the dashboard design.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PEACH_MASTER">
    <p:bg>
      <p:bgPr>
        <a:solidFill>
          <a:srgbClr val="FFF9F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9024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txBox="1"/>
          <p:nvPr/>
        </p:nvSpPr>
        <p:spPr>
          <a:xfrm>
            <a:off x="685800" y="658368"/>
            <a:ext cx="10241280" cy="566928"/>
          </a:xfrm>
          <a:prstGeom prst="rect">
            <a:avLst/>
          </a:prstGeom>
          <a:noFill/>
          <a:ln/>
        </p:spPr>
        <p:txBody>
          <a:bodyPr wrap="square" lIns="0" tIns="0" rIns="0" bIns="0" rtlCol="0" anchor="ctr"/>
          <a:lstStyle/>
          <a:p>
            <a:pPr marL="0" indent="0">
              <a:buNone/>
            </a:pPr>
            <a:r>
              <a:rPr lang="en-US" sz="3000" b="1" dirty="0">
                <a:solidFill>
                  <a:srgbClr val="2A2523"/>
                </a:solidFill>
                <a:latin typeface="Arial" pitchFamily="34" charset="0"/>
                <a:ea typeface="Arial" pitchFamily="34" charset="-122"/>
                <a:cs typeface="Arial" pitchFamily="34" charset="-120"/>
              </a:rPr>
              <a:t>Internship Objectives</a:t>
            </a:r>
            <a:endParaRPr lang="en-US" sz="3000" dirty="0"/>
          </a:p>
        </p:txBody>
      </p:sp>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04</a:t>
            </a:r>
            <a:endParaRPr lang="en-US" sz="1200" dirty="0"/>
          </a:p>
        </p:txBody>
      </p:sp>
      <p:sp>
        <p:nvSpPr>
          <p:cNvPr id="5" name="Shape 3"/>
          <p:cNvSpPr/>
          <p:nvPr/>
        </p:nvSpPr>
        <p:spPr>
          <a:xfrm>
            <a:off x="685800" y="1481328"/>
            <a:ext cx="10817352" cy="841248"/>
          </a:xfrm>
          <a:prstGeom prst="roundRect">
            <a:avLst>
              <a:gd name="adj" fmla="val 13043"/>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8" name="Text 6"/>
          <p:cNvSpPr txBox="1"/>
          <p:nvPr/>
        </p:nvSpPr>
        <p:spPr>
          <a:xfrm>
            <a:off x="1536192" y="1636776"/>
            <a:ext cx="3840480" cy="292608"/>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Learn the complete analytics workflow</a:t>
            </a:r>
            <a:endParaRPr lang="en-US" sz="1450" dirty="0"/>
          </a:p>
        </p:txBody>
      </p:sp>
      <p:sp>
        <p:nvSpPr>
          <p:cNvPr id="9" name="Text 7"/>
          <p:cNvSpPr txBox="1"/>
          <p:nvPr/>
        </p:nvSpPr>
        <p:spPr>
          <a:xfrm>
            <a:off x="1536192" y="1938528"/>
            <a:ext cx="9509760" cy="292608"/>
          </a:xfrm>
          <a:prstGeom prst="rect">
            <a:avLst/>
          </a:prstGeom>
          <a:noFill/>
          <a:ln/>
        </p:spPr>
        <p:txBody>
          <a:bodyPr wrap="square" lIns="0" tIns="0" rIns="0" bIns="0" rtlCol="0" anchor="ctr"/>
          <a:lstStyle/>
          <a:p>
            <a:pPr marL="0" indent="0">
              <a:buNone/>
            </a:pPr>
            <a:r>
              <a:rPr lang="en-US" sz="1250" dirty="0">
                <a:solidFill>
                  <a:srgbClr val="6E625C"/>
                </a:solidFill>
                <a:latin typeface="Calibri" pitchFamily="34" charset="0"/>
                <a:ea typeface="Calibri" pitchFamily="34" charset="-122"/>
                <a:cs typeface="Calibri" pitchFamily="34" charset="-120"/>
              </a:rPr>
              <a:t>Move from raw CSV data to cleaned datasets, KPIs, dashboards and documentation.</a:t>
            </a:r>
            <a:endParaRPr lang="en-US" sz="1250" dirty="0"/>
          </a:p>
        </p:txBody>
      </p:sp>
      <p:sp>
        <p:nvSpPr>
          <p:cNvPr id="10" name="Shape 8"/>
          <p:cNvSpPr/>
          <p:nvPr/>
        </p:nvSpPr>
        <p:spPr>
          <a:xfrm>
            <a:off x="685800" y="2414016"/>
            <a:ext cx="10817352" cy="841248"/>
          </a:xfrm>
          <a:prstGeom prst="roundRect">
            <a:avLst>
              <a:gd name="adj" fmla="val 13043"/>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3" name="Text 11"/>
          <p:cNvSpPr txBox="1"/>
          <p:nvPr/>
        </p:nvSpPr>
        <p:spPr>
          <a:xfrm>
            <a:off x="1536192" y="2569464"/>
            <a:ext cx="3840480" cy="292608"/>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Strengthen Python and Pandas skills</a:t>
            </a:r>
            <a:endParaRPr lang="en-US" sz="1450" dirty="0"/>
          </a:p>
        </p:txBody>
      </p:sp>
      <p:sp>
        <p:nvSpPr>
          <p:cNvPr id="14" name="Text 12"/>
          <p:cNvSpPr txBox="1"/>
          <p:nvPr/>
        </p:nvSpPr>
        <p:spPr>
          <a:xfrm>
            <a:off x="1536192" y="2871216"/>
            <a:ext cx="9509760" cy="292608"/>
          </a:xfrm>
          <a:prstGeom prst="rect">
            <a:avLst/>
          </a:prstGeom>
          <a:noFill/>
          <a:ln/>
        </p:spPr>
        <p:txBody>
          <a:bodyPr wrap="square" lIns="0" tIns="0" rIns="0" bIns="0" rtlCol="0" anchor="ctr"/>
          <a:lstStyle/>
          <a:p>
            <a:pPr marL="0" indent="0">
              <a:buNone/>
            </a:pPr>
            <a:r>
              <a:rPr lang="en-US" sz="1250" dirty="0">
                <a:solidFill>
                  <a:srgbClr val="6E625C"/>
                </a:solidFill>
                <a:latin typeface="Calibri" pitchFamily="34" charset="0"/>
                <a:ea typeface="Calibri" pitchFamily="34" charset="-122"/>
                <a:cs typeface="Calibri" pitchFamily="34" charset="-120"/>
              </a:rPr>
              <a:t>Use Pandas and NumPy for cleaning, derived fields and independent KPI validation.</a:t>
            </a:r>
            <a:endParaRPr lang="en-US" sz="1250" dirty="0"/>
          </a:p>
        </p:txBody>
      </p:sp>
      <p:sp>
        <p:nvSpPr>
          <p:cNvPr id="15" name="Shape 13"/>
          <p:cNvSpPr/>
          <p:nvPr/>
        </p:nvSpPr>
        <p:spPr>
          <a:xfrm>
            <a:off x="685800" y="3346704"/>
            <a:ext cx="10817352" cy="841248"/>
          </a:xfrm>
          <a:prstGeom prst="roundRect">
            <a:avLst>
              <a:gd name="adj" fmla="val 13043"/>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8" name="Text 16"/>
          <p:cNvSpPr txBox="1"/>
          <p:nvPr/>
        </p:nvSpPr>
        <p:spPr>
          <a:xfrm>
            <a:off x="1536192" y="3502152"/>
            <a:ext cx="3840480" cy="292608"/>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Build business intelligence capability</a:t>
            </a:r>
            <a:endParaRPr lang="en-US" sz="1450" dirty="0"/>
          </a:p>
        </p:txBody>
      </p:sp>
      <p:sp>
        <p:nvSpPr>
          <p:cNvPr id="19" name="Text 17"/>
          <p:cNvSpPr txBox="1"/>
          <p:nvPr/>
        </p:nvSpPr>
        <p:spPr>
          <a:xfrm>
            <a:off x="1536192" y="3803904"/>
            <a:ext cx="9509760" cy="292608"/>
          </a:xfrm>
          <a:prstGeom prst="rect">
            <a:avLst/>
          </a:prstGeom>
          <a:noFill/>
          <a:ln/>
        </p:spPr>
        <p:txBody>
          <a:bodyPr wrap="square" lIns="0" tIns="0" rIns="0" bIns="0" rtlCol="0" anchor="ctr"/>
          <a:lstStyle/>
          <a:p>
            <a:pPr marL="0" indent="0">
              <a:buNone/>
            </a:pPr>
            <a:r>
              <a:rPr lang="en-US" sz="1250" dirty="0">
                <a:solidFill>
                  <a:srgbClr val="6E625C"/>
                </a:solidFill>
                <a:latin typeface="Calibri" pitchFamily="34" charset="0"/>
                <a:ea typeface="Calibri" pitchFamily="34" charset="-122"/>
                <a:cs typeface="Calibri" pitchFamily="34" charset="-120"/>
              </a:rPr>
              <a:t>Design interactive dashboards in Tableau and Power BI with filters and navigation.</a:t>
            </a:r>
            <a:endParaRPr lang="en-US" sz="1250" dirty="0"/>
          </a:p>
        </p:txBody>
      </p:sp>
      <p:sp>
        <p:nvSpPr>
          <p:cNvPr id="20" name="Shape 18"/>
          <p:cNvSpPr/>
          <p:nvPr/>
        </p:nvSpPr>
        <p:spPr>
          <a:xfrm>
            <a:off x="685800" y="4279392"/>
            <a:ext cx="10817352" cy="841248"/>
          </a:xfrm>
          <a:prstGeom prst="roundRect">
            <a:avLst>
              <a:gd name="adj" fmla="val 13043"/>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23" name="Text 21"/>
          <p:cNvSpPr txBox="1"/>
          <p:nvPr/>
        </p:nvSpPr>
        <p:spPr>
          <a:xfrm>
            <a:off x="1536192" y="4434840"/>
            <a:ext cx="3840480" cy="292608"/>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Think in metrics, not records</a:t>
            </a:r>
            <a:endParaRPr lang="en-US" sz="1450" dirty="0"/>
          </a:p>
        </p:txBody>
      </p:sp>
      <p:sp>
        <p:nvSpPr>
          <p:cNvPr id="24" name="Text 22"/>
          <p:cNvSpPr txBox="1"/>
          <p:nvPr/>
        </p:nvSpPr>
        <p:spPr>
          <a:xfrm>
            <a:off x="1536192" y="4736592"/>
            <a:ext cx="9509760" cy="292608"/>
          </a:xfrm>
          <a:prstGeom prst="rect">
            <a:avLst/>
          </a:prstGeom>
          <a:noFill/>
          <a:ln/>
        </p:spPr>
        <p:txBody>
          <a:bodyPr wrap="square" lIns="0" tIns="0" rIns="0" bIns="0" rtlCol="0" anchor="ctr"/>
          <a:lstStyle/>
          <a:p>
            <a:pPr marL="0" indent="0">
              <a:buNone/>
            </a:pPr>
            <a:r>
              <a:rPr lang="en-US" sz="1250" dirty="0">
                <a:solidFill>
                  <a:srgbClr val="6E625C"/>
                </a:solidFill>
                <a:latin typeface="Calibri" pitchFamily="34" charset="0"/>
                <a:ea typeface="Calibri" pitchFamily="34" charset="-122"/>
                <a:cs typeface="Calibri" pitchFamily="34" charset="-120"/>
              </a:rPr>
              <a:t>Define KPIs precisely — formula, denominator and data grain — before visualising them.</a:t>
            </a:r>
            <a:endParaRPr lang="en-US" sz="1250" dirty="0"/>
          </a:p>
        </p:txBody>
      </p:sp>
      <p:sp>
        <p:nvSpPr>
          <p:cNvPr id="25" name="Shape 23"/>
          <p:cNvSpPr/>
          <p:nvPr/>
        </p:nvSpPr>
        <p:spPr>
          <a:xfrm>
            <a:off x="685800" y="5212080"/>
            <a:ext cx="10817352" cy="841248"/>
          </a:xfrm>
          <a:prstGeom prst="roundRect">
            <a:avLst>
              <a:gd name="adj" fmla="val 13043"/>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28" name="Text 26"/>
          <p:cNvSpPr txBox="1"/>
          <p:nvPr/>
        </p:nvSpPr>
        <p:spPr>
          <a:xfrm>
            <a:off x="1536192" y="5367528"/>
            <a:ext cx="3840480" cy="292608"/>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Practice testing and communication</a:t>
            </a:r>
            <a:endParaRPr lang="en-US" sz="1450" dirty="0"/>
          </a:p>
        </p:txBody>
      </p:sp>
      <p:sp>
        <p:nvSpPr>
          <p:cNvPr id="29" name="Text 27"/>
          <p:cNvSpPr txBox="1"/>
          <p:nvPr/>
        </p:nvSpPr>
        <p:spPr>
          <a:xfrm>
            <a:off x="1536192" y="5669280"/>
            <a:ext cx="9509760" cy="292608"/>
          </a:xfrm>
          <a:prstGeom prst="rect">
            <a:avLst/>
          </a:prstGeom>
          <a:noFill/>
          <a:ln/>
        </p:spPr>
        <p:txBody>
          <a:bodyPr wrap="square" lIns="0" tIns="0" rIns="0" bIns="0" rtlCol="0" anchor="ctr"/>
          <a:lstStyle/>
          <a:p>
            <a:pPr marL="0" indent="0">
              <a:buNone/>
            </a:pPr>
            <a:r>
              <a:rPr lang="en-US" sz="1250" dirty="0">
                <a:solidFill>
                  <a:srgbClr val="6E625C"/>
                </a:solidFill>
                <a:latin typeface="Calibri" pitchFamily="34" charset="0"/>
                <a:ea typeface="Calibri" pitchFamily="34" charset="-122"/>
                <a:cs typeface="Calibri" pitchFamily="34" charset="-120"/>
              </a:rPr>
              <a:t>Run structured QA on dashboards and present findings clearly to reviewers.</a:t>
            </a:r>
            <a:endParaRPr lang="en-US" sz="1250" dirty="0"/>
          </a:p>
        </p:txBody>
      </p:sp>
      <p:sp>
        <p:nvSpPr>
          <p:cNvPr id="31" name="Shape 3">
            <a:extLst>
              <a:ext uri="{FF2B5EF4-FFF2-40B4-BE49-F238E27FC236}">
                <a16:creationId xmlns:a16="http://schemas.microsoft.com/office/drawing/2014/main" id="{78D45F98-8D35-38FA-EDB8-AC6E05343177}"/>
              </a:ext>
            </a:extLst>
          </p:cNvPr>
          <p:cNvSpPr/>
          <p:nvPr/>
        </p:nvSpPr>
        <p:spPr>
          <a:xfrm>
            <a:off x="862584" y="1658112"/>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3" name="Shape 3">
            <a:extLst>
              <a:ext uri="{FF2B5EF4-FFF2-40B4-BE49-F238E27FC236}">
                <a16:creationId xmlns:a16="http://schemas.microsoft.com/office/drawing/2014/main" id="{45D3D426-6233-8EBC-2D20-9BA57EC43A30}"/>
              </a:ext>
            </a:extLst>
          </p:cNvPr>
          <p:cNvSpPr/>
          <p:nvPr/>
        </p:nvSpPr>
        <p:spPr>
          <a:xfrm>
            <a:off x="862584" y="5388864"/>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5" name="Shape 3">
            <a:extLst>
              <a:ext uri="{FF2B5EF4-FFF2-40B4-BE49-F238E27FC236}">
                <a16:creationId xmlns:a16="http://schemas.microsoft.com/office/drawing/2014/main" id="{F8ED27CC-653B-A15F-6D43-AECF93023118}"/>
              </a:ext>
            </a:extLst>
          </p:cNvPr>
          <p:cNvSpPr/>
          <p:nvPr/>
        </p:nvSpPr>
        <p:spPr>
          <a:xfrm>
            <a:off x="862584" y="4497832"/>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7" name="Shape 3">
            <a:extLst>
              <a:ext uri="{FF2B5EF4-FFF2-40B4-BE49-F238E27FC236}">
                <a16:creationId xmlns:a16="http://schemas.microsoft.com/office/drawing/2014/main" id="{9DB2FCF6-B2AC-A371-EE27-C7702E9CD777}"/>
              </a:ext>
            </a:extLst>
          </p:cNvPr>
          <p:cNvSpPr/>
          <p:nvPr/>
        </p:nvSpPr>
        <p:spPr>
          <a:xfrm>
            <a:off x="862584" y="3569208"/>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9" name="Shape 3">
            <a:extLst>
              <a:ext uri="{FF2B5EF4-FFF2-40B4-BE49-F238E27FC236}">
                <a16:creationId xmlns:a16="http://schemas.microsoft.com/office/drawing/2014/main" id="{5FAF0E5E-E259-3717-BB69-940703E20E0B}"/>
              </a:ext>
            </a:extLst>
          </p:cNvPr>
          <p:cNvSpPr/>
          <p:nvPr/>
        </p:nvSpPr>
        <p:spPr>
          <a:xfrm>
            <a:off x="862584" y="2621280"/>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40" name="TextBox 39">
            <a:extLst>
              <a:ext uri="{FF2B5EF4-FFF2-40B4-BE49-F238E27FC236}">
                <a16:creationId xmlns:a16="http://schemas.microsoft.com/office/drawing/2014/main" id="{C62CA4AC-352A-2F2E-5966-EFBE968B15B4}"/>
              </a:ext>
            </a:extLst>
          </p:cNvPr>
          <p:cNvSpPr txBox="1"/>
          <p:nvPr/>
        </p:nvSpPr>
        <p:spPr>
          <a:xfrm>
            <a:off x="847344" y="1686806"/>
            <a:ext cx="402336" cy="369332"/>
          </a:xfrm>
          <a:prstGeom prst="rect">
            <a:avLst/>
          </a:prstGeom>
          <a:noFill/>
        </p:spPr>
        <p:txBody>
          <a:bodyPr wrap="square" rtlCol="0">
            <a:spAutoFit/>
          </a:bodyPr>
          <a:lstStyle/>
          <a:p>
            <a:pPr algn="ctr"/>
            <a:r>
              <a:rPr lang="en-US" b="1" dirty="0"/>
              <a:t>1</a:t>
            </a:r>
            <a:endParaRPr lang="en-IN" b="1" dirty="0"/>
          </a:p>
        </p:txBody>
      </p:sp>
      <p:sp>
        <p:nvSpPr>
          <p:cNvPr id="42" name="TextBox 41">
            <a:extLst>
              <a:ext uri="{FF2B5EF4-FFF2-40B4-BE49-F238E27FC236}">
                <a16:creationId xmlns:a16="http://schemas.microsoft.com/office/drawing/2014/main" id="{F0C45504-9E30-4A57-3C53-BEC312CF1C40}"/>
              </a:ext>
            </a:extLst>
          </p:cNvPr>
          <p:cNvSpPr txBox="1"/>
          <p:nvPr/>
        </p:nvSpPr>
        <p:spPr>
          <a:xfrm>
            <a:off x="847344" y="5417558"/>
            <a:ext cx="402336" cy="369332"/>
          </a:xfrm>
          <a:prstGeom prst="rect">
            <a:avLst/>
          </a:prstGeom>
          <a:noFill/>
        </p:spPr>
        <p:txBody>
          <a:bodyPr wrap="square" rtlCol="0">
            <a:spAutoFit/>
          </a:bodyPr>
          <a:lstStyle/>
          <a:p>
            <a:pPr algn="ctr"/>
            <a:r>
              <a:rPr lang="en-US" b="1" dirty="0"/>
              <a:t>5</a:t>
            </a:r>
            <a:endParaRPr lang="en-IN" b="1" dirty="0"/>
          </a:p>
        </p:txBody>
      </p:sp>
      <p:sp>
        <p:nvSpPr>
          <p:cNvPr id="44" name="TextBox 43">
            <a:extLst>
              <a:ext uri="{FF2B5EF4-FFF2-40B4-BE49-F238E27FC236}">
                <a16:creationId xmlns:a16="http://schemas.microsoft.com/office/drawing/2014/main" id="{4CAA0063-9657-7119-D3BD-A28754FEA518}"/>
              </a:ext>
            </a:extLst>
          </p:cNvPr>
          <p:cNvSpPr txBox="1"/>
          <p:nvPr/>
        </p:nvSpPr>
        <p:spPr>
          <a:xfrm>
            <a:off x="862584" y="4526526"/>
            <a:ext cx="402336" cy="369332"/>
          </a:xfrm>
          <a:prstGeom prst="rect">
            <a:avLst/>
          </a:prstGeom>
          <a:noFill/>
        </p:spPr>
        <p:txBody>
          <a:bodyPr wrap="square" rtlCol="0">
            <a:spAutoFit/>
          </a:bodyPr>
          <a:lstStyle/>
          <a:p>
            <a:pPr algn="ctr"/>
            <a:r>
              <a:rPr lang="en-US" b="1" dirty="0"/>
              <a:t>4</a:t>
            </a:r>
            <a:endParaRPr lang="en-IN" b="1" dirty="0"/>
          </a:p>
        </p:txBody>
      </p:sp>
      <p:sp>
        <p:nvSpPr>
          <p:cNvPr id="46" name="TextBox 45">
            <a:extLst>
              <a:ext uri="{FF2B5EF4-FFF2-40B4-BE49-F238E27FC236}">
                <a16:creationId xmlns:a16="http://schemas.microsoft.com/office/drawing/2014/main" id="{67938972-9906-4081-5B84-7E77E8F829A4}"/>
              </a:ext>
            </a:extLst>
          </p:cNvPr>
          <p:cNvSpPr txBox="1"/>
          <p:nvPr/>
        </p:nvSpPr>
        <p:spPr>
          <a:xfrm>
            <a:off x="877824" y="3577058"/>
            <a:ext cx="402336" cy="369332"/>
          </a:xfrm>
          <a:prstGeom prst="rect">
            <a:avLst/>
          </a:prstGeom>
          <a:noFill/>
        </p:spPr>
        <p:txBody>
          <a:bodyPr wrap="square" rtlCol="0">
            <a:spAutoFit/>
          </a:bodyPr>
          <a:lstStyle/>
          <a:p>
            <a:pPr algn="ctr"/>
            <a:r>
              <a:rPr lang="en-US" b="1" dirty="0"/>
              <a:t>3</a:t>
            </a:r>
            <a:endParaRPr lang="en-IN" b="1" dirty="0"/>
          </a:p>
        </p:txBody>
      </p:sp>
      <p:sp>
        <p:nvSpPr>
          <p:cNvPr id="48" name="TextBox 47">
            <a:extLst>
              <a:ext uri="{FF2B5EF4-FFF2-40B4-BE49-F238E27FC236}">
                <a16:creationId xmlns:a16="http://schemas.microsoft.com/office/drawing/2014/main" id="{67054E48-733C-3DFA-FD25-C93F450AD237}"/>
              </a:ext>
            </a:extLst>
          </p:cNvPr>
          <p:cNvSpPr txBox="1"/>
          <p:nvPr/>
        </p:nvSpPr>
        <p:spPr>
          <a:xfrm>
            <a:off x="862584" y="2643632"/>
            <a:ext cx="402336" cy="369332"/>
          </a:xfrm>
          <a:prstGeom prst="rect">
            <a:avLst/>
          </a:prstGeom>
          <a:noFill/>
        </p:spPr>
        <p:txBody>
          <a:bodyPr wrap="square" rtlCol="0">
            <a:spAutoFit/>
          </a:bodyPr>
          <a:lstStyle/>
          <a:p>
            <a:pPr algn="ctr"/>
            <a:r>
              <a:rPr lang="en-US" b="1" dirty="0"/>
              <a:t>2</a:t>
            </a:r>
            <a:endParaRPr lang="en-I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txBox="1"/>
          <p:nvPr/>
        </p:nvSpPr>
        <p:spPr>
          <a:xfrm>
            <a:off x="797767" y="585216"/>
            <a:ext cx="10241280" cy="566928"/>
          </a:xfrm>
          <a:prstGeom prst="rect">
            <a:avLst/>
          </a:prstGeom>
          <a:noFill/>
          <a:ln/>
        </p:spPr>
        <p:txBody>
          <a:bodyPr wrap="square" lIns="0" tIns="0" rIns="0" bIns="0" rtlCol="0" anchor="ctr"/>
          <a:lstStyle/>
          <a:p>
            <a:pPr marL="0" indent="0">
              <a:buNone/>
            </a:pPr>
            <a:r>
              <a:rPr lang="en-US" sz="3600" b="1" dirty="0">
                <a:latin typeface="Arial" pitchFamily="34" charset="0"/>
                <a:ea typeface="Arial" pitchFamily="34" charset="-122"/>
                <a:cs typeface="Arial" pitchFamily="34" charset="-120"/>
              </a:rPr>
              <a:t>Project Introduction</a:t>
            </a:r>
            <a:endParaRPr lang="en-US" sz="3600" dirty="0"/>
          </a:p>
        </p:txBody>
      </p:sp>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06</a:t>
            </a:r>
            <a:endParaRPr lang="en-US" sz="1200" dirty="0"/>
          </a:p>
        </p:txBody>
      </p:sp>
      <p:sp>
        <p:nvSpPr>
          <p:cNvPr id="5" name="Shape 3"/>
          <p:cNvSpPr/>
          <p:nvPr/>
        </p:nvSpPr>
        <p:spPr>
          <a:xfrm>
            <a:off x="540616" y="1517904"/>
            <a:ext cx="10287000" cy="4206240"/>
          </a:xfrm>
          <a:prstGeom prst="roundRect">
            <a:avLst>
              <a:gd name="adj" fmla="val 2609"/>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6" name="Text 4"/>
          <p:cNvSpPr txBox="1"/>
          <p:nvPr/>
        </p:nvSpPr>
        <p:spPr>
          <a:xfrm>
            <a:off x="1005840" y="1828800"/>
            <a:ext cx="6035040" cy="658368"/>
          </a:xfrm>
          <a:prstGeom prst="rect">
            <a:avLst/>
          </a:prstGeom>
          <a:noFill/>
          <a:ln/>
        </p:spPr>
        <p:txBody>
          <a:bodyPr wrap="square" lIns="0" tIns="0" rIns="0" bIns="0" rtlCol="0" anchor="ctr"/>
          <a:lstStyle/>
          <a:p>
            <a:pPr marL="0" indent="0">
              <a:buNone/>
            </a:pPr>
            <a:r>
              <a:rPr lang="en-US" sz="2000" b="1" dirty="0">
                <a:solidFill>
                  <a:schemeClr val="accent2">
                    <a:lumMod val="75000"/>
                  </a:schemeClr>
                </a:solidFill>
                <a:latin typeface="Arial" pitchFamily="34" charset="0"/>
                <a:ea typeface="Arial" pitchFamily="34" charset="-122"/>
                <a:cs typeface="Arial" pitchFamily="34" charset="-120"/>
              </a:rPr>
              <a:t>Hospital Operations &amp; Patient Analysis</a:t>
            </a:r>
            <a:endParaRPr lang="en-US" sz="2000" dirty="0">
              <a:solidFill>
                <a:schemeClr val="accent2">
                  <a:lumMod val="75000"/>
                </a:schemeClr>
              </a:solidFill>
            </a:endParaRPr>
          </a:p>
        </p:txBody>
      </p:sp>
      <p:sp>
        <p:nvSpPr>
          <p:cNvPr id="7" name="Text 5"/>
          <p:cNvSpPr txBox="1"/>
          <p:nvPr/>
        </p:nvSpPr>
        <p:spPr>
          <a:xfrm>
            <a:off x="985313" y="2377440"/>
            <a:ext cx="9726230" cy="2103120"/>
          </a:xfrm>
          <a:prstGeom prst="rect">
            <a:avLst/>
          </a:prstGeom>
          <a:noFill/>
          <a:ln/>
        </p:spPr>
        <p:txBody>
          <a:bodyPr wrap="square" lIns="0" tIns="0" rIns="0" bIns="0" rtlCol="0" anchor="ctr"/>
          <a:lstStyle/>
          <a:p>
            <a:pPr marL="0" indent="0">
              <a:lnSpc>
                <a:spcPts val="2100"/>
              </a:lnSpc>
              <a:buNone/>
            </a:pPr>
            <a:r>
              <a:rPr lang="en-US" sz="1600" dirty="0">
                <a:solidFill>
                  <a:srgbClr val="6E625C"/>
                </a:solidFill>
                <a:latin typeface="Calibri" pitchFamily="34" charset="0"/>
                <a:ea typeface="Calibri" pitchFamily="34" charset="-122"/>
                <a:cs typeface="Calibri" pitchFamily="34" charset="-120"/>
              </a:rPr>
              <a:t>A healthcare analytics and visualisation project that converts hospital operational and patient-level data into clear management insights.</a:t>
            </a:r>
            <a:endParaRPr lang="en-US" sz="1600" dirty="0"/>
          </a:p>
          <a:p>
            <a:pPr marL="0" indent="0">
              <a:lnSpc>
                <a:spcPts val="2100"/>
              </a:lnSpc>
              <a:buNone/>
            </a:pPr>
            <a:endParaRPr lang="en-US" sz="1600" dirty="0"/>
          </a:p>
          <a:p>
            <a:pPr marL="0" indent="0">
              <a:lnSpc>
                <a:spcPts val="2100"/>
              </a:lnSpc>
              <a:buNone/>
            </a:pPr>
            <a:r>
              <a:rPr lang="en-US" sz="1600" dirty="0">
                <a:solidFill>
                  <a:srgbClr val="6E625C"/>
                </a:solidFill>
                <a:latin typeface="Calibri" pitchFamily="34" charset="0"/>
                <a:ea typeface="Calibri" pitchFamily="34" charset="-122"/>
                <a:cs typeface="Calibri" pitchFamily="34" charset="-120"/>
              </a:rPr>
              <a:t>The analysis covers admissions and discharges, patient transfers, department performance, billing and revenue, readmissions, bed and ICU capacity, staffing and equipment utilisation — presented as one connected analytical view.</a:t>
            </a:r>
            <a:endParaRPr lang="en-US" sz="1600" dirty="0"/>
          </a:p>
        </p:txBody>
      </p:sp>
      <p:sp>
        <p:nvSpPr>
          <p:cNvPr id="8" name="Text 6"/>
          <p:cNvSpPr txBox="1"/>
          <p:nvPr/>
        </p:nvSpPr>
        <p:spPr>
          <a:xfrm>
            <a:off x="1005840" y="4846320"/>
            <a:ext cx="9080552" cy="640080"/>
          </a:xfrm>
          <a:prstGeom prst="rect">
            <a:avLst/>
          </a:prstGeom>
          <a:noFill/>
          <a:ln/>
        </p:spPr>
        <p:txBody>
          <a:bodyPr wrap="square" lIns="0" tIns="0" rIns="0" bIns="0" rtlCol="0" anchor="ctr"/>
          <a:lstStyle/>
          <a:p>
            <a:pPr marL="0" indent="0">
              <a:buNone/>
            </a:pPr>
            <a:r>
              <a:rPr lang="en-US" sz="1400" b="1" dirty="0">
                <a:solidFill>
                  <a:srgbClr val="FF9966"/>
                </a:solidFill>
                <a:latin typeface="Calibri" pitchFamily="34" charset="0"/>
                <a:ea typeface="Calibri" pitchFamily="34" charset="-122"/>
                <a:cs typeface="Calibri" pitchFamily="34" charset="-120"/>
              </a:rPr>
              <a:t>Goal: support descriptive operational analysis and decision support — not clinical diagnosis or treatment decisions.</a:t>
            </a:r>
            <a:endParaRPr lang="en-US" sz="1400" dirty="0">
              <a:solidFill>
                <a:srgbClr val="FF99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txBox="1"/>
          <p:nvPr/>
        </p:nvSpPr>
        <p:spPr>
          <a:xfrm>
            <a:off x="685800" y="658368"/>
            <a:ext cx="10241280" cy="566928"/>
          </a:xfrm>
          <a:prstGeom prst="rect">
            <a:avLst/>
          </a:prstGeom>
          <a:noFill/>
          <a:ln/>
        </p:spPr>
        <p:txBody>
          <a:bodyPr wrap="square" lIns="0" tIns="0" rIns="0" bIns="0" rtlCol="0" anchor="ctr"/>
          <a:lstStyle/>
          <a:p>
            <a:pPr marL="0" indent="0">
              <a:buNone/>
            </a:pPr>
            <a:r>
              <a:rPr lang="en-US" sz="3000" b="1" dirty="0">
                <a:solidFill>
                  <a:srgbClr val="2A2523"/>
                </a:solidFill>
                <a:latin typeface="Arial" pitchFamily="34" charset="0"/>
                <a:ea typeface="Arial" pitchFamily="34" charset="-122"/>
                <a:cs typeface="Arial" pitchFamily="34" charset="-120"/>
              </a:rPr>
              <a:t>Problem Statement</a:t>
            </a:r>
            <a:endParaRPr lang="en-US" sz="3000" dirty="0"/>
          </a:p>
        </p:txBody>
      </p:sp>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07</a:t>
            </a:r>
            <a:endParaRPr lang="en-US" sz="1200" dirty="0"/>
          </a:p>
        </p:txBody>
      </p:sp>
      <p:sp>
        <p:nvSpPr>
          <p:cNvPr id="5" name="Shape 3"/>
          <p:cNvSpPr/>
          <p:nvPr/>
        </p:nvSpPr>
        <p:spPr>
          <a:xfrm>
            <a:off x="685800" y="1554480"/>
            <a:ext cx="5029200" cy="41605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6" name="Text 4"/>
          <p:cNvSpPr txBox="1"/>
          <p:nvPr/>
        </p:nvSpPr>
        <p:spPr>
          <a:xfrm>
            <a:off x="1005840" y="1828800"/>
            <a:ext cx="4389120" cy="320040"/>
          </a:xfrm>
          <a:prstGeom prst="rect">
            <a:avLst/>
          </a:prstGeom>
          <a:noFill/>
          <a:ln/>
        </p:spPr>
        <p:txBody>
          <a:bodyPr wrap="square" lIns="0" tIns="0" rIns="0" bIns="0" rtlCol="0" anchor="ctr"/>
          <a:lstStyle/>
          <a:p>
            <a:pPr marL="0" indent="0">
              <a:buNone/>
            </a:pPr>
            <a:r>
              <a:rPr lang="en-US" sz="1900" b="1" dirty="0">
                <a:solidFill>
                  <a:srgbClr val="D9563C"/>
                </a:solidFill>
                <a:latin typeface="Arial" pitchFamily="34" charset="0"/>
                <a:ea typeface="Arial" pitchFamily="34" charset="-122"/>
                <a:cs typeface="Arial" pitchFamily="34" charset="-120"/>
              </a:rPr>
              <a:t>The situation</a:t>
            </a:r>
            <a:endParaRPr lang="en-US" sz="1900" dirty="0"/>
          </a:p>
        </p:txBody>
      </p:sp>
      <p:sp>
        <p:nvSpPr>
          <p:cNvPr id="7" name="Text 5"/>
          <p:cNvSpPr txBox="1"/>
          <p:nvPr/>
        </p:nvSpPr>
        <p:spPr>
          <a:xfrm>
            <a:off x="1005840" y="2240280"/>
            <a:ext cx="4389120" cy="3108960"/>
          </a:xfrm>
          <a:prstGeom prst="rect">
            <a:avLst/>
          </a:prstGeom>
          <a:noFill/>
          <a:ln/>
        </p:spPr>
        <p:txBody>
          <a:bodyPr wrap="square" lIns="0" tIns="0" rIns="0" bIns="0" rtlCol="0" anchor="ctr"/>
          <a:lstStyle/>
          <a:p>
            <a:pPr marL="0" indent="0">
              <a:lnSpc>
                <a:spcPts val="2100"/>
              </a:lnSpc>
              <a:buNone/>
            </a:pPr>
            <a:r>
              <a:rPr lang="en-US" sz="1400" dirty="0">
                <a:solidFill>
                  <a:srgbClr val="5B4F49"/>
                </a:solidFill>
                <a:latin typeface="Calibri" pitchFamily="34" charset="0"/>
                <a:ea typeface="Calibri" pitchFamily="34" charset="-122"/>
                <a:cs typeface="Calibri" pitchFamily="34" charset="-120"/>
              </a:rPr>
              <a:t>Hospital datasets hold a very large number of operational records and measures. Admissions, patient movement, revenue, capacity, staffing and equipment information are usually stored and reviewed separately.</a:t>
            </a:r>
            <a:endParaRPr lang="en-US" sz="1400" dirty="0"/>
          </a:p>
          <a:p>
            <a:pPr marL="0" indent="0">
              <a:lnSpc>
                <a:spcPts val="2100"/>
              </a:lnSpc>
              <a:buNone/>
            </a:pPr>
            <a:endParaRPr lang="en-US" sz="1400" dirty="0"/>
          </a:p>
          <a:p>
            <a:pPr marL="0" indent="0">
              <a:lnSpc>
                <a:spcPts val="2100"/>
              </a:lnSpc>
              <a:buNone/>
            </a:pPr>
            <a:r>
              <a:rPr lang="en-US" sz="1400" dirty="0">
                <a:solidFill>
                  <a:srgbClr val="5B4F49"/>
                </a:solidFill>
                <a:latin typeface="Calibri" pitchFamily="34" charset="0"/>
                <a:ea typeface="Calibri" pitchFamily="34" charset="-122"/>
                <a:cs typeface="Calibri" pitchFamily="34" charset="-120"/>
              </a:rPr>
              <a:t>Reviewed in isolation, none of these tables explains the overall operational picture — and manual review makes comparison across departments and periods slow and error-prone.</a:t>
            </a:r>
            <a:endParaRPr lang="en-US" sz="1400" dirty="0"/>
          </a:p>
        </p:txBody>
      </p:sp>
      <p:sp>
        <p:nvSpPr>
          <p:cNvPr id="8" name="Shape 6"/>
          <p:cNvSpPr/>
          <p:nvPr/>
        </p:nvSpPr>
        <p:spPr>
          <a:xfrm>
            <a:off x="6035040" y="1554480"/>
            <a:ext cx="5468112" cy="914400"/>
          </a:xfrm>
          <a:prstGeom prst="roundRect">
            <a:avLst>
              <a:gd name="adj" fmla="val 12000"/>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1" name="Text 9"/>
          <p:cNvSpPr txBox="1"/>
          <p:nvPr/>
        </p:nvSpPr>
        <p:spPr>
          <a:xfrm>
            <a:off x="6858000" y="1737360"/>
            <a:ext cx="4480560" cy="256032"/>
          </a:xfrm>
          <a:prstGeom prst="rect">
            <a:avLst/>
          </a:prstGeom>
          <a:noFill/>
          <a:ln/>
        </p:spPr>
        <p:txBody>
          <a:bodyPr wrap="square" lIns="0" tIns="0" rIns="0" bIns="0" rtlCol="0" anchor="ctr"/>
          <a:lstStyle/>
          <a:p>
            <a:pPr marL="0" indent="0">
              <a:buNone/>
            </a:pPr>
            <a:r>
              <a:rPr lang="en-US" sz="1350" b="1" dirty="0">
                <a:solidFill>
                  <a:srgbClr val="2A2523"/>
                </a:solidFill>
                <a:latin typeface="Arial" pitchFamily="34" charset="0"/>
                <a:ea typeface="Arial" pitchFamily="34" charset="-122"/>
                <a:cs typeface="Arial" pitchFamily="34" charset="-120"/>
              </a:rPr>
              <a:t>No single operational view</a:t>
            </a:r>
            <a:endParaRPr lang="en-US" sz="1350" dirty="0"/>
          </a:p>
        </p:txBody>
      </p:sp>
      <p:sp>
        <p:nvSpPr>
          <p:cNvPr id="12" name="Text 10"/>
          <p:cNvSpPr txBox="1"/>
          <p:nvPr/>
        </p:nvSpPr>
        <p:spPr>
          <a:xfrm>
            <a:off x="6858000" y="2011680"/>
            <a:ext cx="4480560" cy="36576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Separate tables for patients, capacity, staff and revenue.</a:t>
            </a:r>
            <a:endParaRPr lang="en-US" sz="1150" dirty="0"/>
          </a:p>
        </p:txBody>
      </p:sp>
      <p:sp>
        <p:nvSpPr>
          <p:cNvPr id="13" name="Shape 11"/>
          <p:cNvSpPr/>
          <p:nvPr/>
        </p:nvSpPr>
        <p:spPr>
          <a:xfrm>
            <a:off x="6035040" y="2633472"/>
            <a:ext cx="5468112" cy="914400"/>
          </a:xfrm>
          <a:prstGeom prst="roundRect">
            <a:avLst>
              <a:gd name="adj" fmla="val 12000"/>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6" name="Text 14"/>
          <p:cNvSpPr txBox="1"/>
          <p:nvPr/>
        </p:nvSpPr>
        <p:spPr>
          <a:xfrm>
            <a:off x="6858000" y="2816352"/>
            <a:ext cx="4480560" cy="256032"/>
          </a:xfrm>
          <a:prstGeom prst="rect">
            <a:avLst/>
          </a:prstGeom>
          <a:noFill/>
          <a:ln/>
        </p:spPr>
        <p:txBody>
          <a:bodyPr wrap="square" lIns="0" tIns="0" rIns="0" bIns="0" rtlCol="0" anchor="ctr"/>
          <a:lstStyle/>
          <a:p>
            <a:pPr marL="0" indent="0">
              <a:buNone/>
            </a:pPr>
            <a:r>
              <a:rPr lang="en-US" sz="1350" b="1" dirty="0">
                <a:solidFill>
                  <a:srgbClr val="2A2523"/>
                </a:solidFill>
                <a:latin typeface="Arial" pitchFamily="34" charset="0"/>
                <a:ea typeface="Arial" pitchFamily="34" charset="-122"/>
                <a:cs typeface="Arial" pitchFamily="34" charset="-120"/>
              </a:rPr>
              <a:t>Hard to compare</a:t>
            </a:r>
            <a:endParaRPr lang="en-US" sz="1350" dirty="0"/>
          </a:p>
        </p:txBody>
      </p:sp>
      <p:sp>
        <p:nvSpPr>
          <p:cNvPr id="17" name="Text 15"/>
          <p:cNvSpPr txBox="1"/>
          <p:nvPr/>
        </p:nvSpPr>
        <p:spPr>
          <a:xfrm>
            <a:off x="6858000" y="3090672"/>
            <a:ext cx="4480560" cy="36576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Departments, hospitals and time periods cannot be lined up quickly.</a:t>
            </a:r>
            <a:endParaRPr lang="en-US" sz="1150" dirty="0"/>
          </a:p>
        </p:txBody>
      </p:sp>
      <p:sp>
        <p:nvSpPr>
          <p:cNvPr id="18" name="Shape 16"/>
          <p:cNvSpPr/>
          <p:nvPr/>
        </p:nvSpPr>
        <p:spPr>
          <a:xfrm>
            <a:off x="6035040" y="3712464"/>
            <a:ext cx="5468112" cy="914400"/>
          </a:xfrm>
          <a:prstGeom prst="roundRect">
            <a:avLst>
              <a:gd name="adj" fmla="val 12000"/>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21" name="Text 19"/>
          <p:cNvSpPr txBox="1"/>
          <p:nvPr/>
        </p:nvSpPr>
        <p:spPr>
          <a:xfrm>
            <a:off x="6858000" y="3895344"/>
            <a:ext cx="4480560" cy="256032"/>
          </a:xfrm>
          <a:prstGeom prst="rect">
            <a:avLst/>
          </a:prstGeom>
          <a:noFill/>
          <a:ln/>
        </p:spPr>
        <p:txBody>
          <a:bodyPr wrap="square" lIns="0" tIns="0" rIns="0" bIns="0" rtlCol="0" anchor="ctr"/>
          <a:lstStyle/>
          <a:p>
            <a:pPr marL="0" indent="0">
              <a:buNone/>
            </a:pPr>
            <a:r>
              <a:rPr lang="en-US" sz="1350" b="1" dirty="0">
                <a:solidFill>
                  <a:srgbClr val="2A2523"/>
                </a:solidFill>
                <a:latin typeface="Arial" pitchFamily="34" charset="0"/>
                <a:ea typeface="Arial" pitchFamily="34" charset="-122"/>
                <a:cs typeface="Arial" pitchFamily="34" charset="-120"/>
              </a:rPr>
              <a:t>Trends stay hidden</a:t>
            </a:r>
            <a:endParaRPr lang="en-US" sz="1350" dirty="0"/>
          </a:p>
        </p:txBody>
      </p:sp>
      <p:sp>
        <p:nvSpPr>
          <p:cNvPr id="22" name="Text 20"/>
          <p:cNvSpPr txBox="1"/>
          <p:nvPr/>
        </p:nvSpPr>
        <p:spPr>
          <a:xfrm>
            <a:off x="6858000" y="4169664"/>
            <a:ext cx="4480560" cy="36576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Length of stay, readmission and utilisation patterns are not visible.</a:t>
            </a:r>
            <a:endParaRPr lang="en-US" sz="1150" dirty="0"/>
          </a:p>
        </p:txBody>
      </p:sp>
      <p:sp>
        <p:nvSpPr>
          <p:cNvPr id="23" name="Shape 21"/>
          <p:cNvSpPr/>
          <p:nvPr/>
        </p:nvSpPr>
        <p:spPr>
          <a:xfrm>
            <a:off x="6035040" y="4791456"/>
            <a:ext cx="5468112" cy="914400"/>
          </a:xfrm>
          <a:prstGeom prst="roundRect">
            <a:avLst>
              <a:gd name="adj" fmla="val 12000"/>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26" name="Text 24"/>
          <p:cNvSpPr txBox="1"/>
          <p:nvPr/>
        </p:nvSpPr>
        <p:spPr>
          <a:xfrm>
            <a:off x="6858000" y="4974336"/>
            <a:ext cx="4480560" cy="256032"/>
          </a:xfrm>
          <a:prstGeom prst="rect">
            <a:avLst/>
          </a:prstGeom>
          <a:noFill/>
          <a:ln/>
        </p:spPr>
        <p:txBody>
          <a:bodyPr wrap="square" lIns="0" tIns="0" rIns="0" bIns="0" rtlCol="0" anchor="ctr"/>
          <a:lstStyle/>
          <a:p>
            <a:pPr marL="0" indent="0">
              <a:buNone/>
            </a:pPr>
            <a:r>
              <a:rPr lang="en-US" sz="1350" b="1" dirty="0">
                <a:solidFill>
                  <a:srgbClr val="2A2523"/>
                </a:solidFill>
                <a:latin typeface="Arial" pitchFamily="34" charset="0"/>
                <a:ea typeface="Arial" pitchFamily="34" charset="-122"/>
                <a:cs typeface="Arial" pitchFamily="34" charset="-120"/>
              </a:rPr>
              <a:t>KPIs are unverified</a:t>
            </a:r>
            <a:endParaRPr lang="en-US" sz="1350" dirty="0"/>
          </a:p>
        </p:txBody>
      </p:sp>
      <p:sp>
        <p:nvSpPr>
          <p:cNvPr id="27" name="Text 25"/>
          <p:cNvSpPr txBox="1"/>
          <p:nvPr/>
        </p:nvSpPr>
        <p:spPr>
          <a:xfrm>
            <a:off x="6858000" y="5248656"/>
            <a:ext cx="4480560" cy="36576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No consistent definition, denominator or independent check.</a:t>
            </a:r>
            <a:endParaRPr lang="en-US" sz="1150" dirty="0"/>
          </a:p>
        </p:txBody>
      </p:sp>
      <p:sp>
        <p:nvSpPr>
          <p:cNvPr id="29" name="Shape 3">
            <a:extLst>
              <a:ext uri="{FF2B5EF4-FFF2-40B4-BE49-F238E27FC236}">
                <a16:creationId xmlns:a16="http://schemas.microsoft.com/office/drawing/2014/main" id="{A55CEB66-00B9-BB24-9D02-3B548C4BA52B}"/>
              </a:ext>
            </a:extLst>
          </p:cNvPr>
          <p:cNvSpPr/>
          <p:nvPr/>
        </p:nvSpPr>
        <p:spPr>
          <a:xfrm>
            <a:off x="6220564" y="5002203"/>
            <a:ext cx="47741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1" name="Shape 3">
            <a:extLst>
              <a:ext uri="{FF2B5EF4-FFF2-40B4-BE49-F238E27FC236}">
                <a16:creationId xmlns:a16="http://schemas.microsoft.com/office/drawing/2014/main" id="{AB0EE27D-DC8E-97FD-C182-EC9D3E3519EC}"/>
              </a:ext>
            </a:extLst>
          </p:cNvPr>
          <p:cNvSpPr/>
          <p:nvPr/>
        </p:nvSpPr>
        <p:spPr>
          <a:xfrm>
            <a:off x="6220564" y="3956304"/>
            <a:ext cx="47741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3" name="Shape 3">
            <a:extLst>
              <a:ext uri="{FF2B5EF4-FFF2-40B4-BE49-F238E27FC236}">
                <a16:creationId xmlns:a16="http://schemas.microsoft.com/office/drawing/2014/main" id="{44912738-37F8-F5C6-5CCE-15D29788FC5D}"/>
              </a:ext>
            </a:extLst>
          </p:cNvPr>
          <p:cNvSpPr/>
          <p:nvPr/>
        </p:nvSpPr>
        <p:spPr>
          <a:xfrm>
            <a:off x="6207812" y="2859024"/>
            <a:ext cx="47741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5" name="Shape 3">
            <a:extLst>
              <a:ext uri="{FF2B5EF4-FFF2-40B4-BE49-F238E27FC236}">
                <a16:creationId xmlns:a16="http://schemas.microsoft.com/office/drawing/2014/main" id="{D50620BF-C24C-5D50-6D76-BFA72E6E9363}"/>
              </a:ext>
            </a:extLst>
          </p:cNvPr>
          <p:cNvSpPr/>
          <p:nvPr/>
        </p:nvSpPr>
        <p:spPr>
          <a:xfrm>
            <a:off x="6220564" y="1828800"/>
            <a:ext cx="47741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6" name="TextBox 35">
            <a:extLst>
              <a:ext uri="{FF2B5EF4-FFF2-40B4-BE49-F238E27FC236}">
                <a16:creationId xmlns:a16="http://schemas.microsoft.com/office/drawing/2014/main" id="{682D3E22-C3C3-8733-0F4D-552F946055D0}"/>
              </a:ext>
            </a:extLst>
          </p:cNvPr>
          <p:cNvSpPr txBox="1"/>
          <p:nvPr/>
        </p:nvSpPr>
        <p:spPr>
          <a:xfrm>
            <a:off x="6268694" y="1875782"/>
            <a:ext cx="381156" cy="369332"/>
          </a:xfrm>
          <a:prstGeom prst="rect">
            <a:avLst/>
          </a:prstGeom>
          <a:noFill/>
        </p:spPr>
        <p:txBody>
          <a:bodyPr wrap="square" rtlCol="0">
            <a:spAutoFit/>
          </a:bodyPr>
          <a:lstStyle/>
          <a:p>
            <a:pPr algn="ctr"/>
            <a:r>
              <a:rPr lang="en-US" b="1" dirty="0">
                <a:solidFill>
                  <a:schemeClr val="accent2">
                    <a:lumMod val="75000"/>
                  </a:schemeClr>
                </a:solidFill>
              </a:rPr>
              <a:t>1</a:t>
            </a:r>
            <a:endParaRPr lang="en-IN" b="1" dirty="0">
              <a:solidFill>
                <a:schemeClr val="accent2">
                  <a:lumMod val="75000"/>
                </a:schemeClr>
              </a:solidFill>
            </a:endParaRPr>
          </a:p>
        </p:txBody>
      </p:sp>
      <p:sp>
        <p:nvSpPr>
          <p:cNvPr id="40" name="TextBox 39">
            <a:extLst>
              <a:ext uri="{FF2B5EF4-FFF2-40B4-BE49-F238E27FC236}">
                <a16:creationId xmlns:a16="http://schemas.microsoft.com/office/drawing/2014/main" id="{C436085B-0FDB-C34F-35E5-16D0489AB52D}"/>
              </a:ext>
            </a:extLst>
          </p:cNvPr>
          <p:cNvSpPr txBox="1"/>
          <p:nvPr/>
        </p:nvSpPr>
        <p:spPr>
          <a:xfrm>
            <a:off x="6268694" y="2916412"/>
            <a:ext cx="381156" cy="369332"/>
          </a:xfrm>
          <a:prstGeom prst="rect">
            <a:avLst/>
          </a:prstGeom>
          <a:noFill/>
        </p:spPr>
        <p:txBody>
          <a:bodyPr wrap="square" rtlCol="0">
            <a:spAutoFit/>
          </a:bodyPr>
          <a:lstStyle/>
          <a:p>
            <a:pPr algn="ctr"/>
            <a:r>
              <a:rPr lang="en-US" b="1" dirty="0">
                <a:solidFill>
                  <a:schemeClr val="accent2">
                    <a:lumMod val="75000"/>
                  </a:schemeClr>
                </a:solidFill>
              </a:rPr>
              <a:t>2</a:t>
            </a:r>
            <a:endParaRPr lang="en-IN" b="1" dirty="0">
              <a:solidFill>
                <a:schemeClr val="accent2">
                  <a:lumMod val="75000"/>
                </a:schemeClr>
              </a:solidFill>
            </a:endParaRPr>
          </a:p>
        </p:txBody>
      </p:sp>
      <p:sp>
        <p:nvSpPr>
          <p:cNvPr id="42" name="TextBox 41">
            <a:extLst>
              <a:ext uri="{FF2B5EF4-FFF2-40B4-BE49-F238E27FC236}">
                <a16:creationId xmlns:a16="http://schemas.microsoft.com/office/drawing/2014/main" id="{92D371DE-9148-C02F-B597-BA7DE61DA365}"/>
              </a:ext>
            </a:extLst>
          </p:cNvPr>
          <p:cNvSpPr txBox="1"/>
          <p:nvPr/>
        </p:nvSpPr>
        <p:spPr>
          <a:xfrm>
            <a:off x="6255942" y="3973099"/>
            <a:ext cx="381156" cy="369332"/>
          </a:xfrm>
          <a:prstGeom prst="rect">
            <a:avLst/>
          </a:prstGeom>
          <a:noFill/>
        </p:spPr>
        <p:txBody>
          <a:bodyPr wrap="square" rtlCol="0">
            <a:spAutoFit/>
          </a:bodyPr>
          <a:lstStyle/>
          <a:p>
            <a:pPr algn="ctr"/>
            <a:r>
              <a:rPr lang="en-US" b="1" dirty="0">
                <a:solidFill>
                  <a:schemeClr val="accent2">
                    <a:lumMod val="75000"/>
                  </a:schemeClr>
                </a:solidFill>
              </a:rPr>
              <a:t>3</a:t>
            </a:r>
            <a:endParaRPr lang="en-IN" b="1" dirty="0">
              <a:solidFill>
                <a:schemeClr val="accent2">
                  <a:lumMod val="75000"/>
                </a:schemeClr>
              </a:solidFill>
            </a:endParaRPr>
          </a:p>
        </p:txBody>
      </p:sp>
      <p:sp>
        <p:nvSpPr>
          <p:cNvPr id="44" name="TextBox 43">
            <a:extLst>
              <a:ext uri="{FF2B5EF4-FFF2-40B4-BE49-F238E27FC236}">
                <a16:creationId xmlns:a16="http://schemas.microsoft.com/office/drawing/2014/main" id="{5D35C704-EEAB-446F-0F4E-2A977886B0BD}"/>
              </a:ext>
            </a:extLst>
          </p:cNvPr>
          <p:cNvSpPr txBox="1"/>
          <p:nvPr/>
        </p:nvSpPr>
        <p:spPr>
          <a:xfrm>
            <a:off x="6268694" y="5059591"/>
            <a:ext cx="381156" cy="369332"/>
          </a:xfrm>
          <a:prstGeom prst="rect">
            <a:avLst/>
          </a:prstGeom>
          <a:noFill/>
        </p:spPr>
        <p:txBody>
          <a:bodyPr wrap="square" rtlCol="0">
            <a:spAutoFit/>
          </a:bodyPr>
          <a:lstStyle/>
          <a:p>
            <a:pPr algn="ctr"/>
            <a:r>
              <a:rPr lang="en-US" b="1" dirty="0">
                <a:solidFill>
                  <a:schemeClr val="accent2">
                    <a:lumMod val="75000"/>
                  </a:schemeClr>
                </a:solidFill>
              </a:rPr>
              <a:t>4</a:t>
            </a:r>
            <a:endParaRPr lang="en-IN" b="1" dirty="0">
              <a:solidFill>
                <a:schemeClr val="accent2">
                  <a:lumMod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F6815C46-0546-4946-8229-99F85297D5E9}"/>
              </a:ext>
            </a:extLst>
          </p:cNvPr>
          <p:cNvPicPr>
            <a:picLocks noChangeAspect="1"/>
          </p:cNvPicPr>
          <p:nvPr/>
        </p:nvPicPr>
        <p:blipFill>
          <a:blip r:embed="rId3"/>
          <a:stretch>
            <a:fillRect/>
          </a:stretch>
        </p:blipFill>
        <p:spPr>
          <a:xfrm>
            <a:off x="3239" y="0"/>
            <a:ext cx="12185522" cy="6858000"/>
          </a:xfrm>
          <a:prstGeom prst="rect">
            <a:avLst/>
          </a:prstGeom>
        </p:spPr>
      </p:pic>
      <p:sp>
        <p:nvSpPr>
          <p:cNvPr id="4" name="Text 2"/>
          <p:cNvSpPr txBox="1"/>
          <p:nvPr/>
        </p:nvSpPr>
        <p:spPr>
          <a:xfrm>
            <a:off x="685800" y="731520"/>
            <a:ext cx="9144000" cy="548640"/>
          </a:xfrm>
          <a:prstGeom prst="rect">
            <a:avLst/>
          </a:prstGeom>
          <a:noFill/>
          <a:ln/>
        </p:spPr>
        <p:txBody>
          <a:bodyPr wrap="square" lIns="0" tIns="0" rIns="0" bIns="0" rtlCol="0" anchor="ctr"/>
          <a:lstStyle/>
          <a:p>
            <a:pPr marL="0" indent="0">
              <a:buNone/>
            </a:pPr>
            <a:r>
              <a:rPr lang="en-US" sz="2900" b="1" dirty="0">
                <a:solidFill>
                  <a:srgbClr val="2A2523"/>
                </a:solidFill>
                <a:latin typeface="Arial" pitchFamily="34" charset="0"/>
                <a:ea typeface="Arial" pitchFamily="34" charset="-122"/>
                <a:cs typeface="Arial" pitchFamily="34" charset="-120"/>
              </a:rPr>
              <a:t>Project Objectives &amp; Scope</a:t>
            </a:r>
            <a:endParaRPr lang="en-US" sz="2900" dirty="0"/>
          </a:p>
        </p:txBody>
      </p:sp>
      <p:sp>
        <p:nvSpPr>
          <p:cNvPr id="6" name="Text 4"/>
          <p:cNvSpPr txBox="1"/>
          <p:nvPr/>
        </p:nvSpPr>
        <p:spPr>
          <a:xfrm>
            <a:off x="10881360" y="6199632"/>
            <a:ext cx="621792"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09</a:t>
            </a:r>
            <a:endParaRPr lang="en-US" sz="1200" dirty="0"/>
          </a:p>
        </p:txBody>
      </p:sp>
      <p:sp>
        <p:nvSpPr>
          <p:cNvPr id="7" name="Shape 5"/>
          <p:cNvSpPr/>
          <p:nvPr/>
        </p:nvSpPr>
        <p:spPr>
          <a:xfrm>
            <a:off x="341376" y="1645920"/>
            <a:ext cx="2057400" cy="3630168"/>
          </a:xfrm>
          <a:prstGeom prst="roundRect">
            <a:avLst>
              <a:gd name="adj" fmla="val 533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10" name="Text 8"/>
          <p:cNvSpPr txBox="1"/>
          <p:nvPr/>
        </p:nvSpPr>
        <p:spPr>
          <a:xfrm>
            <a:off x="478282" y="2331720"/>
            <a:ext cx="1764792" cy="548640"/>
          </a:xfrm>
          <a:prstGeom prst="rect">
            <a:avLst/>
          </a:prstGeom>
          <a:noFill/>
          <a:ln/>
        </p:spPr>
        <p:txBody>
          <a:bodyPr wrap="square" lIns="0" tIns="0" rIns="0" bIns="0" rtlCol="0" anchor="ctr"/>
          <a:lstStyle/>
          <a:p>
            <a:pPr marL="0" indent="0" algn="ctr">
              <a:buNone/>
            </a:pPr>
            <a:r>
              <a:rPr lang="en-US" sz="1400" b="1" dirty="0">
                <a:solidFill>
                  <a:srgbClr val="2A2523"/>
                </a:solidFill>
                <a:latin typeface="Arial" pitchFamily="34" charset="0"/>
                <a:ea typeface="Arial" pitchFamily="34" charset="-122"/>
                <a:cs typeface="Arial" pitchFamily="34" charset="-120"/>
              </a:rPr>
              <a:t>Patient Flow</a:t>
            </a:r>
            <a:endParaRPr lang="en-US" sz="1400" dirty="0"/>
          </a:p>
        </p:txBody>
      </p:sp>
      <p:sp>
        <p:nvSpPr>
          <p:cNvPr id="11" name="Text 9"/>
          <p:cNvSpPr txBox="1"/>
          <p:nvPr/>
        </p:nvSpPr>
        <p:spPr>
          <a:xfrm>
            <a:off x="542544" y="2880360"/>
            <a:ext cx="1655064" cy="20116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Admission and discharge trends</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Transfers between departments</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Age groups and stay categories</a:t>
            </a:r>
            <a:endParaRPr lang="en-US" sz="1150" dirty="0"/>
          </a:p>
        </p:txBody>
      </p:sp>
      <p:sp>
        <p:nvSpPr>
          <p:cNvPr id="12" name="Shape 10"/>
          <p:cNvSpPr/>
          <p:nvPr/>
        </p:nvSpPr>
        <p:spPr>
          <a:xfrm>
            <a:off x="2634996" y="1645920"/>
            <a:ext cx="2057400" cy="3611880"/>
          </a:xfrm>
          <a:prstGeom prst="roundRect">
            <a:avLst>
              <a:gd name="adj" fmla="val 533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14" name="Text 12"/>
          <p:cNvSpPr txBox="1"/>
          <p:nvPr/>
        </p:nvSpPr>
        <p:spPr>
          <a:xfrm>
            <a:off x="3334512" y="18572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2778252" y="2415032"/>
            <a:ext cx="1764792" cy="548640"/>
          </a:xfrm>
          <a:prstGeom prst="rect">
            <a:avLst/>
          </a:prstGeom>
          <a:noFill/>
          <a:ln/>
        </p:spPr>
        <p:txBody>
          <a:bodyPr wrap="square" lIns="0" tIns="0" rIns="0" bIns="0" rtlCol="0" anchor="ctr"/>
          <a:lstStyle/>
          <a:p>
            <a:pPr marL="0" indent="0" algn="ctr">
              <a:buNone/>
            </a:pPr>
            <a:r>
              <a:rPr lang="en-US" sz="1400" b="1" dirty="0">
                <a:solidFill>
                  <a:srgbClr val="2A2523"/>
                </a:solidFill>
                <a:latin typeface="Arial" pitchFamily="34" charset="0"/>
                <a:ea typeface="Arial" pitchFamily="34" charset="-122"/>
                <a:cs typeface="Arial" pitchFamily="34" charset="-120"/>
              </a:rPr>
              <a:t>Department Performance</a:t>
            </a:r>
            <a:endParaRPr lang="en-US" sz="1400" dirty="0"/>
          </a:p>
        </p:txBody>
      </p:sp>
      <p:sp>
        <p:nvSpPr>
          <p:cNvPr id="16" name="Text 14"/>
          <p:cNvSpPr txBox="1"/>
          <p:nvPr/>
        </p:nvSpPr>
        <p:spPr>
          <a:xfrm>
            <a:off x="2819400" y="2963672"/>
            <a:ext cx="1655064" cy="20116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Workload and patient volume</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Staffing and bed capacity</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Department-wise readmission</a:t>
            </a:r>
            <a:endParaRPr lang="en-US" sz="1150" dirty="0"/>
          </a:p>
        </p:txBody>
      </p:sp>
      <p:sp>
        <p:nvSpPr>
          <p:cNvPr id="17" name="Shape 15"/>
          <p:cNvSpPr/>
          <p:nvPr/>
        </p:nvSpPr>
        <p:spPr>
          <a:xfrm>
            <a:off x="4974336" y="1645920"/>
            <a:ext cx="2057400" cy="3619762"/>
          </a:xfrm>
          <a:prstGeom prst="roundRect">
            <a:avLst>
              <a:gd name="adj" fmla="val 533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20" name="Text 18"/>
          <p:cNvSpPr txBox="1"/>
          <p:nvPr/>
        </p:nvSpPr>
        <p:spPr>
          <a:xfrm>
            <a:off x="5135880" y="2345436"/>
            <a:ext cx="1764792" cy="548640"/>
          </a:xfrm>
          <a:prstGeom prst="rect">
            <a:avLst/>
          </a:prstGeom>
          <a:noFill/>
          <a:ln/>
        </p:spPr>
        <p:txBody>
          <a:bodyPr wrap="square" lIns="0" tIns="0" rIns="0" bIns="0" rtlCol="0" anchor="ctr"/>
          <a:lstStyle/>
          <a:p>
            <a:pPr marL="0" indent="0" algn="ctr">
              <a:buNone/>
            </a:pPr>
            <a:r>
              <a:rPr lang="en-US" sz="1400" b="1" dirty="0">
                <a:solidFill>
                  <a:srgbClr val="2A2523"/>
                </a:solidFill>
                <a:latin typeface="Arial" pitchFamily="34" charset="0"/>
                <a:ea typeface="Arial" pitchFamily="34" charset="-122"/>
                <a:cs typeface="Arial" pitchFamily="34" charset="-120"/>
              </a:rPr>
              <a:t>Financial Metrics</a:t>
            </a:r>
            <a:endParaRPr lang="en-US" sz="1400" dirty="0"/>
          </a:p>
        </p:txBody>
      </p:sp>
      <p:sp>
        <p:nvSpPr>
          <p:cNvPr id="21" name="Text 19"/>
          <p:cNvSpPr txBox="1"/>
          <p:nvPr/>
        </p:nvSpPr>
        <p:spPr>
          <a:xfrm>
            <a:off x="5207508" y="2944368"/>
            <a:ext cx="1655064" cy="20116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Billing amount and revenue</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Insurance provider mix</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Revenue against length of stay</a:t>
            </a:r>
            <a:endParaRPr lang="en-US" sz="1150" dirty="0"/>
          </a:p>
        </p:txBody>
      </p:sp>
      <p:sp>
        <p:nvSpPr>
          <p:cNvPr id="22" name="Shape 20"/>
          <p:cNvSpPr/>
          <p:nvPr/>
        </p:nvSpPr>
        <p:spPr>
          <a:xfrm>
            <a:off x="7239762" y="1632728"/>
            <a:ext cx="2057400" cy="3657600"/>
          </a:xfrm>
          <a:prstGeom prst="roundRect">
            <a:avLst>
              <a:gd name="adj" fmla="val 533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25" name="Text 23"/>
          <p:cNvSpPr txBox="1"/>
          <p:nvPr/>
        </p:nvSpPr>
        <p:spPr>
          <a:xfrm>
            <a:off x="7324153" y="2325624"/>
            <a:ext cx="1903222" cy="548640"/>
          </a:xfrm>
          <a:prstGeom prst="rect">
            <a:avLst/>
          </a:prstGeom>
          <a:noFill/>
          <a:ln/>
        </p:spPr>
        <p:txBody>
          <a:bodyPr wrap="square" lIns="0" tIns="0" rIns="0" bIns="0" rtlCol="0" anchor="ctr"/>
          <a:lstStyle/>
          <a:p>
            <a:pPr marL="0" indent="0" algn="ctr">
              <a:buNone/>
            </a:pPr>
            <a:r>
              <a:rPr lang="en-US" sz="1400" b="1" dirty="0">
                <a:solidFill>
                  <a:srgbClr val="2A2523"/>
                </a:solidFill>
                <a:latin typeface="Arial" pitchFamily="34" charset="0"/>
                <a:ea typeface="Arial" pitchFamily="34" charset="-122"/>
                <a:cs typeface="Arial" pitchFamily="34" charset="-120"/>
              </a:rPr>
              <a:t>Resources &amp; Capacity</a:t>
            </a:r>
            <a:endParaRPr lang="en-US" sz="1400" dirty="0"/>
          </a:p>
        </p:txBody>
      </p:sp>
      <p:sp>
        <p:nvSpPr>
          <p:cNvPr id="26" name="Text 24"/>
          <p:cNvSpPr txBox="1"/>
          <p:nvPr/>
        </p:nvSpPr>
        <p:spPr>
          <a:xfrm>
            <a:off x="7571232" y="2907793"/>
            <a:ext cx="1655064" cy="20116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Bed and ICU occupancy</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Staff utilisation rates</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Equipment status and usage</a:t>
            </a:r>
            <a:endParaRPr lang="en-US" sz="1150" dirty="0"/>
          </a:p>
        </p:txBody>
      </p:sp>
      <p:sp>
        <p:nvSpPr>
          <p:cNvPr id="27" name="Shape 25"/>
          <p:cNvSpPr/>
          <p:nvPr/>
        </p:nvSpPr>
        <p:spPr>
          <a:xfrm>
            <a:off x="9479597" y="1645920"/>
            <a:ext cx="2122853" cy="3657600"/>
          </a:xfrm>
          <a:prstGeom prst="roundRect">
            <a:avLst>
              <a:gd name="adj" fmla="val 533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30" name="Text 28"/>
          <p:cNvSpPr txBox="1"/>
          <p:nvPr/>
        </p:nvSpPr>
        <p:spPr>
          <a:xfrm>
            <a:off x="9738360" y="2391664"/>
            <a:ext cx="1764792" cy="548640"/>
          </a:xfrm>
          <a:prstGeom prst="rect">
            <a:avLst/>
          </a:prstGeom>
          <a:noFill/>
          <a:ln/>
        </p:spPr>
        <p:txBody>
          <a:bodyPr wrap="square" lIns="0" tIns="0" rIns="0" bIns="0" rtlCol="0" anchor="ctr"/>
          <a:lstStyle/>
          <a:p>
            <a:pPr marL="0" indent="0" algn="ctr">
              <a:buNone/>
            </a:pPr>
            <a:r>
              <a:rPr lang="en-US" sz="1400" b="1" dirty="0">
                <a:solidFill>
                  <a:srgbClr val="2A2523"/>
                </a:solidFill>
                <a:latin typeface="Arial" pitchFamily="34" charset="0"/>
                <a:ea typeface="Arial" pitchFamily="34" charset="-122"/>
                <a:cs typeface="Arial" pitchFamily="34" charset="-120"/>
              </a:rPr>
              <a:t>Dashboard Delivery</a:t>
            </a:r>
            <a:endParaRPr lang="en-US" sz="1400" dirty="0"/>
          </a:p>
        </p:txBody>
      </p:sp>
      <p:sp>
        <p:nvSpPr>
          <p:cNvPr id="31" name="Text 29"/>
          <p:cNvSpPr txBox="1"/>
          <p:nvPr/>
        </p:nvSpPr>
        <p:spPr>
          <a:xfrm>
            <a:off x="9780206" y="2963672"/>
            <a:ext cx="1655064" cy="20116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Four connected dashboards</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Consistent filters and navigation</a:t>
            </a:r>
            <a:endParaRPr lang="en-US" sz="1150" dirty="0"/>
          </a:p>
          <a:p>
            <a:pPr marL="342900" indent="-342900">
              <a:lnSpc>
                <a:spcPts val="1500"/>
              </a:lnSpc>
              <a:spcAft>
                <a:spcPts val="900"/>
              </a:spcAft>
              <a:buSzPct val="100000"/>
              <a:buChar char="•"/>
            </a:pPr>
            <a:r>
              <a:rPr lang="en-US" sz="1150" dirty="0">
                <a:solidFill>
                  <a:srgbClr val="6E625C"/>
                </a:solidFill>
                <a:latin typeface="Calibri" pitchFamily="34" charset="0"/>
                <a:ea typeface="Calibri" pitchFamily="34" charset="-122"/>
                <a:cs typeface="Calibri" pitchFamily="34" charset="-120"/>
              </a:rPr>
              <a:t>Validated KPI definitions</a:t>
            </a:r>
            <a:endParaRPr lang="en-US" sz="1150" dirty="0"/>
          </a:p>
        </p:txBody>
      </p:sp>
      <p:sp>
        <p:nvSpPr>
          <p:cNvPr id="40" name="Shape 3">
            <a:extLst>
              <a:ext uri="{FF2B5EF4-FFF2-40B4-BE49-F238E27FC236}">
                <a16:creationId xmlns:a16="http://schemas.microsoft.com/office/drawing/2014/main" id="{193A3331-8266-03F8-1454-F3C74B6EB91D}"/>
              </a:ext>
            </a:extLst>
          </p:cNvPr>
          <p:cNvSpPr/>
          <p:nvPr/>
        </p:nvSpPr>
        <p:spPr>
          <a:xfrm>
            <a:off x="1063752" y="1851152"/>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36" name="TextBox 35">
            <a:extLst>
              <a:ext uri="{FF2B5EF4-FFF2-40B4-BE49-F238E27FC236}">
                <a16:creationId xmlns:a16="http://schemas.microsoft.com/office/drawing/2014/main" id="{5F1F9274-B102-25D2-B169-9ECCDF5136F5}"/>
              </a:ext>
            </a:extLst>
          </p:cNvPr>
          <p:cNvSpPr txBox="1"/>
          <p:nvPr/>
        </p:nvSpPr>
        <p:spPr>
          <a:xfrm>
            <a:off x="1063752" y="1871472"/>
            <a:ext cx="402336" cy="369332"/>
          </a:xfrm>
          <a:prstGeom prst="rect">
            <a:avLst/>
          </a:prstGeom>
          <a:noFill/>
        </p:spPr>
        <p:txBody>
          <a:bodyPr wrap="square" rtlCol="0">
            <a:spAutoFit/>
          </a:bodyPr>
          <a:lstStyle/>
          <a:p>
            <a:pPr algn="ctr"/>
            <a:r>
              <a:rPr lang="en-US" b="1" dirty="0"/>
              <a:t>1</a:t>
            </a:r>
            <a:endParaRPr lang="en-IN" b="1" dirty="0"/>
          </a:p>
        </p:txBody>
      </p:sp>
      <p:sp>
        <p:nvSpPr>
          <p:cNvPr id="42" name="Shape 3">
            <a:extLst>
              <a:ext uri="{FF2B5EF4-FFF2-40B4-BE49-F238E27FC236}">
                <a16:creationId xmlns:a16="http://schemas.microsoft.com/office/drawing/2014/main" id="{BAE36ACC-CA07-4DA5-637E-8B49BA77D24B}"/>
              </a:ext>
            </a:extLst>
          </p:cNvPr>
          <p:cNvSpPr/>
          <p:nvPr/>
        </p:nvSpPr>
        <p:spPr>
          <a:xfrm>
            <a:off x="10355580" y="1891546"/>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44" name="Shape 3">
            <a:extLst>
              <a:ext uri="{FF2B5EF4-FFF2-40B4-BE49-F238E27FC236}">
                <a16:creationId xmlns:a16="http://schemas.microsoft.com/office/drawing/2014/main" id="{D84B5E1B-88C4-929A-4DE6-F775B711DF4E}"/>
              </a:ext>
            </a:extLst>
          </p:cNvPr>
          <p:cNvSpPr/>
          <p:nvPr/>
        </p:nvSpPr>
        <p:spPr>
          <a:xfrm>
            <a:off x="8183880" y="1871472"/>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46" name="Shape 3">
            <a:extLst>
              <a:ext uri="{FF2B5EF4-FFF2-40B4-BE49-F238E27FC236}">
                <a16:creationId xmlns:a16="http://schemas.microsoft.com/office/drawing/2014/main" id="{5A1D8D5F-2D27-AD48-3242-95BAF10873A8}"/>
              </a:ext>
            </a:extLst>
          </p:cNvPr>
          <p:cNvSpPr/>
          <p:nvPr/>
        </p:nvSpPr>
        <p:spPr>
          <a:xfrm>
            <a:off x="5744622" y="1871472"/>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48" name="Shape 3">
            <a:extLst>
              <a:ext uri="{FF2B5EF4-FFF2-40B4-BE49-F238E27FC236}">
                <a16:creationId xmlns:a16="http://schemas.microsoft.com/office/drawing/2014/main" id="{B2F67868-5326-0BE5-5A08-1BD1CF3B01D3}"/>
              </a:ext>
            </a:extLst>
          </p:cNvPr>
          <p:cNvSpPr/>
          <p:nvPr/>
        </p:nvSpPr>
        <p:spPr>
          <a:xfrm>
            <a:off x="3465861" y="1851152"/>
            <a:ext cx="402336" cy="426720"/>
          </a:xfrm>
          <a:prstGeom prst="roundRect">
            <a:avLst>
              <a:gd name="adj" fmla="val 2637"/>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txBody>
          <a:bodyPr/>
          <a:lstStyle/>
          <a:p>
            <a:pPr algn="ctr"/>
            <a:r>
              <a:rPr lang="en-US" b="1" dirty="0"/>
              <a:t>2</a:t>
            </a:r>
            <a:endParaRPr lang="en-IN" b="1" dirty="0"/>
          </a:p>
        </p:txBody>
      </p:sp>
      <p:sp>
        <p:nvSpPr>
          <p:cNvPr id="51" name="TextBox 50">
            <a:extLst>
              <a:ext uri="{FF2B5EF4-FFF2-40B4-BE49-F238E27FC236}">
                <a16:creationId xmlns:a16="http://schemas.microsoft.com/office/drawing/2014/main" id="{669DFAAF-C4EB-E736-6E3E-86B1CE260E9F}"/>
              </a:ext>
            </a:extLst>
          </p:cNvPr>
          <p:cNvSpPr txBox="1"/>
          <p:nvPr/>
        </p:nvSpPr>
        <p:spPr>
          <a:xfrm>
            <a:off x="3544728" y="2032246"/>
            <a:ext cx="420624" cy="369332"/>
          </a:xfrm>
          <a:prstGeom prst="rect">
            <a:avLst/>
          </a:prstGeom>
          <a:noFill/>
        </p:spPr>
        <p:txBody>
          <a:bodyPr wrap="square" rtlCol="0">
            <a:spAutoFit/>
          </a:bodyPr>
          <a:lstStyle/>
          <a:p>
            <a:endParaRPr lang="en-IN" dirty="0"/>
          </a:p>
        </p:txBody>
      </p:sp>
      <p:sp>
        <p:nvSpPr>
          <p:cNvPr id="53" name="TextBox 52">
            <a:extLst>
              <a:ext uri="{FF2B5EF4-FFF2-40B4-BE49-F238E27FC236}">
                <a16:creationId xmlns:a16="http://schemas.microsoft.com/office/drawing/2014/main" id="{9570A014-1246-A09A-33EF-B292B05C444F}"/>
              </a:ext>
            </a:extLst>
          </p:cNvPr>
          <p:cNvSpPr txBox="1"/>
          <p:nvPr/>
        </p:nvSpPr>
        <p:spPr>
          <a:xfrm>
            <a:off x="8188452" y="1920240"/>
            <a:ext cx="420624" cy="369332"/>
          </a:xfrm>
          <a:prstGeom prst="rect">
            <a:avLst/>
          </a:prstGeom>
          <a:noFill/>
        </p:spPr>
        <p:txBody>
          <a:bodyPr wrap="square" rtlCol="0">
            <a:spAutoFit/>
          </a:bodyPr>
          <a:lstStyle/>
          <a:p>
            <a:pPr algn="ctr"/>
            <a:r>
              <a:rPr lang="en-US" b="1" dirty="0"/>
              <a:t>4</a:t>
            </a:r>
            <a:endParaRPr lang="en-IN" b="1" dirty="0"/>
          </a:p>
        </p:txBody>
      </p:sp>
      <p:sp>
        <p:nvSpPr>
          <p:cNvPr id="55" name="TextBox 54">
            <a:extLst>
              <a:ext uri="{FF2B5EF4-FFF2-40B4-BE49-F238E27FC236}">
                <a16:creationId xmlns:a16="http://schemas.microsoft.com/office/drawing/2014/main" id="{7626EFE3-49E7-3A64-6CAE-6B1A9B3BA268}"/>
              </a:ext>
            </a:extLst>
          </p:cNvPr>
          <p:cNvSpPr txBox="1"/>
          <p:nvPr/>
        </p:nvSpPr>
        <p:spPr>
          <a:xfrm>
            <a:off x="10420135" y="1920240"/>
            <a:ext cx="420624" cy="369332"/>
          </a:xfrm>
          <a:prstGeom prst="rect">
            <a:avLst/>
          </a:prstGeom>
          <a:noFill/>
        </p:spPr>
        <p:txBody>
          <a:bodyPr wrap="square" rtlCol="0">
            <a:spAutoFit/>
          </a:bodyPr>
          <a:lstStyle/>
          <a:p>
            <a:r>
              <a:rPr lang="en-US" b="1" dirty="0"/>
              <a:t>5</a:t>
            </a:r>
            <a:endParaRPr lang="en-IN" b="1" dirty="0"/>
          </a:p>
        </p:txBody>
      </p:sp>
      <p:sp>
        <p:nvSpPr>
          <p:cNvPr id="57" name="TextBox 56">
            <a:extLst>
              <a:ext uri="{FF2B5EF4-FFF2-40B4-BE49-F238E27FC236}">
                <a16:creationId xmlns:a16="http://schemas.microsoft.com/office/drawing/2014/main" id="{7C4CBC75-DE55-7B42-9ABB-004FE78D6FBB}"/>
              </a:ext>
            </a:extLst>
          </p:cNvPr>
          <p:cNvSpPr txBox="1"/>
          <p:nvPr/>
        </p:nvSpPr>
        <p:spPr>
          <a:xfrm>
            <a:off x="5735859" y="1891792"/>
            <a:ext cx="402336" cy="369332"/>
          </a:xfrm>
          <a:prstGeom prst="rect">
            <a:avLst/>
          </a:prstGeom>
          <a:noFill/>
        </p:spPr>
        <p:txBody>
          <a:bodyPr wrap="square" rtlCol="0">
            <a:spAutoFit/>
          </a:bodyPr>
          <a:lstStyle/>
          <a:p>
            <a:pPr algn="ctr"/>
            <a:r>
              <a:rPr lang="en-US" b="1" dirty="0"/>
              <a:t>3</a:t>
            </a:r>
            <a:endParaRPr lang="en-IN" b="1" dirty="0"/>
          </a:p>
        </p:txBody>
      </p:sp>
    </p:spTree>
    <p:extLst>
      <p:ext uri="{BB962C8B-B14F-4D97-AF65-F5344CB8AC3E}">
        <p14:creationId xmlns:p14="http://schemas.microsoft.com/office/powerpoint/2010/main" val="2241218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13232" y="384048"/>
            <a:ext cx="7772400" cy="256032"/>
          </a:xfrm>
          <a:prstGeom prst="rect">
            <a:avLst/>
          </a:prstGeom>
          <a:noFill/>
          <a:ln/>
        </p:spPr>
        <p:txBody>
          <a:bodyPr wrap="square" lIns="0" tIns="0" rIns="0" bIns="0" rtlCol="0" anchor="ctr"/>
          <a:lstStyle/>
          <a:p>
            <a:pPr marL="0" indent="0">
              <a:buNone/>
            </a:pPr>
            <a:r>
              <a:rPr lang="en-US" sz="1150" b="1" kern="0" spc="220" dirty="0">
                <a:solidFill>
                  <a:srgbClr val="D9563C"/>
                </a:solidFill>
                <a:latin typeface="Calibri" pitchFamily="34" charset="0"/>
                <a:ea typeface="Calibri" pitchFamily="34" charset="-122"/>
                <a:cs typeface="Calibri" pitchFamily="34" charset="-120"/>
              </a:rPr>
              <a:t>SECTION 04</a:t>
            </a:r>
            <a:endParaRPr lang="en-US" sz="1150" dirty="0"/>
          </a:p>
        </p:txBody>
      </p:sp>
      <p:sp>
        <p:nvSpPr>
          <p:cNvPr id="3" name="Text 1"/>
          <p:cNvSpPr txBox="1"/>
          <p:nvPr/>
        </p:nvSpPr>
        <p:spPr>
          <a:xfrm>
            <a:off x="685800" y="658368"/>
            <a:ext cx="10241280" cy="566928"/>
          </a:xfrm>
          <a:prstGeom prst="rect">
            <a:avLst/>
          </a:prstGeom>
          <a:noFill/>
          <a:ln/>
        </p:spPr>
        <p:txBody>
          <a:bodyPr wrap="square" lIns="0" tIns="0" rIns="0" bIns="0" rtlCol="0" anchor="ctr"/>
          <a:lstStyle/>
          <a:p>
            <a:pPr marL="0" indent="0">
              <a:buNone/>
            </a:pPr>
            <a:r>
              <a:rPr lang="en-US" sz="3000" b="1" dirty="0">
                <a:solidFill>
                  <a:srgbClr val="2A2523"/>
                </a:solidFill>
                <a:latin typeface="Arial" pitchFamily="34" charset="0"/>
                <a:ea typeface="Arial" pitchFamily="34" charset="-122"/>
                <a:cs typeface="Arial" pitchFamily="34" charset="-120"/>
              </a:rPr>
              <a:t>Tools &amp; Technologies</a:t>
            </a:r>
            <a:endParaRPr lang="en-US" sz="3000" dirty="0"/>
          </a:p>
        </p:txBody>
      </p:sp>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05</a:t>
            </a:r>
            <a:endParaRPr lang="en-US" sz="1200" dirty="0"/>
          </a:p>
        </p:txBody>
      </p:sp>
      <p:sp>
        <p:nvSpPr>
          <p:cNvPr id="5" name="Shape 3"/>
          <p:cNvSpPr/>
          <p:nvPr/>
        </p:nvSpPr>
        <p:spPr>
          <a:xfrm>
            <a:off x="685800" y="1572768"/>
            <a:ext cx="2615184" cy="1737360"/>
          </a:xfrm>
          <a:prstGeom prst="roundRect">
            <a:avLst>
              <a:gd name="adj" fmla="val 6316"/>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6" name="Shape 4"/>
          <p:cNvSpPr/>
          <p:nvPr/>
        </p:nvSpPr>
        <p:spPr>
          <a:xfrm>
            <a:off x="978408" y="1847088"/>
            <a:ext cx="475488" cy="475488"/>
          </a:xfrm>
          <a:prstGeom prst="roundRect">
            <a:avLst>
              <a:gd name="adj" fmla="val 19231"/>
            </a:avLst>
          </a:prstGeom>
          <a:solidFill>
            <a:srgbClr val="FDEAE2"/>
          </a:solidFill>
          <a:ln w="12700">
            <a:solidFill>
              <a:srgbClr val="FDEAE2"/>
            </a:solidFill>
            <a:prstDash val="solid"/>
          </a:ln>
        </p:spPr>
      </p:sp>
      <p:sp>
        <p:nvSpPr>
          <p:cNvPr id="7" name="Text 5"/>
          <p:cNvSpPr txBox="1"/>
          <p:nvPr/>
        </p:nvSpPr>
        <p:spPr>
          <a:xfrm>
            <a:off x="978408" y="1847088"/>
            <a:ext cx="475488" cy="475488"/>
          </a:xfrm>
          <a:prstGeom prst="rect">
            <a:avLst/>
          </a:prstGeom>
          <a:noFill/>
          <a:ln/>
        </p:spPr>
        <p:txBody>
          <a:bodyPr wrap="square" lIns="0" tIns="0" rIns="0" bIns="0" rtlCol="0" anchor="ctr"/>
          <a:lstStyle/>
          <a:p>
            <a:pPr marL="0" indent="0" algn="ctr">
              <a:buNone/>
            </a:pPr>
            <a:r>
              <a:rPr lang="en-US" sz="1300" b="1" dirty="0">
                <a:solidFill>
                  <a:srgbClr val="D9563C"/>
                </a:solidFill>
                <a:latin typeface="Arial" pitchFamily="34" charset="0"/>
                <a:ea typeface="Arial" pitchFamily="34" charset="-122"/>
                <a:cs typeface="Arial" pitchFamily="34" charset="-120"/>
              </a:rPr>
              <a:t>Py</a:t>
            </a:r>
            <a:endParaRPr lang="en-US" sz="1300" dirty="0"/>
          </a:p>
        </p:txBody>
      </p:sp>
      <p:sp>
        <p:nvSpPr>
          <p:cNvPr id="8" name="Text 6"/>
          <p:cNvSpPr txBox="1"/>
          <p:nvPr/>
        </p:nvSpPr>
        <p:spPr>
          <a:xfrm>
            <a:off x="978408" y="2441448"/>
            <a:ext cx="2029968" cy="274320"/>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Python</a:t>
            </a:r>
            <a:endParaRPr lang="en-US" sz="1450" dirty="0"/>
          </a:p>
        </p:txBody>
      </p:sp>
      <p:sp>
        <p:nvSpPr>
          <p:cNvPr id="9" name="Text 7"/>
          <p:cNvSpPr txBox="1"/>
          <p:nvPr/>
        </p:nvSpPr>
        <p:spPr>
          <a:xfrm>
            <a:off x="978408" y="2724912"/>
            <a:ext cx="2029968" cy="45720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Data preparation, cleaning and transformation</a:t>
            </a:r>
            <a:endParaRPr lang="en-US" sz="1150" dirty="0"/>
          </a:p>
        </p:txBody>
      </p:sp>
      <p:sp>
        <p:nvSpPr>
          <p:cNvPr id="10" name="Shape 8"/>
          <p:cNvSpPr/>
          <p:nvPr/>
        </p:nvSpPr>
        <p:spPr>
          <a:xfrm>
            <a:off x="3557016" y="1572768"/>
            <a:ext cx="2615184" cy="1737360"/>
          </a:xfrm>
          <a:prstGeom prst="roundRect">
            <a:avLst>
              <a:gd name="adj" fmla="val 6316"/>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1" name="Shape 9"/>
          <p:cNvSpPr/>
          <p:nvPr/>
        </p:nvSpPr>
        <p:spPr>
          <a:xfrm>
            <a:off x="3849624" y="1847088"/>
            <a:ext cx="475488" cy="475488"/>
          </a:xfrm>
          <a:prstGeom prst="roundRect">
            <a:avLst>
              <a:gd name="adj" fmla="val 19231"/>
            </a:avLst>
          </a:prstGeom>
          <a:solidFill>
            <a:srgbClr val="FDEAE2"/>
          </a:solidFill>
          <a:ln w="12700">
            <a:solidFill>
              <a:srgbClr val="FDEAE2"/>
            </a:solidFill>
            <a:prstDash val="solid"/>
          </a:ln>
        </p:spPr>
      </p:sp>
      <p:sp>
        <p:nvSpPr>
          <p:cNvPr id="12" name="Text 10"/>
          <p:cNvSpPr txBox="1"/>
          <p:nvPr/>
        </p:nvSpPr>
        <p:spPr>
          <a:xfrm>
            <a:off x="3849624" y="1847088"/>
            <a:ext cx="475488" cy="475488"/>
          </a:xfrm>
          <a:prstGeom prst="rect">
            <a:avLst/>
          </a:prstGeom>
          <a:noFill/>
          <a:ln/>
        </p:spPr>
        <p:txBody>
          <a:bodyPr wrap="square" lIns="0" tIns="0" rIns="0" bIns="0" rtlCol="0" anchor="ctr"/>
          <a:lstStyle/>
          <a:p>
            <a:pPr marL="0" indent="0" algn="ctr">
              <a:buNone/>
            </a:pPr>
            <a:r>
              <a:rPr lang="en-US" sz="1300" b="1" dirty="0">
                <a:solidFill>
                  <a:srgbClr val="D9563C"/>
                </a:solidFill>
                <a:latin typeface="Arial" pitchFamily="34" charset="0"/>
                <a:ea typeface="Arial" pitchFamily="34" charset="-122"/>
                <a:cs typeface="Arial" pitchFamily="34" charset="-120"/>
              </a:rPr>
              <a:t>pd</a:t>
            </a:r>
            <a:endParaRPr lang="en-US" sz="1300" dirty="0"/>
          </a:p>
        </p:txBody>
      </p:sp>
      <p:sp>
        <p:nvSpPr>
          <p:cNvPr id="13" name="Text 11"/>
          <p:cNvSpPr txBox="1"/>
          <p:nvPr/>
        </p:nvSpPr>
        <p:spPr>
          <a:xfrm>
            <a:off x="3849624" y="2441448"/>
            <a:ext cx="2029968" cy="274320"/>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Pandas</a:t>
            </a:r>
            <a:endParaRPr lang="en-US" sz="1450" dirty="0"/>
          </a:p>
        </p:txBody>
      </p:sp>
      <p:sp>
        <p:nvSpPr>
          <p:cNvPr id="14" name="Text 12"/>
          <p:cNvSpPr txBox="1"/>
          <p:nvPr/>
        </p:nvSpPr>
        <p:spPr>
          <a:xfrm>
            <a:off x="3849624" y="2724912"/>
            <a:ext cx="2029968" cy="45720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Grouping, calculations and KPI validation</a:t>
            </a:r>
            <a:endParaRPr lang="en-US" sz="1150" dirty="0"/>
          </a:p>
        </p:txBody>
      </p:sp>
      <p:sp>
        <p:nvSpPr>
          <p:cNvPr id="15" name="Shape 13"/>
          <p:cNvSpPr/>
          <p:nvPr/>
        </p:nvSpPr>
        <p:spPr>
          <a:xfrm>
            <a:off x="6428232" y="1572768"/>
            <a:ext cx="2615184" cy="1737360"/>
          </a:xfrm>
          <a:prstGeom prst="roundRect">
            <a:avLst>
              <a:gd name="adj" fmla="val 6316"/>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6" name="Shape 14"/>
          <p:cNvSpPr/>
          <p:nvPr/>
        </p:nvSpPr>
        <p:spPr>
          <a:xfrm>
            <a:off x="6720840" y="1847088"/>
            <a:ext cx="475488" cy="475488"/>
          </a:xfrm>
          <a:prstGeom prst="roundRect">
            <a:avLst>
              <a:gd name="adj" fmla="val 19231"/>
            </a:avLst>
          </a:prstGeom>
          <a:solidFill>
            <a:srgbClr val="FDEAE2"/>
          </a:solidFill>
          <a:ln w="12700">
            <a:solidFill>
              <a:srgbClr val="FDEAE2"/>
            </a:solidFill>
            <a:prstDash val="solid"/>
          </a:ln>
        </p:spPr>
      </p:sp>
      <p:sp>
        <p:nvSpPr>
          <p:cNvPr id="17" name="Text 15"/>
          <p:cNvSpPr txBox="1"/>
          <p:nvPr/>
        </p:nvSpPr>
        <p:spPr>
          <a:xfrm>
            <a:off x="6720840" y="1847088"/>
            <a:ext cx="475488" cy="475488"/>
          </a:xfrm>
          <a:prstGeom prst="rect">
            <a:avLst/>
          </a:prstGeom>
          <a:noFill/>
          <a:ln/>
        </p:spPr>
        <p:txBody>
          <a:bodyPr wrap="square" lIns="0" tIns="0" rIns="0" bIns="0" rtlCol="0" anchor="ctr"/>
          <a:lstStyle/>
          <a:p>
            <a:pPr marL="0" indent="0" algn="ctr">
              <a:buNone/>
            </a:pPr>
            <a:r>
              <a:rPr lang="en-US" sz="1300" b="1" dirty="0">
                <a:solidFill>
                  <a:srgbClr val="D9563C"/>
                </a:solidFill>
                <a:latin typeface="Arial" pitchFamily="34" charset="0"/>
                <a:ea typeface="Arial" pitchFamily="34" charset="-122"/>
                <a:cs typeface="Arial" pitchFamily="34" charset="-120"/>
              </a:rPr>
              <a:t>np</a:t>
            </a:r>
            <a:endParaRPr lang="en-US" sz="1300" dirty="0"/>
          </a:p>
        </p:txBody>
      </p:sp>
      <p:sp>
        <p:nvSpPr>
          <p:cNvPr id="18" name="Text 16"/>
          <p:cNvSpPr txBox="1"/>
          <p:nvPr/>
        </p:nvSpPr>
        <p:spPr>
          <a:xfrm>
            <a:off x="6720840" y="2441448"/>
            <a:ext cx="2029968" cy="274320"/>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NumPy</a:t>
            </a:r>
            <a:endParaRPr lang="en-US" sz="1450" dirty="0"/>
          </a:p>
        </p:txBody>
      </p:sp>
      <p:sp>
        <p:nvSpPr>
          <p:cNvPr id="19" name="Text 17"/>
          <p:cNvSpPr txBox="1"/>
          <p:nvPr/>
        </p:nvSpPr>
        <p:spPr>
          <a:xfrm>
            <a:off x="6720840" y="2724912"/>
            <a:ext cx="2029968" cy="45720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Numerical operations during analysis</a:t>
            </a:r>
            <a:endParaRPr lang="en-US" sz="1150" dirty="0"/>
          </a:p>
        </p:txBody>
      </p:sp>
      <p:sp>
        <p:nvSpPr>
          <p:cNvPr id="20" name="Shape 18"/>
          <p:cNvSpPr/>
          <p:nvPr/>
        </p:nvSpPr>
        <p:spPr>
          <a:xfrm>
            <a:off x="9299448" y="1572768"/>
            <a:ext cx="2615184" cy="1737360"/>
          </a:xfrm>
          <a:prstGeom prst="roundRect">
            <a:avLst>
              <a:gd name="adj" fmla="val 6316"/>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21" name="Shape 19"/>
          <p:cNvSpPr/>
          <p:nvPr/>
        </p:nvSpPr>
        <p:spPr>
          <a:xfrm>
            <a:off x="9592056" y="1847088"/>
            <a:ext cx="475488" cy="475488"/>
          </a:xfrm>
          <a:prstGeom prst="roundRect">
            <a:avLst>
              <a:gd name="adj" fmla="val 19231"/>
            </a:avLst>
          </a:prstGeom>
          <a:solidFill>
            <a:srgbClr val="FDEAE2"/>
          </a:solidFill>
          <a:ln w="12700">
            <a:solidFill>
              <a:srgbClr val="FDEAE2"/>
            </a:solidFill>
            <a:prstDash val="solid"/>
          </a:ln>
        </p:spPr>
      </p:sp>
      <p:sp>
        <p:nvSpPr>
          <p:cNvPr id="22" name="Text 20"/>
          <p:cNvSpPr txBox="1"/>
          <p:nvPr/>
        </p:nvSpPr>
        <p:spPr>
          <a:xfrm>
            <a:off x="9592056" y="1847088"/>
            <a:ext cx="475488" cy="475488"/>
          </a:xfrm>
          <a:prstGeom prst="rect">
            <a:avLst/>
          </a:prstGeom>
          <a:noFill/>
          <a:ln/>
        </p:spPr>
        <p:txBody>
          <a:bodyPr wrap="square" lIns="0" tIns="0" rIns="0" bIns="0" rtlCol="0" anchor="ctr"/>
          <a:lstStyle/>
          <a:p>
            <a:pPr marL="0" indent="0" algn="ctr">
              <a:buNone/>
            </a:pPr>
            <a:r>
              <a:rPr lang="en-US" sz="1300" b="1" dirty="0">
                <a:solidFill>
                  <a:srgbClr val="D9563C"/>
                </a:solidFill>
                <a:latin typeface="Arial" pitchFamily="34" charset="0"/>
                <a:ea typeface="Arial" pitchFamily="34" charset="-122"/>
                <a:cs typeface="Arial" pitchFamily="34" charset="-120"/>
              </a:rPr>
              <a:t>Jn</a:t>
            </a:r>
            <a:endParaRPr lang="en-US" sz="1300" dirty="0"/>
          </a:p>
        </p:txBody>
      </p:sp>
      <p:sp>
        <p:nvSpPr>
          <p:cNvPr id="23" name="Text 21"/>
          <p:cNvSpPr txBox="1"/>
          <p:nvPr/>
        </p:nvSpPr>
        <p:spPr>
          <a:xfrm>
            <a:off x="9592056" y="2441448"/>
            <a:ext cx="2029968" cy="274320"/>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Jupyter Notebook</a:t>
            </a:r>
            <a:endParaRPr lang="en-US" sz="1450" dirty="0"/>
          </a:p>
        </p:txBody>
      </p:sp>
      <p:sp>
        <p:nvSpPr>
          <p:cNvPr id="24" name="Text 22"/>
          <p:cNvSpPr txBox="1"/>
          <p:nvPr/>
        </p:nvSpPr>
        <p:spPr>
          <a:xfrm>
            <a:off x="9592056" y="2724912"/>
            <a:ext cx="2029968" cy="45720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Cleaning and validation workflow</a:t>
            </a:r>
            <a:endParaRPr lang="en-US" sz="1150" dirty="0"/>
          </a:p>
        </p:txBody>
      </p:sp>
      <p:sp>
        <p:nvSpPr>
          <p:cNvPr id="25" name="Shape 23"/>
          <p:cNvSpPr/>
          <p:nvPr/>
        </p:nvSpPr>
        <p:spPr>
          <a:xfrm>
            <a:off x="685800" y="3675888"/>
            <a:ext cx="2615184" cy="1737360"/>
          </a:xfrm>
          <a:prstGeom prst="roundRect">
            <a:avLst>
              <a:gd name="adj" fmla="val 6316"/>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26" name="Shape 24"/>
          <p:cNvSpPr/>
          <p:nvPr/>
        </p:nvSpPr>
        <p:spPr>
          <a:xfrm>
            <a:off x="978408" y="3950208"/>
            <a:ext cx="475488" cy="475488"/>
          </a:xfrm>
          <a:prstGeom prst="roundRect">
            <a:avLst>
              <a:gd name="adj" fmla="val 19231"/>
            </a:avLst>
          </a:prstGeom>
          <a:solidFill>
            <a:srgbClr val="FDEAE2"/>
          </a:solidFill>
          <a:ln w="12700">
            <a:solidFill>
              <a:srgbClr val="FDEAE2"/>
            </a:solidFill>
            <a:prstDash val="solid"/>
          </a:ln>
        </p:spPr>
      </p:sp>
      <p:sp>
        <p:nvSpPr>
          <p:cNvPr id="27" name="Text 25"/>
          <p:cNvSpPr txBox="1"/>
          <p:nvPr/>
        </p:nvSpPr>
        <p:spPr>
          <a:xfrm>
            <a:off x="978408" y="3950208"/>
            <a:ext cx="475488" cy="475488"/>
          </a:xfrm>
          <a:prstGeom prst="rect">
            <a:avLst/>
          </a:prstGeom>
          <a:noFill/>
          <a:ln/>
        </p:spPr>
        <p:txBody>
          <a:bodyPr wrap="square" lIns="0" tIns="0" rIns="0" bIns="0" rtlCol="0" anchor="ctr"/>
          <a:lstStyle/>
          <a:p>
            <a:pPr marL="0" indent="0" algn="ctr">
              <a:buNone/>
            </a:pPr>
            <a:r>
              <a:rPr lang="en-US" sz="1300" b="1" dirty="0">
                <a:solidFill>
                  <a:srgbClr val="D9563C"/>
                </a:solidFill>
                <a:latin typeface="Arial" pitchFamily="34" charset="0"/>
                <a:ea typeface="Arial" pitchFamily="34" charset="-122"/>
                <a:cs typeface="Arial" pitchFamily="34" charset="-120"/>
              </a:rPr>
              <a:t>Tb</a:t>
            </a:r>
            <a:endParaRPr lang="en-US" sz="1300" dirty="0"/>
          </a:p>
        </p:txBody>
      </p:sp>
      <p:sp>
        <p:nvSpPr>
          <p:cNvPr id="28" name="Text 26"/>
          <p:cNvSpPr txBox="1"/>
          <p:nvPr/>
        </p:nvSpPr>
        <p:spPr>
          <a:xfrm>
            <a:off x="978408" y="4544568"/>
            <a:ext cx="2029968" cy="274320"/>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Tableau Desktop</a:t>
            </a:r>
            <a:endParaRPr lang="en-US" sz="1450" dirty="0"/>
          </a:p>
        </p:txBody>
      </p:sp>
      <p:sp>
        <p:nvSpPr>
          <p:cNvPr id="29" name="Text 27"/>
          <p:cNvSpPr txBox="1"/>
          <p:nvPr/>
        </p:nvSpPr>
        <p:spPr>
          <a:xfrm>
            <a:off x="978408" y="4828032"/>
            <a:ext cx="2029968" cy="45720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Main dashboard development platform</a:t>
            </a:r>
            <a:endParaRPr lang="en-US" sz="1150" dirty="0"/>
          </a:p>
        </p:txBody>
      </p:sp>
      <p:sp>
        <p:nvSpPr>
          <p:cNvPr id="30" name="Shape 28"/>
          <p:cNvSpPr/>
          <p:nvPr/>
        </p:nvSpPr>
        <p:spPr>
          <a:xfrm>
            <a:off x="3557016" y="3675888"/>
            <a:ext cx="2615184" cy="1737360"/>
          </a:xfrm>
          <a:prstGeom prst="roundRect">
            <a:avLst>
              <a:gd name="adj" fmla="val 6316"/>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31" name="Shape 29"/>
          <p:cNvSpPr/>
          <p:nvPr/>
        </p:nvSpPr>
        <p:spPr>
          <a:xfrm>
            <a:off x="3849624" y="3950208"/>
            <a:ext cx="475488" cy="475488"/>
          </a:xfrm>
          <a:prstGeom prst="roundRect">
            <a:avLst>
              <a:gd name="adj" fmla="val 19231"/>
            </a:avLst>
          </a:prstGeom>
          <a:solidFill>
            <a:srgbClr val="FDEAE2"/>
          </a:solidFill>
          <a:ln w="12700">
            <a:solidFill>
              <a:srgbClr val="FDEAE2"/>
            </a:solidFill>
            <a:prstDash val="solid"/>
          </a:ln>
        </p:spPr>
      </p:sp>
      <p:sp>
        <p:nvSpPr>
          <p:cNvPr id="32" name="Text 30"/>
          <p:cNvSpPr txBox="1"/>
          <p:nvPr/>
        </p:nvSpPr>
        <p:spPr>
          <a:xfrm>
            <a:off x="3849624" y="3950208"/>
            <a:ext cx="475488" cy="475488"/>
          </a:xfrm>
          <a:prstGeom prst="rect">
            <a:avLst/>
          </a:prstGeom>
          <a:noFill/>
          <a:ln/>
        </p:spPr>
        <p:txBody>
          <a:bodyPr wrap="square" lIns="0" tIns="0" rIns="0" bIns="0" rtlCol="0" anchor="ctr"/>
          <a:lstStyle/>
          <a:p>
            <a:pPr marL="0" indent="0" algn="ctr">
              <a:buNone/>
            </a:pPr>
            <a:r>
              <a:rPr lang="en-US" sz="1300" b="1" dirty="0">
                <a:solidFill>
                  <a:srgbClr val="D9563C"/>
                </a:solidFill>
                <a:latin typeface="Arial" pitchFamily="34" charset="0"/>
                <a:ea typeface="Arial" pitchFamily="34" charset="-122"/>
                <a:cs typeface="Arial" pitchFamily="34" charset="-120"/>
              </a:rPr>
              <a:t>BI</a:t>
            </a:r>
            <a:endParaRPr lang="en-US" sz="1300" dirty="0"/>
          </a:p>
        </p:txBody>
      </p:sp>
      <p:sp>
        <p:nvSpPr>
          <p:cNvPr id="33" name="Text 31"/>
          <p:cNvSpPr txBox="1"/>
          <p:nvPr/>
        </p:nvSpPr>
        <p:spPr>
          <a:xfrm>
            <a:off x="3849624" y="4544568"/>
            <a:ext cx="2029968" cy="274320"/>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Power BI</a:t>
            </a:r>
            <a:endParaRPr lang="en-US" sz="1450" dirty="0"/>
          </a:p>
        </p:txBody>
      </p:sp>
      <p:sp>
        <p:nvSpPr>
          <p:cNvPr id="34" name="Text 32"/>
          <p:cNvSpPr txBox="1"/>
          <p:nvPr/>
        </p:nvSpPr>
        <p:spPr>
          <a:xfrm>
            <a:off x="3849624" y="4828032"/>
            <a:ext cx="2029968" cy="45720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Second visualisation build of the solution</a:t>
            </a:r>
            <a:endParaRPr lang="en-US" sz="1150" dirty="0"/>
          </a:p>
        </p:txBody>
      </p:sp>
      <p:sp>
        <p:nvSpPr>
          <p:cNvPr id="35" name="Shape 33"/>
          <p:cNvSpPr/>
          <p:nvPr/>
        </p:nvSpPr>
        <p:spPr>
          <a:xfrm>
            <a:off x="6428232" y="3675888"/>
            <a:ext cx="2615184" cy="1737360"/>
          </a:xfrm>
          <a:prstGeom prst="roundRect">
            <a:avLst>
              <a:gd name="adj" fmla="val 6316"/>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36" name="Shape 34"/>
          <p:cNvSpPr/>
          <p:nvPr/>
        </p:nvSpPr>
        <p:spPr>
          <a:xfrm>
            <a:off x="6720840" y="3950208"/>
            <a:ext cx="475488" cy="475488"/>
          </a:xfrm>
          <a:prstGeom prst="roundRect">
            <a:avLst>
              <a:gd name="adj" fmla="val 19231"/>
            </a:avLst>
          </a:prstGeom>
          <a:solidFill>
            <a:srgbClr val="FDEAE2"/>
          </a:solidFill>
          <a:ln w="12700">
            <a:solidFill>
              <a:srgbClr val="FDEAE2"/>
            </a:solidFill>
            <a:prstDash val="solid"/>
          </a:ln>
        </p:spPr>
      </p:sp>
      <p:sp>
        <p:nvSpPr>
          <p:cNvPr id="37" name="Text 35"/>
          <p:cNvSpPr txBox="1"/>
          <p:nvPr/>
        </p:nvSpPr>
        <p:spPr>
          <a:xfrm>
            <a:off x="6720840" y="3950208"/>
            <a:ext cx="475488" cy="475488"/>
          </a:xfrm>
          <a:prstGeom prst="rect">
            <a:avLst/>
          </a:prstGeom>
          <a:noFill/>
          <a:ln/>
        </p:spPr>
        <p:txBody>
          <a:bodyPr wrap="square" lIns="0" tIns="0" rIns="0" bIns="0" rtlCol="0" anchor="ctr"/>
          <a:lstStyle/>
          <a:p>
            <a:pPr marL="0" indent="0" algn="ctr">
              <a:buNone/>
            </a:pPr>
            <a:r>
              <a:rPr lang="en-US" sz="1300" b="1" dirty="0">
                <a:solidFill>
                  <a:srgbClr val="D9563C"/>
                </a:solidFill>
                <a:latin typeface="Arial" pitchFamily="34" charset="0"/>
                <a:ea typeface="Arial" pitchFamily="34" charset="-122"/>
                <a:cs typeface="Arial" pitchFamily="34" charset="-120"/>
              </a:rPr>
              <a:t>xls</a:t>
            </a:r>
            <a:endParaRPr lang="en-US" sz="1300" dirty="0"/>
          </a:p>
        </p:txBody>
      </p:sp>
      <p:sp>
        <p:nvSpPr>
          <p:cNvPr id="38" name="Text 36"/>
          <p:cNvSpPr txBox="1"/>
          <p:nvPr/>
        </p:nvSpPr>
        <p:spPr>
          <a:xfrm>
            <a:off x="6720840" y="4544568"/>
            <a:ext cx="2029968" cy="274320"/>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CSV / Excel</a:t>
            </a:r>
            <a:endParaRPr lang="en-US" sz="1450" dirty="0"/>
          </a:p>
        </p:txBody>
      </p:sp>
      <p:sp>
        <p:nvSpPr>
          <p:cNvPr id="39" name="Text 37"/>
          <p:cNvSpPr txBox="1"/>
          <p:nvPr/>
        </p:nvSpPr>
        <p:spPr>
          <a:xfrm>
            <a:off x="6720840" y="4828032"/>
            <a:ext cx="2029968" cy="45720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Raw, cleaned and analytical datasets</a:t>
            </a:r>
            <a:endParaRPr lang="en-US" sz="1150" dirty="0"/>
          </a:p>
        </p:txBody>
      </p:sp>
      <p:sp>
        <p:nvSpPr>
          <p:cNvPr id="40" name="Shape 38"/>
          <p:cNvSpPr/>
          <p:nvPr/>
        </p:nvSpPr>
        <p:spPr>
          <a:xfrm>
            <a:off x="9299448" y="3675888"/>
            <a:ext cx="2615184" cy="1737360"/>
          </a:xfrm>
          <a:prstGeom prst="roundRect">
            <a:avLst>
              <a:gd name="adj" fmla="val 6316"/>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41" name="Shape 39"/>
          <p:cNvSpPr/>
          <p:nvPr/>
        </p:nvSpPr>
        <p:spPr>
          <a:xfrm>
            <a:off x="9592056" y="3950208"/>
            <a:ext cx="475488" cy="475488"/>
          </a:xfrm>
          <a:prstGeom prst="roundRect">
            <a:avLst>
              <a:gd name="adj" fmla="val 19231"/>
            </a:avLst>
          </a:prstGeom>
          <a:solidFill>
            <a:srgbClr val="FDEAE2"/>
          </a:solidFill>
          <a:ln w="12700">
            <a:solidFill>
              <a:srgbClr val="FDEAE2"/>
            </a:solidFill>
            <a:prstDash val="solid"/>
          </a:ln>
        </p:spPr>
      </p:sp>
      <p:sp>
        <p:nvSpPr>
          <p:cNvPr id="42" name="Text 40"/>
          <p:cNvSpPr txBox="1"/>
          <p:nvPr/>
        </p:nvSpPr>
        <p:spPr>
          <a:xfrm>
            <a:off x="9592056" y="3950208"/>
            <a:ext cx="475488" cy="475488"/>
          </a:xfrm>
          <a:prstGeom prst="rect">
            <a:avLst/>
          </a:prstGeom>
          <a:noFill/>
          <a:ln/>
        </p:spPr>
        <p:txBody>
          <a:bodyPr wrap="square" lIns="0" tIns="0" rIns="0" bIns="0" rtlCol="0" anchor="ctr"/>
          <a:lstStyle/>
          <a:p>
            <a:pPr marL="0" indent="0" algn="ctr">
              <a:buNone/>
            </a:pPr>
            <a:r>
              <a:rPr lang="en-US" sz="1300" b="1" dirty="0">
                <a:solidFill>
                  <a:srgbClr val="D9563C"/>
                </a:solidFill>
                <a:latin typeface="Arial" pitchFamily="34" charset="0"/>
                <a:ea typeface="Arial" pitchFamily="34" charset="-122"/>
                <a:cs typeface="Arial" pitchFamily="34" charset="-120"/>
              </a:rPr>
              <a:t>Git</a:t>
            </a:r>
            <a:endParaRPr lang="en-US" sz="1300" dirty="0"/>
          </a:p>
        </p:txBody>
      </p:sp>
      <p:sp>
        <p:nvSpPr>
          <p:cNvPr id="43" name="Text 41"/>
          <p:cNvSpPr txBox="1"/>
          <p:nvPr/>
        </p:nvSpPr>
        <p:spPr>
          <a:xfrm>
            <a:off x="9592056" y="4544568"/>
            <a:ext cx="2029968" cy="274320"/>
          </a:xfrm>
          <a:prstGeom prst="rect">
            <a:avLst/>
          </a:prstGeom>
          <a:noFill/>
          <a:ln/>
        </p:spPr>
        <p:txBody>
          <a:bodyPr wrap="square" lIns="0" tIns="0" rIns="0" bIns="0" rtlCol="0" anchor="ctr"/>
          <a:lstStyle/>
          <a:p>
            <a:pPr marL="0" indent="0">
              <a:buNone/>
            </a:pPr>
            <a:r>
              <a:rPr lang="en-US" sz="1450" b="1" dirty="0">
                <a:solidFill>
                  <a:srgbClr val="2A2523"/>
                </a:solidFill>
                <a:latin typeface="Arial" pitchFamily="34" charset="0"/>
                <a:ea typeface="Arial" pitchFamily="34" charset="-122"/>
                <a:cs typeface="Arial" pitchFamily="34" charset="-120"/>
              </a:rPr>
              <a:t>GitHub</a:t>
            </a:r>
            <a:endParaRPr lang="en-US" sz="1450" dirty="0"/>
          </a:p>
        </p:txBody>
      </p:sp>
      <p:sp>
        <p:nvSpPr>
          <p:cNvPr id="44" name="Text 42"/>
          <p:cNvSpPr txBox="1"/>
          <p:nvPr/>
        </p:nvSpPr>
        <p:spPr>
          <a:xfrm>
            <a:off x="9592056" y="4828032"/>
            <a:ext cx="2029968" cy="457200"/>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Version control, storage and delivery</a:t>
            </a:r>
            <a:endParaRPr lang="en-US" sz="1150" dirty="0"/>
          </a:p>
        </p:txBody>
      </p:sp>
      <p:sp>
        <p:nvSpPr>
          <p:cNvPr id="45" name="Text 43"/>
          <p:cNvSpPr txBox="1"/>
          <p:nvPr/>
        </p:nvSpPr>
        <p:spPr>
          <a:xfrm>
            <a:off x="713232" y="5760720"/>
            <a:ext cx="10515600" cy="292608"/>
          </a:xfrm>
          <a:prstGeom prst="rect">
            <a:avLst/>
          </a:prstGeom>
          <a:noFill/>
          <a:ln/>
        </p:spPr>
        <p:txBody>
          <a:bodyPr wrap="square" lIns="0" tIns="0" rIns="0" bIns="0" rtlCol="0" anchor="ctr"/>
          <a:lstStyle/>
          <a:p>
            <a:pPr marL="0" indent="0">
              <a:buNone/>
            </a:pPr>
            <a:r>
              <a:rPr lang="en-US" sz="1350" i="1" dirty="0">
                <a:solidFill>
                  <a:srgbClr val="D9563C"/>
                </a:solidFill>
                <a:latin typeface="Calibri" pitchFamily="34" charset="0"/>
                <a:ea typeface="Calibri" pitchFamily="34" charset="-122"/>
                <a:cs typeface="Calibri" pitchFamily="34" charset="-120"/>
              </a:rPr>
              <a:t>Python and Pandas were used as an independent check on every headline KPI shown in the dashboards.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04B1EE06-A25A-CC33-F21B-5957CD00F564}"/>
              </a:ext>
            </a:extLst>
          </p:cNvPr>
          <p:cNvPicPr>
            <a:picLocks noChangeAspect="1"/>
          </p:cNvPicPr>
          <p:nvPr/>
        </p:nvPicPr>
        <p:blipFill>
          <a:blip r:embed="rId3"/>
          <a:stretch>
            <a:fillRect/>
          </a:stretch>
        </p:blipFill>
        <p:spPr>
          <a:xfrm>
            <a:off x="3239" y="0"/>
            <a:ext cx="12185522" cy="6858000"/>
          </a:xfrm>
          <a:prstGeom prst="rect">
            <a:avLst/>
          </a:prstGeom>
        </p:spPr>
      </p:pic>
      <p:sp>
        <p:nvSpPr>
          <p:cNvPr id="2" name="Shape 0"/>
          <p:cNvSpPr/>
          <p:nvPr/>
        </p:nvSpPr>
        <p:spPr>
          <a:xfrm>
            <a:off x="109728" y="109728"/>
            <a:ext cx="11969496" cy="6638544"/>
          </a:xfrm>
          <a:prstGeom prst="roundRect">
            <a:avLst>
              <a:gd name="adj" fmla="val 2204"/>
            </a:avLst>
          </a:prstGeom>
          <a:solidFill>
            <a:srgbClr val="FFF9F6">
              <a:alpha val="0"/>
            </a:srgbClr>
          </a:solidFill>
          <a:ln w="19050">
            <a:solidFill>
              <a:srgbClr val="F2B6A8">
                <a:alpha val="85000"/>
              </a:srgbClr>
            </a:solidFill>
            <a:prstDash val="solid"/>
          </a:ln>
        </p:spPr>
      </p:sp>
      <p:sp>
        <p:nvSpPr>
          <p:cNvPr id="3" name="Text 1"/>
          <p:cNvSpPr/>
          <p:nvPr/>
        </p:nvSpPr>
        <p:spPr>
          <a:xfrm>
            <a:off x="713232" y="493776"/>
            <a:ext cx="9601200" cy="457200"/>
          </a:xfrm>
          <a:prstGeom prst="rect">
            <a:avLst/>
          </a:prstGeom>
          <a:noFill/>
          <a:ln/>
        </p:spPr>
        <p:txBody>
          <a:bodyPr wrap="square" lIns="0" tIns="0" rIns="0" bIns="0" rtlCol="0" anchor="ctr"/>
          <a:lstStyle/>
          <a:p>
            <a:pPr marL="0" indent="0">
              <a:buNone/>
            </a:pPr>
            <a:r>
              <a:rPr lang="en-US" sz="3000" b="1" dirty="0">
                <a:solidFill>
                  <a:srgbClr val="24242A"/>
                </a:solidFill>
                <a:latin typeface="Aptos Display" pitchFamily="34" charset="0"/>
                <a:ea typeface="Aptos Display" pitchFamily="34" charset="-122"/>
                <a:cs typeface="Aptos Display" pitchFamily="34" charset="-120"/>
              </a:rPr>
              <a:t>Project Methodology</a:t>
            </a:r>
            <a:endParaRPr lang="en-US" sz="3000" dirty="0"/>
          </a:p>
        </p:txBody>
      </p:sp>
      <p:sp>
        <p:nvSpPr>
          <p:cNvPr id="4" name="Shape 2"/>
          <p:cNvSpPr/>
          <p:nvPr/>
        </p:nvSpPr>
        <p:spPr>
          <a:xfrm>
            <a:off x="713232" y="1435608"/>
            <a:ext cx="3429000" cy="1463040"/>
          </a:xfrm>
          <a:prstGeom prst="roundRect">
            <a:avLst>
              <a:gd name="adj" fmla="val 7500"/>
            </a:avLst>
          </a:prstGeom>
          <a:solidFill>
            <a:srgbClr val="FFFFFF"/>
          </a:solidFill>
          <a:ln w="12700">
            <a:solidFill>
              <a:srgbClr val="F2B6A8">
                <a:alpha val="85000"/>
              </a:srgbClr>
            </a:solidFill>
            <a:prstDash val="solid"/>
          </a:ln>
          <a:effectLst>
            <a:outerShdw blurRad="17780" dist="50800" dir="2700000" algn="bl" rotWithShape="0">
              <a:srgbClr val="D9B8B0">
                <a:alpha val="16000"/>
              </a:srgbClr>
            </a:outerShdw>
          </a:effectLst>
        </p:spPr>
      </p:sp>
      <p:sp>
        <p:nvSpPr>
          <p:cNvPr id="5" name="Shape 3"/>
          <p:cNvSpPr/>
          <p:nvPr/>
        </p:nvSpPr>
        <p:spPr>
          <a:xfrm>
            <a:off x="896112" y="1627632"/>
            <a:ext cx="475488" cy="475488"/>
          </a:xfrm>
          <a:prstGeom prst="roundRect">
            <a:avLst>
              <a:gd name="adj" fmla="val 15385"/>
            </a:avLst>
          </a:prstGeom>
          <a:solidFill>
            <a:srgbClr val="FFE7E0"/>
          </a:solidFill>
          <a:ln w="12700">
            <a:solidFill>
              <a:srgbClr val="FFE7E0">
                <a:alpha val="0"/>
              </a:srgbClr>
            </a:solidFill>
            <a:prstDash val="solid"/>
          </a:ln>
        </p:spPr>
      </p:sp>
      <p:sp>
        <p:nvSpPr>
          <p:cNvPr id="6" name="Text 4"/>
          <p:cNvSpPr/>
          <p:nvPr/>
        </p:nvSpPr>
        <p:spPr>
          <a:xfrm>
            <a:off x="973836" y="1696212"/>
            <a:ext cx="320040"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DD5A49"/>
                </a:solidFill>
                <a:latin typeface="Aptos" pitchFamily="34" charset="0"/>
                <a:ea typeface="Aptos" pitchFamily="34" charset="-122"/>
                <a:cs typeface="Aptos" pitchFamily="34" charset="-120"/>
              </a:rPr>
              <a:t>1</a:t>
            </a:r>
            <a:endParaRPr lang="en-US" sz="1600" dirty="0"/>
          </a:p>
        </p:txBody>
      </p:sp>
      <p:sp>
        <p:nvSpPr>
          <p:cNvPr id="7" name="Text 5"/>
          <p:cNvSpPr/>
          <p:nvPr/>
        </p:nvSpPr>
        <p:spPr>
          <a:xfrm>
            <a:off x="1554480" y="1581912"/>
            <a:ext cx="2468880" cy="237744"/>
          </a:xfrm>
          <a:prstGeom prst="rect">
            <a:avLst/>
          </a:prstGeom>
          <a:noFill/>
          <a:ln/>
        </p:spPr>
        <p:txBody>
          <a:bodyPr wrap="square" lIns="0" tIns="0" rIns="0" bIns="0" rtlCol="0" anchor="t">
            <a:normAutofit/>
          </a:bodyPr>
          <a:lstStyle/>
          <a:p>
            <a:pPr marL="0" indent="0">
              <a:buNone/>
            </a:pPr>
            <a:r>
              <a:rPr lang="en-US" sz="1450" b="1" dirty="0">
                <a:solidFill>
                  <a:srgbClr val="24242A"/>
                </a:solidFill>
                <a:latin typeface="Aptos" pitchFamily="34" charset="0"/>
                <a:ea typeface="Aptos" pitchFamily="34" charset="-122"/>
                <a:cs typeface="Aptos" pitchFamily="34" charset="-120"/>
              </a:rPr>
              <a:t>Data Collection</a:t>
            </a:r>
            <a:endParaRPr lang="en-US" sz="1450" dirty="0"/>
          </a:p>
        </p:txBody>
      </p:sp>
      <p:sp>
        <p:nvSpPr>
          <p:cNvPr id="8" name="Text 6"/>
          <p:cNvSpPr/>
          <p:nvPr/>
        </p:nvSpPr>
        <p:spPr>
          <a:xfrm>
            <a:off x="1554480" y="1892808"/>
            <a:ext cx="2468880" cy="932688"/>
          </a:xfrm>
          <a:prstGeom prst="rect">
            <a:avLst/>
          </a:prstGeom>
          <a:noFill/>
          <a:ln/>
        </p:spPr>
        <p:txBody>
          <a:bodyPr wrap="square" lIns="0" tIns="0" rIns="0" bIns="0" rtlCol="0" anchor="t">
            <a:normAutofit/>
          </a:bodyPr>
          <a:lstStyle/>
          <a:p>
            <a:pPr marL="0" indent="0">
              <a:buNone/>
            </a:pPr>
            <a:r>
              <a:rPr lang="en-US" sz="1400" dirty="0">
                <a:solidFill>
                  <a:srgbClr val="665B58"/>
                </a:solidFill>
                <a:latin typeface="Aptos" pitchFamily="34" charset="0"/>
                <a:ea typeface="Aptos" pitchFamily="34" charset="-122"/>
                <a:cs typeface="Aptos" pitchFamily="34" charset="-120"/>
              </a:rPr>
              <a:t>Collect raw hospital dataset in CSV format.</a:t>
            </a:r>
            <a:endParaRPr lang="en-US" sz="1400" dirty="0"/>
          </a:p>
        </p:txBody>
      </p:sp>
      <p:sp>
        <p:nvSpPr>
          <p:cNvPr id="9" name="Text 7"/>
          <p:cNvSpPr/>
          <p:nvPr/>
        </p:nvSpPr>
        <p:spPr>
          <a:xfrm>
            <a:off x="4224528" y="1993392"/>
            <a:ext cx="201168" cy="182880"/>
          </a:xfrm>
          <a:prstGeom prst="rect">
            <a:avLst/>
          </a:prstGeom>
          <a:noFill/>
          <a:ln/>
        </p:spPr>
        <p:txBody>
          <a:bodyPr wrap="square" lIns="0" tIns="0" rIns="0" bIns="0" rtlCol="0" anchor="t">
            <a:normAutofit fontScale="77500" lnSpcReduction="20000"/>
          </a:bodyPr>
          <a:lstStyle/>
          <a:p>
            <a:pPr marL="0" indent="0">
              <a:buNone/>
            </a:pPr>
            <a:r>
              <a:rPr lang="en-US" sz="1800" b="1" dirty="0">
                <a:solidFill>
                  <a:srgbClr val="DD5A49"/>
                </a:solidFill>
                <a:latin typeface="Aptos" pitchFamily="34" charset="0"/>
                <a:ea typeface="Aptos" pitchFamily="34" charset="-122"/>
                <a:cs typeface="Aptos" pitchFamily="34" charset="-120"/>
              </a:rPr>
              <a:t>→</a:t>
            </a:r>
            <a:endParaRPr lang="en-US" sz="1800" dirty="0"/>
          </a:p>
        </p:txBody>
      </p:sp>
      <p:sp>
        <p:nvSpPr>
          <p:cNvPr id="10" name="Shape 8"/>
          <p:cNvSpPr/>
          <p:nvPr/>
        </p:nvSpPr>
        <p:spPr>
          <a:xfrm>
            <a:off x="4526280" y="1417320"/>
            <a:ext cx="3429000" cy="1463040"/>
          </a:xfrm>
          <a:prstGeom prst="roundRect">
            <a:avLst>
              <a:gd name="adj" fmla="val 7500"/>
            </a:avLst>
          </a:prstGeom>
          <a:solidFill>
            <a:srgbClr val="FFFFFF"/>
          </a:solidFill>
          <a:ln w="12700">
            <a:solidFill>
              <a:srgbClr val="F2B6A8">
                <a:alpha val="85000"/>
              </a:srgbClr>
            </a:solidFill>
            <a:prstDash val="solid"/>
          </a:ln>
          <a:effectLst>
            <a:outerShdw blurRad="17780" dist="50800" dir="2700000" algn="bl" rotWithShape="0">
              <a:srgbClr val="D9B8B0">
                <a:alpha val="16000"/>
              </a:srgbClr>
            </a:outerShdw>
          </a:effectLst>
        </p:spPr>
      </p:sp>
      <p:sp>
        <p:nvSpPr>
          <p:cNvPr id="11" name="Shape 9"/>
          <p:cNvSpPr/>
          <p:nvPr/>
        </p:nvSpPr>
        <p:spPr>
          <a:xfrm>
            <a:off x="4690872" y="1627632"/>
            <a:ext cx="475488" cy="475488"/>
          </a:xfrm>
          <a:prstGeom prst="roundRect">
            <a:avLst>
              <a:gd name="adj" fmla="val 15385"/>
            </a:avLst>
          </a:prstGeom>
          <a:solidFill>
            <a:srgbClr val="FFE7E0"/>
          </a:solidFill>
          <a:ln w="12700">
            <a:solidFill>
              <a:srgbClr val="FFE7E0">
                <a:alpha val="0"/>
              </a:srgbClr>
            </a:solidFill>
            <a:prstDash val="solid"/>
          </a:ln>
        </p:spPr>
      </p:sp>
      <p:sp>
        <p:nvSpPr>
          <p:cNvPr id="12" name="Text 10"/>
          <p:cNvSpPr/>
          <p:nvPr/>
        </p:nvSpPr>
        <p:spPr>
          <a:xfrm>
            <a:off x="4768596" y="1696212"/>
            <a:ext cx="320040"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DD5A49"/>
                </a:solidFill>
                <a:latin typeface="Aptos" pitchFamily="34" charset="0"/>
                <a:ea typeface="Aptos" pitchFamily="34" charset="-122"/>
                <a:cs typeface="Aptos" pitchFamily="34" charset="-120"/>
              </a:rPr>
              <a:t>2</a:t>
            </a:r>
            <a:endParaRPr lang="en-US" sz="1600" dirty="0"/>
          </a:p>
        </p:txBody>
      </p:sp>
      <p:sp>
        <p:nvSpPr>
          <p:cNvPr id="13" name="Text 11"/>
          <p:cNvSpPr/>
          <p:nvPr/>
        </p:nvSpPr>
        <p:spPr>
          <a:xfrm>
            <a:off x="5349240" y="1581912"/>
            <a:ext cx="2468880" cy="237744"/>
          </a:xfrm>
          <a:prstGeom prst="rect">
            <a:avLst/>
          </a:prstGeom>
          <a:noFill/>
          <a:ln/>
        </p:spPr>
        <p:txBody>
          <a:bodyPr wrap="square" lIns="0" tIns="0" rIns="0" bIns="0" rtlCol="0" anchor="t">
            <a:normAutofit/>
          </a:bodyPr>
          <a:lstStyle/>
          <a:p>
            <a:pPr marL="0" indent="0">
              <a:buNone/>
            </a:pPr>
            <a:r>
              <a:rPr lang="en-US" sz="1450" b="1" dirty="0">
                <a:solidFill>
                  <a:srgbClr val="24242A"/>
                </a:solidFill>
                <a:latin typeface="Aptos" pitchFamily="34" charset="0"/>
                <a:ea typeface="Aptos" pitchFamily="34" charset="-122"/>
                <a:cs typeface="Aptos" pitchFamily="34" charset="-120"/>
              </a:rPr>
              <a:t>Data Cleaning</a:t>
            </a:r>
            <a:endParaRPr lang="en-US" sz="1450" dirty="0"/>
          </a:p>
        </p:txBody>
      </p:sp>
      <p:sp>
        <p:nvSpPr>
          <p:cNvPr id="14" name="Text 12"/>
          <p:cNvSpPr/>
          <p:nvPr/>
        </p:nvSpPr>
        <p:spPr>
          <a:xfrm>
            <a:off x="5349240" y="1892808"/>
            <a:ext cx="2468880" cy="932688"/>
          </a:xfrm>
          <a:prstGeom prst="rect">
            <a:avLst/>
          </a:prstGeom>
          <a:noFill/>
          <a:ln/>
        </p:spPr>
        <p:txBody>
          <a:bodyPr wrap="square" lIns="0" tIns="0" rIns="0" bIns="0" rtlCol="0" anchor="t">
            <a:normAutofit/>
          </a:bodyPr>
          <a:lstStyle/>
          <a:p>
            <a:pPr marL="0" indent="0">
              <a:buNone/>
            </a:pPr>
            <a:r>
              <a:rPr lang="en-US" sz="1400" dirty="0">
                <a:solidFill>
                  <a:srgbClr val="665B58"/>
                </a:solidFill>
                <a:latin typeface="Aptos" pitchFamily="34" charset="0"/>
                <a:ea typeface="Aptos" pitchFamily="34" charset="-122"/>
                <a:cs typeface="Aptos" pitchFamily="34" charset="-120"/>
              </a:rPr>
              <a:t>Check structure, missing values, duplicates and dates.</a:t>
            </a:r>
            <a:endParaRPr lang="en-US" sz="1400" dirty="0"/>
          </a:p>
        </p:txBody>
      </p:sp>
      <p:sp>
        <p:nvSpPr>
          <p:cNvPr id="15" name="Text 13"/>
          <p:cNvSpPr/>
          <p:nvPr/>
        </p:nvSpPr>
        <p:spPr>
          <a:xfrm>
            <a:off x="8019288" y="1993392"/>
            <a:ext cx="201168" cy="182880"/>
          </a:xfrm>
          <a:prstGeom prst="rect">
            <a:avLst/>
          </a:prstGeom>
          <a:noFill/>
          <a:ln/>
        </p:spPr>
        <p:txBody>
          <a:bodyPr wrap="square" lIns="0" tIns="0" rIns="0" bIns="0" rtlCol="0" anchor="t">
            <a:normAutofit fontScale="77500" lnSpcReduction="20000"/>
          </a:bodyPr>
          <a:lstStyle/>
          <a:p>
            <a:pPr marL="0" indent="0">
              <a:buNone/>
            </a:pPr>
            <a:r>
              <a:rPr lang="en-US" sz="1800" b="1" dirty="0">
                <a:solidFill>
                  <a:srgbClr val="DD5A49"/>
                </a:solidFill>
                <a:latin typeface="Aptos" pitchFamily="34" charset="0"/>
                <a:ea typeface="Aptos" pitchFamily="34" charset="-122"/>
                <a:cs typeface="Aptos" pitchFamily="34" charset="-120"/>
              </a:rPr>
              <a:t>→</a:t>
            </a:r>
            <a:endParaRPr lang="en-US" sz="1800" dirty="0"/>
          </a:p>
        </p:txBody>
      </p:sp>
      <p:sp>
        <p:nvSpPr>
          <p:cNvPr id="16" name="Shape 14"/>
          <p:cNvSpPr/>
          <p:nvPr/>
        </p:nvSpPr>
        <p:spPr>
          <a:xfrm>
            <a:off x="8321040" y="1417320"/>
            <a:ext cx="3429000" cy="1463040"/>
          </a:xfrm>
          <a:prstGeom prst="roundRect">
            <a:avLst>
              <a:gd name="adj" fmla="val 7500"/>
            </a:avLst>
          </a:prstGeom>
          <a:solidFill>
            <a:srgbClr val="FFFFFF"/>
          </a:solidFill>
          <a:ln w="12700">
            <a:solidFill>
              <a:srgbClr val="F2B6A8">
                <a:alpha val="85000"/>
              </a:srgbClr>
            </a:solidFill>
            <a:prstDash val="solid"/>
          </a:ln>
          <a:effectLst>
            <a:outerShdw blurRad="17780" dist="50800" dir="2700000" algn="bl" rotWithShape="0">
              <a:srgbClr val="D9B8B0">
                <a:alpha val="16000"/>
              </a:srgbClr>
            </a:outerShdw>
          </a:effectLst>
        </p:spPr>
      </p:sp>
      <p:sp>
        <p:nvSpPr>
          <p:cNvPr id="17" name="Shape 15"/>
          <p:cNvSpPr/>
          <p:nvPr/>
        </p:nvSpPr>
        <p:spPr>
          <a:xfrm>
            <a:off x="8485632" y="1627632"/>
            <a:ext cx="475488" cy="475488"/>
          </a:xfrm>
          <a:prstGeom prst="roundRect">
            <a:avLst>
              <a:gd name="adj" fmla="val 15385"/>
            </a:avLst>
          </a:prstGeom>
          <a:solidFill>
            <a:srgbClr val="FFE7E0"/>
          </a:solidFill>
          <a:ln w="12700">
            <a:solidFill>
              <a:srgbClr val="FFE7E0">
                <a:alpha val="0"/>
              </a:srgbClr>
            </a:solidFill>
            <a:prstDash val="solid"/>
          </a:ln>
        </p:spPr>
      </p:sp>
      <p:sp>
        <p:nvSpPr>
          <p:cNvPr id="18" name="Text 16"/>
          <p:cNvSpPr/>
          <p:nvPr/>
        </p:nvSpPr>
        <p:spPr>
          <a:xfrm>
            <a:off x="8563356" y="1696212"/>
            <a:ext cx="320040"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DD5A49"/>
                </a:solidFill>
                <a:latin typeface="Aptos" pitchFamily="34" charset="0"/>
                <a:ea typeface="Aptos" pitchFamily="34" charset="-122"/>
                <a:cs typeface="Aptos" pitchFamily="34" charset="-120"/>
              </a:rPr>
              <a:t>3</a:t>
            </a:r>
            <a:endParaRPr lang="en-US" sz="1600" dirty="0"/>
          </a:p>
        </p:txBody>
      </p:sp>
      <p:sp>
        <p:nvSpPr>
          <p:cNvPr id="19" name="Text 17"/>
          <p:cNvSpPr/>
          <p:nvPr/>
        </p:nvSpPr>
        <p:spPr>
          <a:xfrm>
            <a:off x="9144000" y="1581912"/>
            <a:ext cx="2468880" cy="237744"/>
          </a:xfrm>
          <a:prstGeom prst="rect">
            <a:avLst/>
          </a:prstGeom>
          <a:noFill/>
          <a:ln/>
        </p:spPr>
        <p:txBody>
          <a:bodyPr wrap="square" lIns="0" tIns="0" rIns="0" bIns="0" rtlCol="0" anchor="t">
            <a:normAutofit/>
          </a:bodyPr>
          <a:lstStyle/>
          <a:p>
            <a:pPr marL="0" indent="0">
              <a:buNone/>
            </a:pPr>
            <a:r>
              <a:rPr lang="en-US" sz="1450" b="1" dirty="0">
                <a:solidFill>
                  <a:srgbClr val="24242A"/>
                </a:solidFill>
                <a:latin typeface="Aptos" pitchFamily="34" charset="0"/>
                <a:ea typeface="Aptos" pitchFamily="34" charset="-122"/>
                <a:cs typeface="Aptos" pitchFamily="34" charset="-120"/>
              </a:rPr>
              <a:t>Derived Fields</a:t>
            </a:r>
            <a:endParaRPr lang="en-US" sz="1450" dirty="0"/>
          </a:p>
        </p:txBody>
      </p:sp>
      <p:sp>
        <p:nvSpPr>
          <p:cNvPr id="20" name="Text 18"/>
          <p:cNvSpPr/>
          <p:nvPr/>
        </p:nvSpPr>
        <p:spPr>
          <a:xfrm>
            <a:off x="9144000" y="1892808"/>
            <a:ext cx="2468880" cy="932688"/>
          </a:xfrm>
          <a:prstGeom prst="rect">
            <a:avLst/>
          </a:prstGeom>
          <a:noFill/>
          <a:ln/>
        </p:spPr>
        <p:txBody>
          <a:bodyPr wrap="square" lIns="0" tIns="0" rIns="0" bIns="0" rtlCol="0" anchor="t">
            <a:normAutofit/>
          </a:bodyPr>
          <a:lstStyle/>
          <a:p>
            <a:pPr marL="0" indent="0">
              <a:buNone/>
            </a:pPr>
            <a:r>
              <a:rPr lang="en-US" sz="1400" dirty="0">
                <a:solidFill>
                  <a:srgbClr val="665B58"/>
                </a:solidFill>
                <a:latin typeface="Aptos" pitchFamily="34" charset="0"/>
                <a:ea typeface="Aptos" pitchFamily="34" charset="-122"/>
                <a:cs typeface="Aptos" pitchFamily="34" charset="-120"/>
              </a:rPr>
              <a:t>Create age group, admission month/year and LOS category</a:t>
            </a:r>
            <a:r>
              <a:rPr lang="en-US" sz="1150" dirty="0">
                <a:solidFill>
                  <a:srgbClr val="665B58"/>
                </a:solidFill>
                <a:latin typeface="Aptos" pitchFamily="34" charset="0"/>
                <a:ea typeface="Aptos" pitchFamily="34" charset="-122"/>
                <a:cs typeface="Aptos" pitchFamily="34" charset="-120"/>
              </a:rPr>
              <a:t>.</a:t>
            </a:r>
            <a:endParaRPr lang="en-US" sz="1150" dirty="0"/>
          </a:p>
        </p:txBody>
      </p:sp>
      <p:sp>
        <p:nvSpPr>
          <p:cNvPr id="21" name="Shape 19"/>
          <p:cNvSpPr/>
          <p:nvPr/>
        </p:nvSpPr>
        <p:spPr>
          <a:xfrm>
            <a:off x="731520" y="3474720"/>
            <a:ext cx="3429000" cy="1463040"/>
          </a:xfrm>
          <a:prstGeom prst="roundRect">
            <a:avLst>
              <a:gd name="adj" fmla="val 7500"/>
            </a:avLst>
          </a:prstGeom>
          <a:solidFill>
            <a:srgbClr val="FFFFFF"/>
          </a:solidFill>
          <a:ln w="12700">
            <a:solidFill>
              <a:srgbClr val="F2B6A8">
                <a:alpha val="85000"/>
              </a:srgbClr>
            </a:solidFill>
            <a:prstDash val="solid"/>
          </a:ln>
          <a:effectLst>
            <a:outerShdw blurRad="17780" dist="50800" dir="2700000" algn="bl" rotWithShape="0">
              <a:srgbClr val="D9B8B0">
                <a:alpha val="16000"/>
              </a:srgbClr>
            </a:outerShdw>
          </a:effectLst>
        </p:spPr>
      </p:sp>
      <p:sp>
        <p:nvSpPr>
          <p:cNvPr id="22" name="Shape 20"/>
          <p:cNvSpPr/>
          <p:nvPr/>
        </p:nvSpPr>
        <p:spPr>
          <a:xfrm>
            <a:off x="896112" y="3685032"/>
            <a:ext cx="475488" cy="475488"/>
          </a:xfrm>
          <a:prstGeom prst="roundRect">
            <a:avLst>
              <a:gd name="adj" fmla="val 15385"/>
            </a:avLst>
          </a:prstGeom>
          <a:solidFill>
            <a:srgbClr val="FFE7E0"/>
          </a:solidFill>
          <a:ln w="12700">
            <a:solidFill>
              <a:srgbClr val="FFE7E0">
                <a:alpha val="0"/>
              </a:srgbClr>
            </a:solidFill>
            <a:prstDash val="solid"/>
          </a:ln>
        </p:spPr>
      </p:sp>
      <p:sp>
        <p:nvSpPr>
          <p:cNvPr id="23" name="Text 21"/>
          <p:cNvSpPr/>
          <p:nvPr/>
        </p:nvSpPr>
        <p:spPr>
          <a:xfrm>
            <a:off x="973836" y="3753612"/>
            <a:ext cx="320040"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DD5A49"/>
                </a:solidFill>
                <a:latin typeface="Aptos" pitchFamily="34" charset="0"/>
                <a:ea typeface="Aptos" pitchFamily="34" charset="-122"/>
                <a:cs typeface="Aptos" pitchFamily="34" charset="-120"/>
              </a:rPr>
              <a:t>4</a:t>
            </a:r>
            <a:endParaRPr lang="en-US" sz="1600" dirty="0"/>
          </a:p>
        </p:txBody>
      </p:sp>
      <p:sp>
        <p:nvSpPr>
          <p:cNvPr id="24" name="Text 22"/>
          <p:cNvSpPr/>
          <p:nvPr/>
        </p:nvSpPr>
        <p:spPr>
          <a:xfrm>
            <a:off x="1554480" y="3639312"/>
            <a:ext cx="2468880" cy="237744"/>
          </a:xfrm>
          <a:prstGeom prst="rect">
            <a:avLst/>
          </a:prstGeom>
          <a:noFill/>
          <a:ln/>
        </p:spPr>
        <p:txBody>
          <a:bodyPr wrap="square" lIns="0" tIns="0" rIns="0" bIns="0" rtlCol="0" anchor="t">
            <a:normAutofit/>
          </a:bodyPr>
          <a:lstStyle/>
          <a:p>
            <a:pPr marL="0" indent="0">
              <a:buNone/>
            </a:pPr>
            <a:r>
              <a:rPr lang="en-US" sz="1450" b="1" dirty="0">
                <a:solidFill>
                  <a:srgbClr val="24242A"/>
                </a:solidFill>
                <a:latin typeface="Aptos" pitchFamily="34" charset="0"/>
                <a:ea typeface="Aptos" pitchFamily="34" charset="-122"/>
                <a:cs typeface="Aptos" pitchFamily="34" charset="-120"/>
              </a:rPr>
              <a:t>KPI Engineering</a:t>
            </a:r>
            <a:endParaRPr lang="en-US" sz="1450" dirty="0"/>
          </a:p>
        </p:txBody>
      </p:sp>
      <p:sp>
        <p:nvSpPr>
          <p:cNvPr id="25" name="Text 23"/>
          <p:cNvSpPr/>
          <p:nvPr/>
        </p:nvSpPr>
        <p:spPr>
          <a:xfrm>
            <a:off x="1554480" y="3950208"/>
            <a:ext cx="2468880" cy="932688"/>
          </a:xfrm>
          <a:prstGeom prst="rect">
            <a:avLst/>
          </a:prstGeom>
          <a:noFill/>
          <a:ln/>
        </p:spPr>
        <p:txBody>
          <a:bodyPr wrap="square" lIns="0" tIns="0" rIns="0" bIns="0" rtlCol="0" anchor="t">
            <a:normAutofit/>
          </a:bodyPr>
          <a:lstStyle/>
          <a:p>
            <a:pPr marL="0" indent="0">
              <a:buNone/>
            </a:pPr>
            <a:r>
              <a:rPr lang="en-US" sz="1400" dirty="0">
                <a:solidFill>
                  <a:srgbClr val="665B58"/>
                </a:solidFill>
                <a:latin typeface="Aptos" pitchFamily="34" charset="0"/>
                <a:ea typeface="Aptos" pitchFamily="34" charset="-122"/>
                <a:cs typeface="Aptos" pitchFamily="34" charset="-120"/>
              </a:rPr>
              <a:t>Calculate hospital, patient-flow and resource KPIs.</a:t>
            </a:r>
            <a:endParaRPr lang="en-US" sz="1400" dirty="0"/>
          </a:p>
        </p:txBody>
      </p:sp>
      <p:sp>
        <p:nvSpPr>
          <p:cNvPr id="26" name="Text 24"/>
          <p:cNvSpPr/>
          <p:nvPr/>
        </p:nvSpPr>
        <p:spPr>
          <a:xfrm>
            <a:off x="4224528" y="4050792"/>
            <a:ext cx="201168" cy="182880"/>
          </a:xfrm>
          <a:prstGeom prst="rect">
            <a:avLst/>
          </a:prstGeom>
          <a:noFill/>
          <a:ln/>
        </p:spPr>
        <p:txBody>
          <a:bodyPr wrap="square" lIns="0" tIns="0" rIns="0" bIns="0" rtlCol="0" anchor="t">
            <a:normAutofit fontScale="77500" lnSpcReduction="20000"/>
          </a:bodyPr>
          <a:lstStyle/>
          <a:p>
            <a:pPr marL="0" indent="0">
              <a:buNone/>
            </a:pPr>
            <a:r>
              <a:rPr lang="en-US" sz="1800" b="1" dirty="0">
                <a:solidFill>
                  <a:srgbClr val="DD5A49"/>
                </a:solidFill>
                <a:latin typeface="Aptos" pitchFamily="34" charset="0"/>
                <a:ea typeface="Aptos" pitchFamily="34" charset="-122"/>
                <a:cs typeface="Aptos" pitchFamily="34" charset="-120"/>
              </a:rPr>
              <a:t>→</a:t>
            </a:r>
            <a:endParaRPr lang="en-US" sz="1800" dirty="0"/>
          </a:p>
        </p:txBody>
      </p:sp>
      <p:sp>
        <p:nvSpPr>
          <p:cNvPr id="27" name="Shape 25"/>
          <p:cNvSpPr/>
          <p:nvPr/>
        </p:nvSpPr>
        <p:spPr>
          <a:xfrm>
            <a:off x="4526280" y="3474720"/>
            <a:ext cx="3429000" cy="1463040"/>
          </a:xfrm>
          <a:prstGeom prst="roundRect">
            <a:avLst>
              <a:gd name="adj" fmla="val 7500"/>
            </a:avLst>
          </a:prstGeom>
          <a:solidFill>
            <a:srgbClr val="FFFFFF"/>
          </a:solidFill>
          <a:ln w="12700">
            <a:solidFill>
              <a:srgbClr val="F2B6A8">
                <a:alpha val="85000"/>
              </a:srgbClr>
            </a:solidFill>
            <a:prstDash val="solid"/>
          </a:ln>
          <a:effectLst>
            <a:outerShdw blurRad="17780" dist="50800" dir="2700000" algn="bl" rotWithShape="0">
              <a:srgbClr val="D9B8B0">
                <a:alpha val="16000"/>
              </a:srgbClr>
            </a:outerShdw>
          </a:effectLst>
        </p:spPr>
      </p:sp>
      <p:sp>
        <p:nvSpPr>
          <p:cNvPr id="28" name="Shape 26"/>
          <p:cNvSpPr/>
          <p:nvPr/>
        </p:nvSpPr>
        <p:spPr>
          <a:xfrm>
            <a:off x="4690872" y="3685032"/>
            <a:ext cx="475488" cy="475488"/>
          </a:xfrm>
          <a:prstGeom prst="roundRect">
            <a:avLst>
              <a:gd name="adj" fmla="val 15385"/>
            </a:avLst>
          </a:prstGeom>
          <a:solidFill>
            <a:srgbClr val="FFE7E0"/>
          </a:solidFill>
          <a:ln w="12700">
            <a:solidFill>
              <a:srgbClr val="FFE7E0">
                <a:alpha val="0"/>
              </a:srgbClr>
            </a:solidFill>
            <a:prstDash val="solid"/>
          </a:ln>
        </p:spPr>
      </p:sp>
      <p:sp>
        <p:nvSpPr>
          <p:cNvPr id="29" name="Text 27"/>
          <p:cNvSpPr/>
          <p:nvPr/>
        </p:nvSpPr>
        <p:spPr>
          <a:xfrm>
            <a:off x="4768596" y="3753612"/>
            <a:ext cx="320040"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DD5A49"/>
                </a:solidFill>
                <a:latin typeface="Aptos" pitchFamily="34" charset="0"/>
                <a:ea typeface="Aptos" pitchFamily="34" charset="-122"/>
                <a:cs typeface="Aptos" pitchFamily="34" charset="-120"/>
              </a:rPr>
              <a:t>5</a:t>
            </a:r>
            <a:endParaRPr lang="en-US" sz="1600" dirty="0"/>
          </a:p>
        </p:txBody>
      </p:sp>
      <p:sp>
        <p:nvSpPr>
          <p:cNvPr id="30" name="Text 28"/>
          <p:cNvSpPr/>
          <p:nvPr/>
        </p:nvSpPr>
        <p:spPr>
          <a:xfrm>
            <a:off x="5349240" y="3639312"/>
            <a:ext cx="2468880" cy="237744"/>
          </a:xfrm>
          <a:prstGeom prst="rect">
            <a:avLst/>
          </a:prstGeom>
          <a:noFill/>
          <a:ln/>
        </p:spPr>
        <p:txBody>
          <a:bodyPr wrap="square" lIns="0" tIns="0" rIns="0" bIns="0" rtlCol="0" anchor="t">
            <a:normAutofit/>
          </a:bodyPr>
          <a:lstStyle/>
          <a:p>
            <a:pPr marL="0" indent="0">
              <a:buNone/>
            </a:pPr>
            <a:r>
              <a:rPr lang="en-US" sz="1450" b="1" dirty="0">
                <a:solidFill>
                  <a:srgbClr val="24242A"/>
                </a:solidFill>
                <a:latin typeface="Aptos" pitchFamily="34" charset="0"/>
                <a:ea typeface="Aptos" pitchFamily="34" charset="-122"/>
                <a:cs typeface="Aptos" pitchFamily="34" charset="-120"/>
              </a:rPr>
              <a:t>Dashboard Build</a:t>
            </a:r>
            <a:endParaRPr lang="en-US" sz="1450" dirty="0"/>
          </a:p>
        </p:txBody>
      </p:sp>
      <p:sp>
        <p:nvSpPr>
          <p:cNvPr id="31" name="Text 29"/>
          <p:cNvSpPr/>
          <p:nvPr/>
        </p:nvSpPr>
        <p:spPr>
          <a:xfrm>
            <a:off x="5349240" y="3950208"/>
            <a:ext cx="2468880" cy="932688"/>
          </a:xfrm>
          <a:prstGeom prst="rect">
            <a:avLst/>
          </a:prstGeom>
          <a:noFill/>
          <a:ln/>
        </p:spPr>
        <p:txBody>
          <a:bodyPr wrap="square" lIns="0" tIns="0" rIns="0" bIns="0" rtlCol="0" anchor="t">
            <a:normAutofit/>
          </a:bodyPr>
          <a:lstStyle/>
          <a:p>
            <a:pPr marL="0" indent="0">
              <a:buNone/>
            </a:pPr>
            <a:r>
              <a:rPr lang="en-US" sz="1400" dirty="0">
                <a:solidFill>
                  <a:srgbClr val="665B58"/>
                </a:solidFill>
                <a:latin typeface="Aptos" pitchFamily="34" charset="0"/>
                <a:ea typeface="Aptos" pitchFamily="34" charset="-122"/>
                <a:cs typeface="Aptos" pitchFamily="34" charset="-120"/>
              </a:rPr>
              <a:t>Develop four connected dashboards with filters</a:t>
            </a:r>
            <a:r>
              <a:rPr lang="en-US" sz="1150" dirty="0">
                <a:solidFill>
                  <a:srgbClr val="665B58"/>
                </a:solidFill>
                <a:latin typeface="Aptos" pitchFamily="34" charset="0"/>
                <a:ea typeface="Aptos" pitchFamily="34" charset="-122"/>
                <a:cs typeface="Aptos" pitchFamily="34" charset="-120"/>
              </a:rPr>
              <a:t>.</a:t>
            </a:r>
            <a:endParaRPr lang="en-US" sz="1150" dirty="0"/>
          </a:p>
        </p:txBody>
      </p:sp>
      <p:sp>
        <p:nvSpPr>
          <p:cNvPr id="32" name="Text 30"/>
          <p:cNvSpPr/>
          <p:nvPr/>
        </p:nvSpPr>
        <p:spPr>
          <a:xfrm>
            <a:off x="8019288" y="4050792"/>
            <a:ext cx="201168" cy="182880"/>
          </a:xfrm>
          <a:prstGeom prst="rect">
            <a:avLst/>
          </a:prstGeom>
          <a:noFill/>
          <a:ln/>
        </p:spPr>
        <p:txBody>
          <a:bodyPr wrap="square" lIns="0" tIns="0" rIns="0" bIns="0" rtlCol="0" anchor="t">
            <a:normAutofit fontScale="77500" lnSpcReduction="20000"/>
          </a:bodyPr>
          <a:lstStyle/>
          <a:p>
            <a:pPr marL="0" indent="0">
              <a:buNone/>
            </a:pPr>
            <a:r>
              <a:rPr lang="en-US" sz="1800" b="1" dirty="0">
                <a:solidFill>
                  <a:srgbClr val="DD5A49"/>
                </a:solidFill>
                <a:latin typeface="Aptos" pitchFamily="34" charset="0"/>
                <a:ea typeface="Aptos" pitchFamily="34" charset="-122"/>
                <a:cs typeface="Aptos" pitchFamily="34" charset="-120"/>
              </a:rPr>
              <a:t>→</a:t>
            </a:r>
            <a:endParaRPr lang="en-US" sz="1800" dirty="0"/>
          </a:p>
        </p:txBody>
      </p:sp>
      <p:sp>
        <p:nvSpPr>
          <p:cNvPr id="33" name="Shape 31"/>
          <p:cNvSpPr/>
          <p:nvPr/>
        </p:nvSpPr>
        <p:spPr>
          <a:xfrm>
            <a:off x="8321040" y="3474720"/>
            <a:ext cx="3429000" cy="1463040"/>
          </a:xfrm>
          <a:prstGeom prst="roundRect">
            <a:avLst>
              <a:gd name="adj" fmla="val 7500"/>
            </a:avLst>
          </a:prstGeom>
          <a:solidFill>
            <a:srgbClr val="FFFFFF"/>
          </a:solidFill>
          <a:ln w="12700">
            <a:solidFill>
              <a:srgbClr val="F2B6A8">
                <a:alpha val="85000"/>
              </a:srgbClr>
            </a:solidFill>
            <a:prstDash val="solid"/>
          </a:ln>
          <a:effectLst>
            <a:outerShdw blurRad="17780" dist="50800" dir="2700000" algn="bl" rotWithShape="0">
              <a:srgbClr val="D9B8B0">
                <a:alpha val="16000"/>
              </a:srgbClr>
            </a:outerShdw>
          </a:effectLst>
        </p:spPr>
      </p:sp>
      <p:sp>
        <p:nvSpPr>
          <p:cNvPr id="34" name="Shape 32"/>
          <p:cNvSpPr/>
          <p:nvPr/>
        </p:nvSpPr>
        <p:spPr>
          <a:xfrm>
            <a:off x="8485632" y="3685032"/>
            <a:ext cx="475488" cy="475488"/>
          </a:xfrm>
          <a:prstGeom prst="roundRect">
            <a:avLst>
              <a:gd name="adj" fmla="val 15385"/>
            </a:avLst>
          </a:prstGeom>
          <a:solidFill>
            <a:srgbClr val="FFE7E0"/>
          </a:solidFill>
          <a:ln w="12700">
            <a:solidFill>
              <a:srgbClr val="FFE7E0">
                <a:alpha val="0"/>
              </a:srgbClr>
            </a:solidFill>
            <a:prstDash val="solid"/>
          </a:ln>
        </p:spPr>
      </p:sp>
      <p:sp>
        <p:nvSpPr>
          <p:cNvPr id="35" name="Text 33"/>
          <p:cNvSpPr/>
          <p:nvPr/>
        </p:nvSpPr>
        <p:spPr>
          <a:xfrm>
            <a:off x="8563356" y="3753612"/>
            <a:ext cx="320040"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DD5A49"/>
                </a:solidFill>
                <a:latin typeface="Aptos" pitchFamily="34" charset="0"/>
                <a:ea typeface="Aptos" pitchFamily="34" charset="-122"/>
                <a:cs typeface="Aptos" pitchFamily="34" charset="-120"/>
              </a:rPr>
              <a:t>6</a:t>
            </a:r>
            <a:endParaRPr lang="en-US" sz="1600" dirty="0"/>
          </a:p>
        </p:txBody>
      </p:sp>
      <p:sp>
        <p:nvSpPr>
          <p:cNvPr id="36" name="Text 34"/>
          <p:cNvSpPr/>
          <p:nvPr/>
        </p:nvSpPr>
        <p:spPr>
          <a:xfrm>
            <a:off x="9144000" y="3639312"/>
            <a:ext cx="2468880" cy="237744"/>
          </a:xfrm>
          <a:prstGeom prst="rect">
            <a:avLst/>
          </a:prstGeom>
          <a:noFill/>
          <a:ln/>
        </p:spPr>
        <p:txBody>
          <a:bodyPr wrap="square" lIns="0" tIns="0" rIns="0" bIns="0" rtlCol="0" anchor="t">
            <a:normAutofit/>
          </a:bodyPr>
          <a:lstStyle/>
          <a:p>
            <a:pPr marL="0" indent="0">
              <a:buNone/>
            </a:pPr>
            <a:r>
              <a:rPr lang="en-US" sz="1450" b="1" dirty="0">
                <a:solidFill>
                  <a:srgbClr val="24242A"/>
                </a:solidFill>
                <a:latin typeface="Aptos" pitchFamily="34" charset="0"/>
                <a:ea typeface="Aptos" pitchFamily="34" charset="-122"/>
                <a:cs typeface="Aptos" pitchFamily="34" charset="-120"/>
              </a:rPr>
              <a:t>Testing &amp; Delivery</a:t>
            </a:r>
            <a:endParaRPr lang="en-US" sz="1450" dirty="0"/>
          </a:p>
        </p:txBody>
      </p:sp>
      <p:sp>
        <p:nvSpPr>
          <p:cNvPr id="37" name="Text 35"/>
          <p:cNvSpPr/>
          <p:nvPr/>
        </p:nvSpPr>
        <p:spPr>
          <a:xfrm>
            <a:off x="9144000" y="3950208"/>
            <a:ext cx="2468880" cy="932688"/>
          </a:xfrm>
          <a:prstGeom prst="rect">
            <a:avLst/>
          </a:prstGeom>
          <a:noFill/>
          <a:ln/>
        </p:spPr>
        <p:txBody>
          <a:bodyPr wrap="square" lIns="0" tIns="0" rIns="0" bIns="0" rtlCol="0" anchor="t">
            <a:normAutofit/>
          </a:bodyPr>
          <a:lstStyle/>
          <a:p>
            <a:pPr marL="0" indent="0">
              <a:buNone/>
            </a:pPr>
            <a:r>
              <a:rPr lang="en-US" sz="1400" dirty="0">
                <a:solidFill>
                  <a:srgbClr val="665B58"/>
                </a:solidFill>
                <a:latin typeface="Aptos" pitchFamily="34" charset="0"/>
                <a:ea typeface="Aptos" pitchFamily="34" charset="-122"/>
                <a:cs typeface="Aptos" pitchFamily="34" charset="-120"/>
              </a:rPr>
              <a:t>Validate KPIs in Pandas and prepare final documents.</a:t>
            </a:r>
            <a:endParaRPr lang="en-US" sz="1400" dirty="0"/>
          </a:p>
        </p:txBody>
      </p:sp>
      <p:sp>
        <p:nvSpPr>
          <p:cNvPr id="38" name="Shape 36"/>
          <p:cNvSpPr/>
          <p:nvPr/>
        </p:nvSpPr>
        <p:spPr>
          <a:xfrm>
            <a:off x="960120" y="5715000"/>
            <a:ext cx="10287000" cy="502920"/>
          </a:xfrm>
          <a:prstGeom prst="roundRect">
            <a:avLst>
              <a:gd name="adj" fmla="val 21818"/>
            </a:avLst>
          </a:prstGeom>
          <a:solidFill>
            <a:srgbClr val="FFE7E0"/>
          </a:solidFill>
          <a:ln w="12700">
            <a:solidFill>
              <a:srgbClr val="333333">
                <a:alpha val="85000"/>
              </a:srgbClr>
            </a:solidFill>
            <a:prstDash val="solid"/>
          </a:ln>
          <a:effectLst>
            <a:outerShdw blurRad="17780" dist="50800" dir="2700000" algn="bl" rotWithShape="0">
              <a:srgbClr val="D9B8B0">
                <a:alpha val="16000"/>
              </a:srgbClr>
            </a:outerShdw>
          </a:effectLst>
        </p:spPr>
      </p:sp>
      <p:sp>
        <p:nvSpPr>
          <p:cNvPr id="39" name="Text 37"/>
          <p:cNvSpPr/>
          <p:nvPr/>
        </p:nvSpPr>
        <p:spPr>
          <a:xfrm>
            <a:off x="1143000" y="5852160"/>
            <a:ext cx="9921240" cy="182880"/>
          </a:xfrm>
          <a:prstGeom prst="rect">
            <a:avLst/>
          </a:prstGeom>
          <a:noFill/>
          <a:ln/>
        </p:spPr>
        <p:txBody>
          <a:bodyPr wrap="square" lIns="0" tIns="0" rIns="0" bIns="0" rtlCol="0" anchor="t">
            <a:normAutofit lnSpcReduction="10000"/>
          </a:bodyPr>
          <a:lstStyle/>
          <a:p>
            <a:pPr marL="0" indent="0" algn="ctr">
              <a:buNone/>
            </a:pPr>
            <a:r>
              <a:rPr lang="en-US" sz="1320" b="1" dirty="0">
                <a:solidFill>
                  <a:srgbClr val="DD5A49"/>
                </a:solidFill>
                <a:latin typeface="Aptos" pitchFamily="34" charset="0"/>
                <a:ea typeface="Aptos" pitchFamily="34" charset="-122"/>
                <a:cs typeface="Aptos" pitchFamily="34" charset="-120"/>
              </a:rPr>
              <a:t>Raw Dataset → Cleaning → Transformation → KPI Creation → Dashboard Development → Testing → Documentation</a:t>
            </a:r>
            <a:endParaRPr lang="en-US" sz="1320" dirty="0"/>
          </a:p>
        </p:txBody>
      </p:sp>
    </p:spTree>
    <p:extLst>
      <p:ext uri="{BB962C8B-B14F-4D97-AF65-F5344CB8AC3E}">
        <p14:creationId xmlns:p14="http://schemas.microsoft.com/office/powerpoint/2010/main" val="3336771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69195966-20D7-AA9F-E69F-BB2C737E5077}"/>
              </a:ext>
            </a:extLst>
          </p:cNvPr>
          <p:cNvPicPr>
            <a:picLocks noChangeAspect="1"/>
          </p:cNvPicPr>
          <p:nvPr/>
        </p:nvPicPr>
        <p:blipFill>
          <a:blip r:embed="rId3"/>
          <a:stretch>
            <a:fillRect/>
          </a:stretch>
        </p:blipFill>
        <p:spPr>
          <a:xfrm>
            <a:off x="3239" y="0"/>
            <a:ext cx="12185522" cy="6858000"/>
          </a:xfrm>
          <a:prstGeom prst="rect">
            <a:avLst/>
          </a:prstGeom>
        </p:spPr>
      </p:pic>
      <p:sp>
        <p:nvSpPr>
          <p:cNvPr id="4" name="Text 2"/>
          <p:cNvSpPr txBox="1"/>
          <p:nvPr/>
        </p:nvSpPr>
        <p:spPr>
          <a:xfrm>
            <a:off x="685800" y="731520"/>
            <a:ext cx="9144000" cy="548640"/>
          </a:xfrm>
          <a:prstGeom prst="rect">
            <a:avLst/>
          </a:prstGeom>
          <a:noFill/>
          <a:ln/>
        </p:spPr>
        <p:txBody>
          <a:bodyPr wrap="square" lIns="0" tIns="0" rIns="0" bIns="0" rtlCol="0" anchor="ctr"/>
          <a:lstStyle/>
          <a:p>
            <a:pPr marL="0" indent="0">
              <a:buNone/>
            </a:pPr>
            <a:r>
              <a:rPr lang="en-US" sz="2900" b="1" dirty="0">
                <a:solidFill>
                  <a:srgbClr val="2A2523"/>
                </a:solidFill>
                <a:latin typeface="Arial" pitchFamily="34" charset="0"/>
                <a:ea typeface="Arial" pitchFamily="34" charset="-122"/>
                <a:cs typeface="Arial" pitchFamily="34" charset="-120"/>
              </a:rPr>
              <a:t>Dataset Description</a:t>
            </a:r>
            <a:endParaRPr lang="en-US" sz="2900" dirty="0"/>
          </a:p>
        </p:txBody>
      </p:sp>
      <p:sp>
        <p:nvSpPr>
          <p:cNvPr id="6" name="Text 4"/>
          <p:cNvSpPr txBox="1"/>
          <p:nvPr/>
        </p:nvSpPr>
        <p:spPr>
          <a:xfrm>
            <a:off x="10881360" y="6199632"/>
            <a:ext cx="621792"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10</a:t>
            </a:r>
            <a:endParaRPr lang="en-US" sz="1200" dirty="0"/>
          </a:p>
        </p:txBody>
      </p:sp>
      <p:sp>
        <p:nvSpPr>
          <p:cNvPr id="7" name="Shape 5"/>
          <p:cNvSpPr/>
          <p:nvPr/>
        </p:nvSpPr>
        <p:spPr>
          <a:xfrm>
            <a:off x="685800" y="1508760"/>
            <a:ext cx="6903720" cy="4206240"/>
          </a:xfrm>
          <a:prstGeom prst="roundRect">
            <a:avLst>
              <a:gd name="adj" fmla="val 2609"/>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8" name="Text 6"/>
          <p:cNvSpPr txBox="1"/>
          <p:nvPr/>
        </p:nvSpPr>
        <p:spPr>
          <a:xfrm>
            <a:off x="960120" y="1737360"/>
            <a:ext cx="6309360" cy="274320"/>
          </a:xfrm>
          <a:prstGeom prst="rect">
            <a:avLst/>
          </a:prstGeom>
          <a:noFill/>
          <a:ln/>
        </p:spPr>
        <p:txBody>
          <a:bodyPr wrap="square" lIns="0" tIns="0" rIns="0" bIns="0" rtlCol="0" anchor="ctr"/>
          <a:lstStyle/>
          <a:p>
            <a:pPr marL="0" indent="0">
              <a:buNone/>
            </a:pPr>
            <a:r>
              <a:rPr lang="en-US" sz="1600" b="1" dirty="0">
                <a:solidFill>
                  <a:srgbClr val="D9563C"/>
                </a:solidFill>
                <a:latin typeface="Arial" pitchFamily="34" charset="0"/>
                <a:ea typeface="Arial" pitchFamily="34" charset="-122"/>
                <a:cs typeface="Arial" pitchFamily="34" charset="-120"/>
              </a:rPr>
              <a:t>What the 53 fields cover</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892751110"/>
              </p:ext>
            </p:extLst>
          </p:nvPr>
        </p:nvGraphicFramePr>
        <p:xfrm>
          <a:off x="960120" y="2103120"/>
          <a:ext cx="6355080" cy="3086100"/>
        </p:xfrm>
        <a:graphic>
          <a:graphicData uri="http://schemas.openxmlformats.org/drawingml/2006/table">
            <a:tbl>
              <a:tblPr firstRow="1"/>
              <a:tblGrid>
                <a:gridCol w="169164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3429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Data area</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D9563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Important fields</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D9563C"/>
                    </a:solidFill>
                  </a:tcPr>
                </a:tc>
                <a:extLst>
                  <a:ext uri="{0D108BD9-81ED-4DB2-BD59-A6C34878D82A}">
                    <a16:rowId xmlns:a16="http://schemas.microsoft.com/office/drawing/2014/main" val="10000"/>
                  </a:ext>
                </a:extLst>
              </a:tr>
              <a:tr h="342900">
                <a:tc>
                  <a:txBody>
                    <a:bodyPr/>
                    <a:lstStyle/>
                    <a:p>
                      <a:pPr marL="0" indent="0">
                        <a:buNone/>
                      </a:pPr>
                      <a:r>
                        <a:rPr lang="en-US" sz="1100" b="1" dirty="0">
                          <a:solidFill>
                            <a:srgbClr val="2A2523"/>
                          </a:solidFill>
                          <a:latin typeface="Calibri" pitchFamily="34" charset="0"/>
                          <a:ea typeface="Calibri" pitchFamily="34" charset="-122"/>
                          <a:cs typeface="Calibri" pitchFamily="34" charset="-120"/>
                        </a:rPr>
                        <a:t>Hospital</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buNone/>
                      </a:pPr>
                      <a:r>
                        <a:rPr lang="en-US" sz="1100" dirty="0">
                          <a:solidFill>
                            <a:srgbClr val="6E625C"/>
                          </a:solidFill>
                          <a:latin typeface="Calibri" pitchFamily="34" charset="0"/>
                          <a:ea typeface="Calibri" pitchFamily="34" charset="-122"/>
                          <a:cs typeface="Calibri" pitchFamily="34" charset="-120"/>
                        </a:rPr>
                        <a:t>Hospital ID, Hospital Name, Hospital Type, City, State</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buNone/>
                      </a:pPr>
                      <a:r>
                        <a:rPr lang="en-US" sz="1100" b="1" dirty="0">
                          <a:solidFill>
                            <a:srgbClr val="2A2523"/>
                          </a:solidFill>
                          <a:latin typeface="Calibri" pitchFamily="34" charset="0"/>
                          <a:ea typeface="Calibri" pitchFamily="34" charset="-122"/>
                          <a:cs typeface="Calibri" pitchFamily="34" charset="-120"/>
                        </a:rPr>
                        <a:t>Patient</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buNone/>
                      </a:pPr>
                      <a:r>
                        <a:rPr lang="en-US" sz="1100" dirty="0">
                          <a:solidFill>
                            <a:srgbClr val="6E625C"/>
                          </a:solidFill>
                          <a:latin typeface="Calibri" pitchFamily="34" charset="0"/>
                          <a:ea typeface="Calibri" pitchFamily="34" charset="-122"/>
                          <a:cs typeface="Calibri" pitchFamily="34" charset="-120"/>
                        </a:rPr>
                        <a:t>Patient ID, Patient Name, Gender, Age, Blood Type</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02"/>
                  </a:ext>
                </a:extLst>
              </a:tr>
              <a:tr h="342900">
                <a:tc>
                  <a:txBody>
                    <a:bodyPr/>
                    <a:lstStyle/>
                    <a:p>
                      <a:pPr marL="0" indent="0">
                        <a:buNone/>
                      </a:pPr>
                      <a:r>
                        <a:rPr lang="en-US" sz="1100" b="1" dirty="0">
                          <a:solidFill>
                            <a:srgbClr val="2A2523"/>
                          </a:solidFill>
                          <a:latin typeface="Calibri" pitchFamily="34" charset="0"/>
                          <a:ea typeface="Calibri" pitchFamily="34" charset="-122"/>
                          <a:cs typeface="Calibri" pitchFamily="34" charset="-120"/>
                        </a:rPr>
                        <a:t>Admissions</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buNone/>
                      </a:pPr>
                      <a:r>
                        <a:rPr lang="en-US" sz="1100" dirty="0">
                          <a:solidFill>
                            <a:srgbClr val="6E625C"/>
                          </a:solidFill>
                          <a:latin typeface="Calibri" pitchFamily="34" charset="0"/>
                          <a:ea typeface="Calibri" pitchFamily="34" charset="-122"/>
                          <a:cs typeface="Calibri" pitchFamily="34" charset="-120"/>
                        </a:rPr>
                        <a:t>Admission Date, Discharge Date, Admission Type</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2900">
                <a:tc>
                  <a:txBody>
                    <a:bodyPr/>
                    <a:lstStyle/>
                    <a:p>
                      <a:pPr marL="0" indent="0">
                        <a:buNone/>
                      </a:pPr>
                      <a:r>
                        <a:rPr lang="en-US" sz="1100" b="1" dirty="0">
                          <a:solidFill>
                            <a:srgbClr val="2A2523"/>
                          </a:solidFill>
                          <a:latin typeface="Calibri" pitchFamily="34" charset="0"/>
                          <a:ea typeface="Calibri" pitchFamily="34" charset="-122"/>
                          <a:cs typeface="Calibri" pitchFamily="34" charset="-120"/>
                        </a:rPr>
                        <a:t>Clinical / Service</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buNone/>
                      </a:pPr>
                      <a:r>
                        <a:rPr lang="en-US" sz="1100" dirty="0">
                          <a:solidFill>
                            <a:srgbClr val="6E625C"/>
                          </a:solidFill>
                          <a:latin typeface="Calibri" pitchFamily="34" charset="0"/>
                          <a:ea typeface="Calibri" pitchFamily="34" charset="-122"/>
                          <a:cs typeface="Calibri" pitchFamily="34" charset="-120"/>
                        </a:rPr>
                        <a:t>Diagnosis, Treatment, Medication, Test Result</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04"/>
                  </a:ext>
                </a:extLst>
              </a:tr>
              <a:tr h="342900">
                <a:tc>
                  <a:txBody>
                    <a:bodyPr/>
                    <a:lstStyle/>
                    <a:p>
                      <a:pPr marL="0" indent="0">
                        <a:buNone/>
                      </a:pPr>
                      <a:r>
                        <a:rPr lang="en-US" sz="1100" b="1" dirty="0">
                          <a:solidFill>
                            <a:srgbClr val="2A2523"/>
                          </a:solidFill>
                          <a:latin typeface="Calibri" pitchFamily="34" charset="0"/>
                          <a:ea typeface="Calibri" pitchFamily="34" charset="-122"/>
                          <a:cs typeface="Calibri" pitchFamily="34" charset="-120"/>
                        </a:rPr>
                        <a:t>Financial</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buNone/>
                      </a:pPr>
                      <a:r>
                        <a:rPr lang="en-US" sz="1100" dirty="0">
                          <a:solidFill>
                            <a:srgbClr val="6E625C"/>
                          </a:solidFill>
                          <a:latin typeface="Calibri" pitchFamily="34" charset="0"/>
                          <a:ea typeface="Calibri" pitchFamily="34" charset="-122"/>
                          <a:cs typeface="Calibri" pitchFamily="34" charset="-120"/>
                        </a:rPr>
                        <a:t>Billing Amount, Insurance Provider</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2900">
                <a:tc>
                  <a:txBody>
                    <a:bodyPr/>
                    <a:lstStyle/>
                    <a:p>
                      <a:pPr marL="0" indent="0">
                        <a:buNone/>
                      </a:pPr>
                      <a:r>
                        <a:rPr lang="en-US" sz="1100" b="1" dirty="0">
                          <a:solidFill>
                            <a:srgbClr val="2A2523"/>
                          </a:solidFill>
                          <a:latin typeface="Calibri" pitchFamily="34" charset="0"/>
                          <a:ea typeface="Calibri" pitchFamily="34" charset="-122"/>
                          <a:cs typeface="Calibri" pitchFamily="34" charset="-120"/>
                        </a:rPr>
                        <a:t>Resources</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buNone/>
                      </a:pPr>
                      <a:r>
                        <a:rPr lang="en-US" sz="1100" dirty="0">
                          <a:solidFill>
                            <a:srgbClr val="6E625C"/>
                          </a:solidFill>
                          <a:latin typeface="Calibri" pitchFamily="34" charset="0"/>
                          <a:ea typeface="Calibri" pitchFamily="34" charset="-122"/>
                          <a:cs typeface="Calibri" pitchFamily="34" charset="-120"/>
                        </a:rPr>
                        <a:t>Beds, ICU Beds, Doctors, Nurses, Staff Count</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06"/>
                  </a:ext>
                </a:extLst>
              </a:tr>
              <a:tr h="342900">
                <a:tc>
                  <a:txBody>
                    <a:bodyPr/>
                    <a:lstStyle/>
                    <a:p>
                      <a:pPr marL="0" indent="0">
                        <a:buNone/>
                      </a:pPr>
                      <a:r>
                        <a:rPr lang="en-US" sz="1100" b="1" dirty="0">
                          <a:solidFill>
                            <a:srgbClr val="2A2523"/>
                          </a:solidFill>
                          <a:latin typeface="Calibri" pitchFamily="34" charset="0"/>
                          <a:ea typeface="Calibri" pitchFamily="34" charset="-122"/>
                          <a:cs typeface="Calibri" pitchFamily="34" charset="-120"/>
                        </a:rPr>
                        <a:t>Equipment</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buNone/>
                      </a:pPr>
                      <a:r>
                        <a:rPr lang="en-US" sz="1100" dirty="0">
                          <a:solidFill>
                            <a:srgbClr val="6E625C"/>
                          </a:solidFill>
                          <a:latin typeface="Calibri" pitchFamily="34" charset="0"/>
                          <a:ea typeface="Calibri" pitchFamily="34" charset="-122"/>
                          <a:cs typeface="Calibri" pitchFamily="34" charset="-120"/>
                        </a:rPr>
                        <a:t>Equipment ID, Equipment Status, Usage Duration</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2900">
                <a:tc>
                  <a:txBody>
                    <a:bodyPr/>
                    <a:lstStyle/>
                    <a:p>
                      <a:pPr marL="0" indent="0">
                        <a:buNone/>
                      </a:pPr>
                      <a:r>
                        <a:rPr lang="en-US" sz="1100" b="1" dirty="0">
                          <a:solidFill>
                            <a:srgbClr val="2A2523"/>
                          </a:solidFill>
                          <a:latin typeface="Calibri" pitchFamily="34" charset="0"/>
                          <a:ea typeface="Calibri" pitchFamily="34" charset="-122"/>
                          <a:cs typeface="Calibri" pitchFamily="34" charset="-120"/>
                        </a:rPr>
                        <a:t>Transfers</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buNone/>
                      </a:pPr>
                      <a:r>
                        <a:rPr lang="en-US" sz="1100" dirty="0">
                          <a:solidFill>
                            <a:srgbClr val="6E625C"/>
                          </a:solidFill>
                          <a:latin typeface="Calibri" pitchFamily="34" charset="0"/>
                          <a:ea typeface="Calibri" pitchFamily="34" charset="-122"/>
                          <a:cs typeface="Calibri" pitchFamily="34" charset="-120"/>
                        </a:rPr>
                        <a:t>Transferred, Transfer From/To Department, Transfer Date</a:t>
                      </a:r>
                      <a:endParaRPr lang="en-US" sz="1100" dirty="0">
                        <a:latin typeface="Calibri" charset="0"/>
                        <a:ea typeface="Calibri" charset="0"/>
                        <a:cs typeface="Calibri" charset="0"/>
                      </a:endParaRPr>
                    </a:p>
                  </a:txBody>
                  <a:tcPr marL="76200" marR="76200" marT="25400" marB="254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08"/>
                  </a:ext>
                </a:extLst>
              </a:tr>
            </a:tbl>
          </a:graphicData>
        </a:graphic>
      </p:graphicFrame>
      <p:sp>
        <p:nvSpPr>
          <p:cNvPr id="10" name="Shape 7"/>
          <p:cNvSpPr/>
          <p:nvPr/>
        </p:nvSpPr>
        <p:spPr>
          <a:xfrm>
            <a:off x="7863840" y="1508760"/>
            <a:ext cx="3639312" cy="841248"/>
          </a:xfrm>
          <a:prstGeom prst="roundRect">
            <a:avLst>
              <a:gd name="adj" fmla="val 1304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9" name="Text 8"/>
          <p:cNvSpPr txBox="1"/>
          <p:nvPr/>
        </p:nvSpPr>
        <p:spPr>
          <a:xfrm>
            <a:off x="8138160" y="1691640"/>
            <a:ext cx="1188720" cy="457200"/>
          </a:xfrm>
          <a:prstGeom prst="rect">
            <a:avLst/>
          </a:prstGeom>
          <a:noFill/>
          <a:ln/>
        </p:spPr>
        <p:txBody>
          <a:bodyPr wrap="square" lIns="0" tIns="0" rIns="0" bIns="0" rtlCol="0" anchor="ctr"/>
          <a:lstStyle/>
          <a:p>
            <a:pPr marL="0" indent="0">
              <a:buNone/>
            </a:pPr>
            <a:r>
              <a:rPr lang="en-US" sz="2000" b="1" dirty="0">
                <a:solidFill>
                  <a:srgbClr val="D9563C"/>
                </a:solidFill>
                <a:latin typeface="Arial" pitchFamily="34" charset="0"/>
                <a:ea typeface="Arial" pitchFamily="34" charset="-122"/>
                <a:cs typeface="Arial" pitchFamily="34" charset="-120"/>
              </a:rPr>
              <a:t>10,000</a:t>
            </a:r>
            <a:endParaRPr lang="en-US" sz="2000" dirty="0"/>
          </a:p>
        </p:txBody>
      </p:sp>
      <p:sp>
        <p:nvSpPr>
          <p:cNvPr id="12" name="Text 9"/>
          <p:cNvSpPr txBox="1"/>
          <p:nvPr/>
        </p:nvSpPr>
        <p:spPr>
          <a:xfrm>
            <a:off x="9326880" y="1783080"/>
            <a:ext cx="2011680" cy="329184"/>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Records</a:t>
            </a:r>
            <a:endParaRPr lang="en-US" sz="1200" dirty="0"/>
          </a:p>
        </p:txBody>
      </p:sp>
      <p:sp>
        <p:nvSpPr>
          <p:cNvPr id="13" name="Shape 10"/>
          <p:cNvSpPr/>
          <p:nvPr/>
        </p:nvSpPr>
        <p:spPr>
          <a:xfrm>
            <a:off x="7863840" y="2459736"/>
            <a:ext cx="3639312" cy="841248"/>
          </a:xfrm>
          <a:prstGeom prst="roundRect">
            <a:avLst>
              <a:gd name="adj" fmla="val 1304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14" name="Text 11"/>
          <p:cNvSpPr txBox="1"/>
          <p:nvPr/>
        </p:nvSpPr>
        <p:spPr>
          <a:xfrm>
            <a:off x="8138160" y="2642616"/>
            <a:ext cx="1188720" cy="457200"/>
          </a:xfrm>
          <a:prstGeom prst="rect">
            <a:avLst/>
          </a:prstGeom>
          <a:noFill/>
          <a:ln/>
        </p:spPr>
        <p:txBody>
          <a:bodyPr wrap="square" lIns="0" tIns="0" rIns="0" bIns="0" rtlCol="0" anchor="ctr"/>
          <a:lstStyle/>
          <a:p>
            <a:pPr marL="0" indent="0">
              <a:buNone/>
            </a:pPr>
            <a:r>
              <a:rPr lang="en-US" sz="2000" b="1" dirty="0">
                <a:solidFill>
                  <a:srgbClr val="D9563C"/>
                </a:solidFill>
                <a:latin typeface="Arial" pitchFamily="34" charset="0"/>
                <a:ea typeface="Arial" pitchFamily="34" charset="-122"/>
                <a:cs typeface="Arial" pitchFamily="34" charset="-120"/>
              </a:rPr>
              <a:t>53</a:t>
            </a:r>
            <a:endParaRPr lang="en-US" sz="2000" dirty="0"/>
          </a:p>
        </p:txBody>
      </p:sp>
      <p:sp>
        <p:nvSpPr>
          <p:cNvPr id="15" name="Text 12"/>
          <p:cNvSpPr txBox="1"/>
          <p:nvPr/>
        </p:nvSpPr>
        <p:spPr>
          <a:xfrm>
            <a:off x="9326880" y="2734056"/>
            <a:ext cx="2011680" cy="329184"/>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Fields</a:t>
            </a:r>
            <a:endParaRPr lang="en-US" sz="1200" dirty="0"/>
          </a:p>
        </p:txBody>
      </p:sp>
      <p:sp>
        <p:nvSpPr>
          <p:cNvPr id="16" name="Shape 13"/>
          <p:cNvSpPr/>
          <p:nvPr/>
        </p:nvSpPr>
        <p:spPr>
          <a:xfrm>
            <a:off x="7863840" y="3410712"/>
            <a:ext cx="3639312" cy="841248"/>
          </a:xfrm>
          <a:prstGeom prst="roundRect">
            <a:avLst>
              <a:gd name="adj" fmla="val 1304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17" name="Text 14"/>
          <p:cNvSpPr txBox="1"/>
          <p:nvPr/>
        </p:nvSpPr>
        <p:spPr>
          <a:xfrm>
            <a:off x="8138160" y="3593592"/>
            <a:ext cx="1188720" cy="457200"/>
          </a:xfrm>
          <a:prstGeom prst="rect">
            <a:avLst/>
          </a:prstGeom>
          <a:noFill/>
          <a:ln/>
        </p:spPr>
        <p:txBody>
          <a:bodyPr wrap="square" lIns="0" tIns="0" rIns="0" bIns="0" rtlCol="0" anchor="ctr"/>
          <a:lstStyle/>
          <a:p>
            <a:pPr marL="0" indent="0">
              <a:buNone/>
            </a:pPr>
            <a:r>
              <a:rPr lang="en-US" sz="2000" b="1" dirty="0">
                <a:solidFill>
                  <a:srgbClr val="D9563C"/>
                </a:solidFill>
                <a:latin typeface="Arial" pitchFamily="34" charset="0"/>
                <a:ea typeface="Arial" pitchFamily="34" charset="-122"/>
                <a:cs typeface="Arial" pitchFamily="34" charset="-120"/>
              </a:rPr>
              <a:t>10</a:t>
            </a:r>
            <a:endParaRPr lang="en-US" sz="2000" dirty="0"/>
          </a:p>
        </p:txBody>
      </p:sp>
      <p:sp>
        <p:nvSpPr>
          <p:cNvPr id="18" name="Text 15"/>
          <p:cNvSpPr txBox="1"/>
          <p:nvPr/>
        </p:nvSpPr>
        <p:spPr>
          <a:xfrm>
            <a:off x="9326880" y="3685032"/>
            <a:ext cx="2011680" cy="329184"/>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Departments</a:t>
            </a:r>
            <a:endParaRPr lang="en-US" sz="1200" dirty="0"/>
          </a:p>
        </p:txBody>
      </p:sp>
      <p:sp>
        <p:nvSpPr>
          <p:cNvPr id="19" name="Shape 16"/>
          <p:cNvSpPr/>
          <p:nvPr/>
        </p:nvSpPr>
        <p:spPr>
          <a:xfrm>
            <a:off x="7863840" y="4361688"/>
            <a:ext cx="3639312" cy="841248"/>
          </a:xfrm>
          <a:prstGeom prst="roundRect">
            <a:avLst>
              <a:gd name="adj" fmla="val 13043"/>
            </a:avLst>
          </a:prstGeom>
          <a:solidFill>
            <a:srgbClr val="FDEAE2"/>
          </a:solidFill>
          <a:ln w="12700">
            <a:solidFill>
              <a:srgbClr val="F7C9B9"/>
            </a:solidFill>
            <a:prstDash val="solid"/>
          </a:ln>
          <a:effectLst>
            <a:outerShdw blurRad="127000" dist="25400" dir="5400000" algn="bl" rotWithShape="0">
              <a:srgbClr val="C08772">
                <a:alpha val="20000"/>
              </a:srgbClr>
            </a:outerShdw>
          </a:effectLst>
        </p:spPr>
      </p:sp>
      <p:sp>
        <p:nvSpPr>
          <p:cNvPr id="20" name="Text 17"/>
          <p:cNvSpPr txBox="1"/>
          <p:nvPr/>
        </p:nvSpPr>
        <p:spPr>
          <a:xfrm>
            <a:off x="8138160" y="4544568"/>
            <a:ext cx="1188720" cy="457200"/>
          </a:xfrm>
          <a:prstGeom prst="rect">
            <a:avLst/>
          </a:prstGeom>
          <a:noFill/>
          <a:ln/>
        </p:spPr>
        <p:txBody>
          <a:bodyPr wrap="square" lIns="0" tIns="0" rIns="0" bIns="0" rtlCol="0" anchor="ctr"/>
          <a:lstStyle/>
          <a:p>
            <a:pPr marL="0" indent="0">
              <a:buNone/>
            </a:pPr>
            <a:r>
              <a:rPr lang="en-US" sz="2000" b="1" dirty="0">
                <a:solidFill>
                  <a:srgbClr val="D9563C"/>
                </a:solidFill>
                <a:latin typeface="Arial" pitchFamily="34" charset="0"/>
                <a:ea typeface="Arial" pitchFamily="34" charset="-122"/>
                <a:cs typeface="Arial" pitchFamily="34" charset="-120"/>
              </a:rPr>
              <a:t>4</a:t>
            </a:r>
            <a:endParaRPr lang="en-US" sz="2000" dirty="0"/>
          </a:p>
        </p:txBody>
      </p:sp>
      <p:sp>
        <p:nvSpPr>
          <p:cNvPr id="21" name="Text 18"/>
          <p:cNvSpPr txBox="1"/>
          <p:nvPr/>
        </p:nvSpPr>
        <p:spPr>
          <a:xfrm>
            <a:off x="9326880" y="4636008"/>
            <a:ext cx="2011680" cy="329184"/>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Data grains kept separate</a:t>
            </a:r>
            <a:endParaRPr lang="en-US" sz="1200" dirty="0"/>
          </a:p>
        </p:txBody>
      </p:sp>
      <p:sp>
        <p:nvSpPr>
          <p:cNvPr id="22" name="Shape 19"/>
          <p:cNvSpPr/>
          <p:nvPr/>
        </p:nvSpPr>
        <p:spPr>
          <a:xfrm>
            <a:off x="7863840" y="5312664"/>
            <a:ext cx="3639312" cy="402336"/>
          </a:xfrm>
          <a:prstGeom prst="roundRect">
            <a:avLst>
              <a:gd name="adj" fmla="val 27273"/>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23" name="Text 20"/>
          <p:cNvSpPr txBox="1"/>
          <p:nvPr/>
        </p:nvSpPr>
        <p:spPr>
          <a:xfrm>
            <a:off x="7955280" y="5312664"/>
            <a:ext cx="3456432" cy="402336"/>
          </a:xfrm>
          <a:prstGeom prst="rect">
            <a:avLst/>
          </a:prstGeom>
          <a:noFill/>
          <a:ln/>
        </p:spPr>
        <p:txBody>
          <a:bodyPr wrap="square" lIns="0" tIns="0" rIns="0" bIns="0" rtlCol="0" anchor="ctr"/>
          <a:lstStyle/>
          <a:p>
            <a:pPr marL="0" indent="0" algn="ctr">
              <a:buNone/>
            </a:pPr>
            <a:r>
              <a:rPr lang="en-US" sz="1100" b="1" dirty="0">
                <a:solidFill>
                  <a:srgbClr val="D9563C"/>
                </a:solidFill>
                <a:latin typeface="Calibri" pitchFamily="34" charset="0"/>
                <a:ea typeface="Calibri" pitchFamily="34" charset="-122"/>
                <a:cs typeface="Calibri" pitchFamily="34" charset="-120"/>
              </a:rPr>
              <a:t>Patient · Department · Hospital · Equipment</a:t>
            </a:r>
            <a:endParaRPr lang="en-US" sz="1100" dirty="0"/>
          </a:p>
        </p:txBody>
      </p:sp>
    </p:spTree>
    <p:extLst>
      <p:ext uri="{BB962C8B-B14F-4D97-AF65-F5344CB8AC3E}">
        <p14:creationId xmlns:p14="http://schemas.microsoft.com/office/powerpoint/2010/main" val="1090886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4B745F8C-9975-FEE3-26BF-03950FAA4281}"/>
              </a:ext>
            </a:extLst>
          </p:cNvPr>
          <p:cNvPicPr>
            <a:picLocks noChangeAspect="1"/>
          </p:cNvPicPr>
          <p:nvPr/>
        </p:nvPicPr>
        <p:blipFill>
          <a:blip r:embed="rId3"/>
          <a:stretch>
            <a:fillRect/>
          </a:stretch>
        </p:blipFill>
        <p:spPr>
          <a:xfrm>
            <a:off x="3239" y="0"/>
            <a:ext cx="12185522" cy="6858000"/>
          </a:xfrm>
          <a:prstGeom prst="rect">
            <a:avLst/>
          </a:prstGeom>
        </p:spPr>
      </p:pic>
      <p:sp>
        <p:nvSpPr>
          <p:cNvPr id="4" name="Text 2"/>
          <p:cNvSpPr txBox="1"/>
          <p:nvPr/>
        </p:nvSpPr>
        <p:spPr>
          <a:xfrm>
            <a:off x="685800" y="731520"/>
            <a:ext cx="9144000" cy="548640"/>
          </a:xfrm>
          <a:prstGeom prst="rect">
            <a:avLst/>
          </a:prstGeom>
          <a:noFill/>
          <a:ln/>
        </p:spPr>
        <p:txBody>
          <a:bodyPr wrap="square" lIns="0" tIns="0" rIns="0" bIns="0" rtlCol="0" anchor="ctr"/>
          <a:lstStyle/>
          <a:p>
            <a:pPr marL="0" indent="0">
              <a:buNone/>
            </a:pPr>
            <a:r>
              <a:rPr lang="en-US" sz="2900" b="1" dirty="0">
                <a:solidFill>
                  <a:srgbClr val="2A2523"/>
                </a:solidFill>
                <a:latin typeface="Arial" pitchFamily="34" charset="0"/>
                <a:ea typeface="Arial" pitchFamily="34" charset="-122"/>
                <a:cs typeface="Arial" pitchFamily="34" charset="-120"/>
              </a:rPr>
              <a:t>Data Cleaning &amp; Preparation</a:t>
            </a:r>
            <a:endParaRPr lang="en-US" sz="2900" dirty="0"/>
          </a:p>
        </p:txBody>
      </p:sp>
      <p:sp>
        <p:nvSpPr>
          <p:cNvPr id="6" name="Text 4"/>
          <p:cNvSpPr txBox="1"/>
          <p:nvPr/>
        </p:nvSpPr>
        <p:spPr>
          <a:xfrm>
            <a:off x="10881360" y="6199632"/>
            <a:ext cx="621792"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11</a:t>
            </a:r>
            <a:endParaRPr lang="en-US" sz="1200" dirty="0"/>
          </a:p>
        </p:txBody>
      </p:sp>
      <p:sp>
        <p:nvSpPr>
          <p:cNvPr id="7" name="Shape 5"/>
          <p:cNvSpPr/>
          <p:nvPr/>
        </p:nvSpPr>
        <p:spPr>
          <a:xfrm>
            <a:off x="685800" y="1508760"/>
            <a:ext cx="6400800" cy="4206240"/>
          </a:xfrm>
          <a:prstGeom prst="roundRect">
            <a:avLst>
              <a:gd name="adj" fmla="val 2609"/>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8" name="Text 6"/>
          <p:cNvSpPr txBox="1"/>
          <p:nvPr/>
        </p:nvSpPr>
        <p:spPr>
          <a:xfrm>
            <a:off x="960120" y="1737360"/>
            <a:ext cx="5852160" cy="274320"/>
          </a:xfrm>
          <a:prstGeom prst="rect">
            <a:avLst/>
          </a:prstGeom>
          <a:noFill/>
          <a:ln/>
        </p:spPr>
        <p:txBody>
          <a:bodyPr wrap="square" lIns="0" tIns="0" rIns="0" bIns="0" rtlCol="0" anchor="ctr"/>
          <a:lstStyle/>
          <a:p>
            <a:pPr marL="0" indent="0">
              <a:buNone/>
            </a:pPr>
            <a:r>
              <a:rPr lang="en-US" sz="1600" b="1" dirty="0">
                <a:solidFill>
                  <a:srgbClr val="D9563C"/>
                </a:solidFill>
                <a:latin typeface="Arial" pitchFamily="34" charset="0"/>
                <a:ea typeface="Arial" pitchFamily="34" charset="-122"/>
                <a:cs typeface="Arial" pitchFamily="34" charset="-120"/>
              </a:rPr>
              <a:t>Cleaning steps performed</a:t>
            </a:r>
            <a:endParaRPr lang="en-US" sz="1600" dirty="0"/>
          </a:p>
        </p:txBody>
      </p:sp>
      <p:sp>
        <p:nvSpPr>
          <p:cNvPr id="9" name="Shape 7"/>
          <p:cNvSpPr/>
          <p:nvPr/>
        </p:nvSpPr>
        <p:spPr>
          <a:xfrm>
            <a:off x="960120" y="2139696"/>
            <a:ext cx="310896" cy="310896"/>
          </a:xfrm>
          <a:prstGeom prst="ellipse">
            <a:avLst/>
          </a:prstGeom>
          <a:solidFill>
            <a:schemeClr val="accent2">
              <a:lumMod val="40000"/>
              <a:lumOff val="60000"/>
            </a:schemeClr>
          </a:solidFill>
          <a:ln/>
        </p:spPr>
        <p:style>
          <a:lnRef idx="1">
            <a:schemeClr val="accent2"/>
          </a:lnRef>
          <a:fillRef idx="2">
            <a:schemeClr val="accent2"/>
          </a:fillRef>
          <a:effectRef idx="1">
            <a:schemeClr val="accent2"/>
          </a:effectRef>
          <a:fontRef idx="minor">
            <a:schemeClr val="dk1"/>
          </a:fontRef>
        </p:style>
      </p:sp>
      <p:sp>
        <p:nvSpPr>
          <p:cNvPr id="10" name="Text 8"/>
          <p:cNvSpPr txBox="1"/>
          <p:nvPr/>
        </p:nvSpPr>
        <p:spPr>
          <a:xfrm>
            <a:off x="649224" y="21991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9"/>
          <p:cNvSpPr txBox="1"/>
          <p:nvPr/>
        </p:nvSpPr>
        <p:spPr>
          <a:xfrm>
            <a:off x="1399032" y="2103120"/>
            <a:ext cx="5394960" cy="256032"/>
          </a:xfrm>
          <a:prstGeom prst="rect">
            <a:avLst/>
          </a:prstGeom>
          <a:noFill/>
          <a:ln/>
        </p:spPr>
        <p:txBody>
          <a:bodyPr wrap="square" lIns="0" tIns="0" rIns="0" bIns="0" rtlCol="0" anchor="ctr"/>
          <a:lstStyle/>
          <a:p>
            <a:pPr marL="0" indent="0">
              <a:buNone/>
            </a:pPr>
            <a:r>
              <a:rPr lang="en-US" sz="1300" b="1" dirty="0">
                <a:solidFill>
                  <a:srgbClr val="2A2523"/>
                </a:solidFill>
                <a:latin typeface="Arial" pitchFamily="34" charset="0"/>
                <a:ea typeface="Arial" pitchFamily="34" charset="-122"/>
                <a:cs typeface="Arial" pitchFamily="34" charset="-120"/>
              </a:rPr>
              <a:t>Structure check</a:t>
            </a:r>
            <a:endParaRPr lang="en-US" sz="1300" dirty="0"/>
          </a:p>
        </p:txBody>
      </p:sp>
      <p:sp>
        <p:nvSpPr>
          <p:cNvPr id="12" name="Text 10"/>
          <p:cNvSpPr txBox="1"/>
          <p:nvPr/>
        </p:nvSpPr>
        <p:spPr>
          <a:xfrm>
            <a:off x="1399032" y="2359152"/>
            <a:ext cx="5394960" cy="310896"/>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Field names, dataset structure, data types and overall completeness verified.</a:t>
            </a:r>
            <a:endParaRPr lang="en-US" sz="1150" dirty="0"/>
          </a:p>
        </p:txBody>
      </p:sp>
      <p:sp>
        <p:nvSpPr>
          <p:cNvPr id="13" name="Shape 11"/>
          <p:cNvSpPr/>
          <p:nvPr/>
        </p:nvSpPr>
        <p:spPr>
          <a:xfrm>
            <a:off x="960120" y="2734056"/>
            <a:ext cx="310896" cy="310896"/>
          </a:xfrm>
          <a:prstGeom prst="ellipse">
            <a:avLst/>
          </a:prstGeom>
          <a:solidFill>
            <a:schemeClr val="accent2">
              <a:lumMod val="40000"/>
              <a:lumOff val="60000"/>
            </a:schemeClr>
          </a:solidFill>
          <a:ln w="12700">
            <a:solidFill>
              <a:srgbClr val="EE8266"/>
            </a:solidFill>
            <a:prstDash val="solid"/>
          </a:ln>
        </p:spPr>
      </p:sp>
      <p:sp>
        <p:nvSpPr>
          <p:cNvPr id="15" name="Text 13"/>
          <p:cNvSpPr txBox="1"/>
          <p:nvPr/>
        </p:nvSpPr>
        <p:spPr>
          <a:xfrm>
            <a:off x="1399032" y="2697480"/>
            <a:ext cx="5394960" cy="256032"/>
          </a:xfrm>
          <a:prstGeom prst="rect">
            <a:avLst/>
          </a:prstGeom>
          <a:noFill/>
          <a:ln/>
        </p:spPr>
        <p:txBody>
          <a:bodyPr wrap="square" lIns="0" tIns="0" rIns="0" bIns="0" rtlCol="0" anchor="ctr"/>
          <a:lstStyle/>
          <a:p>
            <a:pPr marL="0" indent="0">
              <a:buNone/>
            </a:pPr>
            <a:r>
              <a:rPr lang="en-US" sz="1300" b="1" dirty="0">
                <a:solidFill>
                  <a:srgbClr val="2A2523"/>
                </a:solidFill>
                <a:latin typeface="Arial" pitchFamily="34" charset="0"/>
                <a:ea typeface="Arial" pitchFamily="34" charset="-122"/>
                <a:cs typeface="Arial" pitchFamily="34" charset="-120"/>
              </a:rPr>
              <a:t>Missing &amp; duplicates</a:t>
            </a:r>
            <a:endParaRPr lang="en-US" sz="1300" dirty="0"/>
          </a:p>
        </p:txBody>
      </p:sp>
      <p:sp>
        <p:nvSpPr>
          <p:cNvPr id="16" name="Text 14"/>
          <p:cNvSpPr txBox="1"/>
          <p:nvPr/>
        </p:nvSpPr>
        <p:spPr>
          <a:xfrm>
            <a:off x="1399032" y="2953512"/>
            <a:ext cx="5394960" cy="310896"/>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Missing values, duplicate records and key identifiers reviewed.</a:t>
            </a:r>
            <a:endParaRPr lang="en-US" sz="1150" dirty="0"/>
          </a:p>
        </p:txBody>
      </p:sp>
      <p:sp>
        <p:nvSpPr>
          <p:cNvPr id="17" name="Shape 15"/>
          <p:cNvSpPr/>
          <p:nvPr/>
        </p:nvSpPr>
        <p:spPr>
          <a:xfrm>
            <a:off x="960120" y="3328416"/>
            <a:ext cx="310896" cy="310896"/>
          </a:xfrm>
          <a:prstGeom prst="ellipse">
            <a:avLst/>
          </a:prstGeom>
          <a:solidFill>
            <a:schemeClr val="accent2">
              <a:lumMod val="40000"/>
              <a:lumOff val="60000"/>
            </a:schemeClr>
          </a:solidFill>
          <a:ln w="12700">
            <a:solidFill>
              <a:srgbClr val="D9563C"/>
            </a:solidFill>
            <a:prstDash val="solid"/>
          </a:ln>
        </p:spPr>
      </p:sp>
      <p:sp>
        <p:nvSpPr>
          <p:cNvPr id="18" name="Text 16"/>
          <p:cNvSpPr txBox="1"/>
          <p:nvPr/>
        </p:nvSpPr>
        <p:spPr>
          <a:xfrm>
            <a:off x="960120" y="3333750"/>
            <a:ext cx="310896" cy="310896"/>
          </a:xfrm>
          <a:prstGeom prst="rect">
            <a:avLst/>
          </a:prstGeom>
          <a:noFill/>
          <a:ln/>
        </p:spPr>
        <p:txBody>
          <a:bodyPr wrap="square" lIns="0" tIns="0" rIns="0" bIns="0" rtlCol="0" anchor="ctr"/>
          <a:lstStyle/>
          <a:p>
            <a:pPr marL="0" indent="0" algn="ctr">
              <a:buNone/>
            </a:pPr>
            <a:r>
              <a:rPr lang="en-US" sz="1100" b="1" dirty="0">
                <a:solidFill>
                  <a:schemeClr val="tx1">
                    <a:lumMod val="95000"/>
                    <a:lumOff val="5000"/>
                  </a:schemeClr>
                </a:solidFill>
                <a:latin typeface="Arial" pitchFamily="34" charset="0"/>
                <a:ea typeface="Arial" pitchFamily="34" charset="-122"/>
                <a:cs typeface="Arial" pitchFamily="34" charset="-120"/>
              </a:rPr>
              <a:t>3</a:t>
            </a:r>
            <a:endParaRPr lang="en-US" sz="1100" dirty="0">
              <a:solidFill>
                <a:schemeClr val="tx1">
                  <a:lumMod val="95000"/>
                  <a:lumOff val="5000"/>
                </a:schemeClr>
              </a:solidFill>
            </a:endParaRPr>
          </a:p>
        </p:txBody>
      </p:sp>
      <p:sp>
        <p:nvSpPr>
          <p:cNvPr id="19" name="Text 17"/>
          <p:cNvSpPr txBox="1"/>
          <p:nvPr/>
        </p:nvSpPr>
        <p:spPr>
          <a:xfrm>
            <a:off x="1399032" y="3291840"/>
            <a:ext cx="5394960" cy="256032"/>
          </a:xfrm>
          <a:prstGeom prst="rect">
            <a:avLst/>
          </a:prstGeom>
          <a:noFill/>
          <a:ln/>
        </p:spPr>
        <p:txBody>
          <a:bodyPr wrap="square" lIns="0" tIns="0" rIns="0" bIns="0" rtlCol="0" anchor="ctr"/>
          <a:lstStyle/>
          <a:p>
            <a:pPr marL="0" indent="0">
              <a:buNone/>
            </a:pPr>
            <a:r>
              <a:rPr lang="en-US" sz="1300" b="1" dirty="0">
                <a:solidFill>
                  <a:srgbClr val="2A2523"/>
                </a:solidFill>
                <a:latin typeface="Arial" pitchFamily="34" charset="0"/>
                <a:ea typeface="Arial" pitchFamily="34" charset="-122"/>
                <a:cs typeface="Arial" pitchFamily="34" charset="-120"/>
              </a:rPr>
              <a:t>Standardisation</a:t>
            </a:r>
            <a:endParaRPr lang="en-US" sz="1300" dirty="0"/>
          </a:p>
        </p:txBody>
      </p:sp>
      <p:sp>
        <p:nvSpPr>
          <p:cNvPr id="20" name="Text 18"/>
          <p:cNvSpPr txBox="1"/>
          <p:nvPr/>
        </p:nvSpPr>
        <p:spPr>
          <a:xfrm>
            <a:off x="1399032" y="3547872"/>
            <a:ext cx="5394960" cy="310896"/>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Categorical values such as departments and operational indicators normalised.</a:t>
            </a:r>
            <a:endParaRPr lang="en-US" sz="1150" dirty="0"/>
          </a:p>
        </p:txBody>
      </p:sp>
      <p:sp>
        <p:nvSpPr>
          <p:cNvPr id="21" name="Shape 19"/>
          <p:cNvSpPr/>
          <p:nvPr/>
        </p:nvSpPr>
        <p:spPr>
          <a:xfrm>
            <a:off x="960120" y="3922776"/>
            <a:ext cx="310896" cy="310896"/>
          </a:xfrm>
          <a:prstGeom prst="ellipse">
            <a:avLst/>
          </a:prstGeom>
          <a:solidFill>
            <a:schemeClr val="accent2">
              <a:lumMod val="40000"/>
              <a:lumOff val="60000"/>
            </a:schemeClr>
          </a:solidFill>
          <a:ln w="12700">
            <a:solidFill>
              <a:srgbClr val="EE8266"/>
            </a:solidFill>
            <a:prstDash val="solid"/>
          </a:ln>
        </p:spPr>
      </p:sp>
      <p:sp>
        <p:nvSpPr>
          <p:cNvPr id="23" name="Text 21"/>
          <p:cNvSpPr txBox="1"/>
          <p:nvPr/>
        </p:nvSpPr>
        <p:spPr>
          <a:xfrm>
            <a:off x="1399032" y="3886200"/>
            <a:ext cx="5394960" cy="256032"/>
          </a:xfrm>
          <a:prstGeom prst="rect">
            <a:avLst/>
          </a:prstGeom>
          <a:noFill/>
          <a:ln/>
        </p:spPr>
        <p:txBody>
          <a:bodyPr wrap="square" lIns="0" tIns="0" rIns="0" bIns="0" rtlCol="0" anchor="ctr"/>
          <a:lstStyle/>
          <a:p>
            <a:pPr marL="0" indent="0">
              <a:buNone/>
            </a:pPr>
            <a:r>
              <a:rPr lang="en-US" sz="1300" b="1" dirty="0">
                <a:solidFill>
                  <a:srgbClr val="2A2523"/>
                </a:solidFill>
                <a:latin typeface="Arial" pitchFamily="34" charset="0"/>
                <a:ea typeface="Arial" pitchFamily="34" charset="-122"/>
                <a:cs typeface="Arial" pitchFamily="34" charset="-120"/>
              </a:rPr>
              <a:t>Date validation</a:t>
            </a:r>
            <a:endParaRPr lang="en-US" sz="1300" dirty="0"/>
          </a:p>
        </p:txBody>
      </p:sp>
      <p:sp>
        <p:nvSpPr>
          <p:cNvPr id="24" name="Text 22"/>
          <p:cNvSpPr txBox="1"/>
          <p:nvPr/>
        </p:nvSpPr>
        <p:spPr>
          <a:xfrm>
            <a:off x="1399032" y="4142232"/>
            <a:ext cx="5394960" cy="310896"/>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Admission and discharge dates checked; same-day stays retained as 0 days.</a:t>
            </a:r>
            <a:endParaRPr lang="en-US" sz="1150" dirty="0"/>
          </a:p>
        </p:txBody>
      </p:sp>
      <p:sp>
        <p:nvSpPr>
          <p:cNvPr id="25" name="Shape 23"/>
          <p:cNvSpPr/>
          <p:nvPr/>
        </p:nvSpPr>
        <p:spPr>
          <a:xfrm>
            <a:off x="960120" y="4517136"/>
            <a:ext cx="310896" cy="310896"/>
          </a:xfrm>
          <a:prstGeom prst="ellipse">
            <a:avLst/>
          </a:prstGeom>
          <a:solidFill>
            <a:schemeClr val="accent2">
              <a:lumMod val="40000"/>
              <a:lumOff val="60000"/>
            </a:schemeClr>
          </a:solidFill>
          <a:ln w="12700">
            <a:solidFill>
              <a:srgbClr val="D9563C"/>
            </a:solidFill>
            <a:prstDash val="solid"/>
          </a:ln>
        </p:spPr>
      </p:sp>
      <p:sp>
        <p:nvSpPr>
          <p:cNvPr id="27" name="Text 25"/>
          <p:cNvSpPr txBox="1"/>
          <p:nvPr/>
        </p:nvSpPr>
        <p:spPr>
          <a:xfrm>
            <a:off x="1399032" y="4480560"/>
            <a:ext cx="5394960" cy="256032"/>
          </a:xfrm>
          <a:prstGeom prst="rect">
            <a:avLst/>
          </a:prstGeom>
          <a:noFill/>
          <a:ln/>
        </p:spPr>
        <p:txBody>
          <a:bodyPr wrap="square" lIns="0" tIns="0" rIns="0" bIns="0" rtlCol="0" anchor="ctr"/>
          <a:lstStyle/>
          <a:p>
            <a:pPr marL="0" indent="0">
              <a:buNone/>
            </a:pPr>
            <a:r>
              <a:rPr lang="en-US" sz="1300" b="1" dirty="0">
                <a:solidFill>
                  <a:srgbClr val="2A2523"/>
                </a:solidFill>
                <a:latin typeface="Arial" pitchFamily="34" charset="0"/>
                <a:ea typeface="Arial" pitchFamily="34" charset="-122"/>
                <a:cs typeface="Arial" pitchFamily="34" charset="-120"/>
              </a:rPr>
              <a:t>Length of Stay rebuilt</a:t>
            </a:r>
            <a:endParaRPr lang="en-US" sz="1300" dirty="0"/>
          </a:p>
        </p:txBody>
      </p:sp>
      <p:sp>
        <p:nvSpPr>
          <p:cNvPr id="28" name="Text 26"/>
          <p:cNvSpPr txBox="1"/>
          <p:nvPr/>
        </p:nvSpPr>
        <p:spPr>
          <a:xfrm>
            <a:off x="1399032" y="4736592"/>
            <a:ext cx="5394960" cy="310896"/>
          </a:xfrm>
          <a:prstGeom prst="rect">
            <a:avLst/>
          </a:prstGeom>
          <a:noFill/>
          <a:ln/>
        </p:spPr>
        <p:txBody>
          <a:bodyPr wrap="square" lIns="0" tIns="0" rIns="0" bIns="0" rtlCol="0" anchor="ctr"/>
          <a:lstStyle/>
          <a:p>
            <a:pPr marL="0" indent="0">
              <a:buNone/>
            </a:pPr>
            <a:r>
              <a:rPr lang="en-US" sz="1150" dirty="0">
                <a:solidFill>
                  <a:srgbClr val="6E625C"/>
                </a:solidFill>
                <a:latin typeface="Calibri" pitchFamily="34" charset="0"/>
                <a:ea typeface="Calibri" pitchFamily="34" charset="-122"/>
                <a:cs typeface="Calibri" pitchFamily="34" charset="-120"/>
              </a:rPr>
              <a:t>LOS recalculated as Discharge Date minus Admission Date, not taken as given.</a:t>
            </a:r>
            <a:endParaRPr lang="en-US" sz="1150" dirty="0"/>
          </a:p>
        </p:txBody>
      </p:sp>
      <p:sp>
        <p:nvSpPr>
          <p:cNvPr id="33" name="Shape 31"/>
          <p:cNvSpPr/>
          <p:nvPr/>
        </p:nvSpPr>
        <p:spPr>
          <a:xfrm>
            <a:off x="7360920" y="1508760"/>
            <a:ext cx="4142232" cy="4206240"/>
          </a:xfrm>
          <a:prstGeom prst="roundRect">
            <a:avLst>
              <a:gd name="adj" fmla="val 2649"/>
            </a:avLst>
          </a:prstGeom>
          <a:solidFill>
            <a:srgbClr val="FDEAE2"/>
          </a:solidFill>
          <a:ln w="12700">
            <a:solidFill>
              <a:srgbClr val="F7C9B9"/>
            </a:solidFill>
            <a:prstDash val="solid"/>
          </a:ln>
          <a:effectLst>
            <a:outerShdw blurRad="127000" dist="25400" dir="5400000" algn="bl" rotWithShape="0">
              <a:srgbClr val="C08772">
                <a:alpha val="20000"/>
              </a:srgbClr>
            </a:outerShdw>
          </a:effectLst>
        </p:spPr>
      </p:sp>
      <p:sp>
        <p:nvSpPr>
          <p:cNvPr id="34" name="Text 32"/>
          <p:cNvSpPr txBox="1"/>
          <p:nvPr/>
        </p:nvSpPr>
        <p:spPr>
          <a:xfrm>
            <a:off x="7635240" y="1737360"/>
            <a:ext cx="3566160" cy="274320"/>
          </a:xfrm>
          <a:prstGeom prst="rect">
            <a:avLst/>
          </a:prstGeom>
          <a:noFill/>
          <a:ln/>
        </p:spPr>
        <p:txBody>
          <a:bodyPr wrap="square" lIns="0" tIns="0" rIns="0" bIns="0" rtlCol="0" anchor="ctr"/>
          <a:lstStyle/>
          <a:p>
            <a:pPr marL="0" indent="0">
              <a:buNone/>
            </a:pPr>
            <a:r>
              <a:rPr lang="en-US" sz="1550" b="1" dirty="0">
                <a:solidFill>
                  <a:srgbClr val="D9563C"/>
                </a:solidFill>
                <a:latin typeface="Arial" pitchFamily="34" charset="0"/>
                <a:ea typeface="Arial" pitchFamily="34" charset="-122"/>
                <a:cs typeface="Arial" pitchFamily="34" charset="-120"/>
              </a:rPr>
              <a:t>Length of Stay after cleaning</a:t>
            </a:r>
            <a:endParaRPr lang="en-US" sz="1550" dirty="0"/>
          </a:p>
        </p:txBody>
      </p:sp>
      <p:sp>
        <p:nvSpPr>
          <p:cNvPr id="35" name="Shape 33"/>
          <p:cNvSpPr/>
          <p:nvPr/>
        </p:nvSpPr>
        <p:spPr>
          <a:xfrm>
            <a:off x="7635240" y="2121408"/>
            <a:ext cx="3593592" cy="548640"/>
          </a:xfrm>
          <a:prstGeom prst="roundRect">
            <a:avLst>
              <a:gd name="adj" fmla="val 16667"/>
            </a:avLst>
          </a:prstGeom>
          <a:solidFill>
            <a:srgbClr val="FFFFFF"/>
          </a:solidFill>
          <a:ln w="12700">
            <a:solidFill>
              <a:srgbClr val="FFFFFF"/>
            </a:solidFill>
            <a:prstDash val="solid"/>
          </a:ln>
        </p:spPr>
      </p:sp>
      <p:sp>
        <p:nvSpPr>
          <p:cNvPr id="36" name="Text 34"/>
          <p:cNvSpPr txBox="1"/>
          <p:nvPr/>
        </p:nvSpPr>
        <p:spPr>
          <a:xfrm>
            <a:off x="7818120" y="2121408"/>
            <a:ext cx="2011680" cy="548640"/>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Mean</a:t>
            </a:r>
            <a:endParaRPr lang="en-US" sz="1200" dirty="0"/>
          </a:p>
        </p:txBody>
      </p:sp>
      <p:sp>
        <p:nvSpPr>
          <p:cNvPr id="37" name="Text 35"/>
          <p:cNvSpPr txBox="1"/>
          <p:nvPr/>
        </p:nvSpPr>
        <p:spPr>
          <a:xfrm>
            <a:off x="9144000" y="2121408"/>
            <a:ext cx="1920240" cy="548640"/>
          </a:xfrm>
          <a:prstGeom prst="rect">
            <a:avLst/>
          </a:prstGeom>
          <a:noFill/>
          <a:ln/>
        </p:spPr>
        <p:txBody>
          <a:bodyPr wrap="square" lIns="0" tIns="0" rIns="0" bIns="0" rtlCol="0" anchor="ctr"/>
          <a:lstStyle/>
          <a:p>
            <a:pPr marL="0" indent="0" algn="r">
              <a:buNone/>
            </a:pPr>
            <a:r>
              <a:rPr lang="en-US" sz="1350" b="1" dirty="0">
                <a:solidFill>
                  <a:srgbClr val="2A2523"/>
                </a:solidFill>
                <a:latin typeface="Arial" pitchFamily="34" charset="0"/>
                <a:ea typeface="Arial" pitchFamily="34" charset="-122"/>
                <a:cs typeface="Arial" pitchFamily="34" charset="-120"/>
              </a:rPr>
              <a:t>78.78 days</a:t>
            </a:r>
            <a:endParaRPr lang="en-US" sz="1350" dirty="0"/>
          </a:p>
        </p:txBody>
      </p:sp>
      <p:sp>
        <p:nvSpPr>
          <p:cNvPr id="38" name="Shape 36"/>
          <p:cNvSpPr/>
          <p:nvPr/>
        </p:nvSpPr>
        <p:spPr>
          <a:xfrm>
            <a:off x="7635240" y="2697480"/>
            <a:ext cx="3593592" cy="548640"/>
          </a:xfrm>
          <a:prstGeom prst="roundRect">
            <a:avLst>
              <a:gd name="adj" fmla="val 16667"/>
            </a:avLst>
          </a:prstGeom>
          <a:solidFill>
            <a:srgbClr val="FFFFFF"/>
          </a:solidFill>
          <a:ln w="12700">
            <a:solidFill>
              <a:srgbClr val="FFFFFF"/>
            </a:solidFill>
            <a:prstDash val="solid"/>
          </a:ln>
        </p:spPr>
      </p:sp>
      <p:sp>
        <p:nvSpPr>
          <p:cNvPr id="39" name="Text 37"/>
          <p:cNvSpPr txBox="1"/>
          <p:nvPr/>
        </p:nvSpPr>
        <p:spPr>
          <a:xfrm>
            <a:off x="7818120" y="2697480"/>
            <a:ext cx="2011680" cy="548640"/>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Median</a:t>
            </a:r>
            <a:endParaRPr lang="en-US" sz="1200" dirty="0"/>
          </a:p>
        </p:txBody>
      </p:sp>
      <p:sp>
        <p:nvSpPr>
          <p:cNvPr id="40" name="Text 38"/>
          <p:cNvSpPr txBox="1"/>
          <p:nvPr/>
        </p:nvSpPr>
        <p:spPr>
          <a:xfrm>
            <a:off x="9144000" y="2697480"/>
            <a:ext cx="1920240" cy="548640"/>
          </a:xfrm>
          <a:prstGeom prst="rect">
            <a:avLst/>
          </a:prstGeom>
          <a:noFill/>
          <a:ln/>
        </p:spPr>
        <p:txBody>
          <a:bodyPr wrap="square" lIns="0" tIns="0" rIns="0" bIns="0" rtlCol="0" anchor="ctr"/>
          <a:lstStyle/>
          <a:p>
            <a:pPr marL="0" indent="0" algn="r">
              <a:buNone/>
            </a:pPr>
            <a:r>
              <a:rPr lang="en-US" sz="1350" b="1" dirty="0">
                <a:solidFill>
                  <a:srgbClr val="2A2523"/>
                </a:solidFill>
                <a:latin typeface="Arial" pitchFamily="34" charset="0"/>
                <a:ea typeface="Arial" pitchFamily="34" charset="-122"/>
                <a:cs typeface="Arial" pitchFamily="34" charset="-120"/>
              </a:rPr>
              <a:t>44 days</a:t>
            </a:r>
            <a:endParaRPr lang="en-US" sz="1350" dirty="0"/>
          </a:p>
        </p:txBody>
      </p:sp>
      <p:sp>
        <p:nvSpPr>
          <p:cNvPr id="41" name="Shape 39"/>
          <p:cNvSpPr/>
          <p:nvPr/>
        </p:nvSpPr>
        <p:spPr>
          <a:xfrm>
            <a:off x="7635240" y="3273552"/>
            <a:ext cx="3593592" cy="548640"/>
          </a:xfrm>
          <a:prstGeom prst="roundRect">
            <a:avLst>
              <a:gd name="adj" fmla="val 16667"/>
            </a:avLst>
          </a:prstGeom>
          <a:solidFill>
            <a:srgbClr val="FFFFFF"/>
          </a:solidFill>
          <a:ln w="12700">
            <a:solidFill>
              <a:srgbClr val="FFFFFF"/>
            </a:solidFill>
            <a:prstDash val="solid"/>
          </a:ln>
        </p:spPr>
      </p:sp>
      <p:sp>
        <p:nvSpPr>
          <p:cNvPr id="42" name="Text 40"/>
          <p:cNvSpPr txBox="1"/>
          <p:nvPr/>
        </p:nvSpPr>
        <p:spPr>
          <a:xfrm>
            <a:off x="7818120" y="3273552"/>
            <a:ext cx="2011680" cy="548640"/>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Maximum</a:t>
            </a:r>
            <a:endParaRPr lang="en-US" sz="1200" dirty="0"/>
          </a:p>
        </p:txBody>
      </p:sp>
      <p:sp>
        <p:nvSpPr>
          <p:cNvPr id="43" name="Text 41"/>
          <p:cNvSpPr txBox="1"/>
          <p:nvPr/>
        </p:nvSpPr>
        <p:spPr>
          <a:xfrm>
            <a:off x="9144000" y="3273552"/>
            <a:ext cx="1920240" cy="548640"/>
          </a:xfrm>
          <a:prstGeom prst="rect">
            <a:avLst/>
          </a:prstGeom>
          <a:noFill/>
          <a:ln/>
        </p:spPr>
        <p:txBody>
          <a:bodyPr wrap="square" lIns="0" tIns="0" rIns="0" bIns="0" rtlCol="0" anchor="ctr"/>
          <a:lstStyle/>
          <a:p>
            <a:pPr marL="0" indent="0" algn="r">
              <a:buNone/>
            </a:pPr>
            <a:r>
              <a:rPr lang="en-US" sz="1350" b="1" dirty="0">
                <a:solidFill>
                  <a:srgbClr val="2A2523"/>
                </a:solidFill>
                <a:latin typeface="Arial" pitchFamily="34" charset="0"/>
                <a:ea typeface="Arial" pitchFamily="34" charset="-122"/>
                <a:cs typeface="Arial" pitchFamily="34" charset="-120"/>
              </a:rPr>
              <a:t>338 days</a:t>
            </a:r>
            <a:endParaRPr lang="en-US" sz="1350" dirty="0"/>
          </a:p>
        </p:txBody>
      </p:sp>
      <p:sp>
        <p:nvSpPr>
          <p:cNvPr id="44" name="Shape 42"/>
          <p:cNvSpPr/>
          <p:nvPr/>
        </p:nvSpPr>
        <p:spPr>
          <a:xfrm>
            <a:off x="7635240" y="3849624"/>
            <a:ext cx="3593592" cy="548640"/>
          </a:xfrm>
          <a:prstGeom prst="roundRect">
            <a:avLst>
              <a:gd name="adj" fmla="val 16667"/>
            </a:avLst>
          </a:prstGeom>
          <a:solidFill>
            <a:srgbClr val="FFFFFF"/>
          </a:solidFill>
          <a:ln w="12700">
            <a:solidFill>
              <a:srgbClr val="FFFFFF"/>
            </a:solidFill>
            <a:prstDash val="solid"/>
          </a:ln>
        </p:spPr>
      </p:sp>
      <p:sp>
        <p:nvSpPr>
          <p:cNvPr id="45" name="Text 43"/>
          <p:cNvSpPr txBox="1"/>
          <p:nvPr/>
        </p:nvSpPr>
        <p:spPr>
          <a:xfrm>
            <a:off x="7818120" y="3849624"/>
            <a:ext cx="2011680" cy="548640"/>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Records over 30 days</a:t>
            </a:r>
            <a:endParaRPr lang="en-US" sz="1200" dirty="0"/>
          </a:p>
        </p:txBody>
      </p:sp>
      <p:sp>
        <p:nvSpPr>
          <p:cNvPr id="46" name="Text 44"/>
          <p:cNvSpPr txBox="1"/>
          <p:nvPr/>
        </p:nvSpPr>
        <p:spPr>
          <a:xfrm>
            <a:off x="9144000" y="3849624"/>
            <a:ext cx="1920240" cy="548640"/>
          </a:xfrm>
          <a:prstGeom prst="rect">
            <a:avLst/>
          </a:prstGeom>
          <a:noFill/>
          <a:ln/>
        </p:spPr>
        <p:txBody>
          <a:bodyPr wrap="square" lIns="0" tIns="0" rIns="0" bIns="0" rtlCol="0" anchor="ctr"/>
          <a:lstStyle/>
          <a:p>
            <a:pPr marL="0" indent="0" algn="r">
              <a:buNone/>
            </a:pPr>
            <a:r>
              <a:rPr lang="en-US" sz="1350" b="1" dirty="0">
                <a:solidFill>
                  <a:srgbClr val="2A2523"/>
                </a:solidFill>
                <a:latin typeface="Arial" pitchFamily="34" charset="0"/>
                <a:ea typeface="Arial" pitchFamily="34" charset="-122"/>
                <a:cs typeface="Arial" pitchFamily="34" charset="-120"/>
              </a:rPr>
              <a:t>5,497</a:t>
            </a:r>
            <a:endParaRPr lang="en-US" sz="1350" dirty="0"/>
          </a:p>
        </p:txBody>
      </p:sp>
      <p:sp>
        <p:nvSpPr>
          <p:cNvPr id="47" name="Shape 45"/>
          <p:cNvSpPr/>
          <p:nvPr/>
        </p:nvSpPr>
        <p:spPr>
          <a:xfrm>
            <a:off x="7635240" y="4425696"/>
            <a:ext cx="3593592" cy="548640"/>
          </a:xfrm>
          <a:prstGeom prst="roundRect">
            <a:avLst>
              <a:gd name="adj" fmla="val 16667"/>
            </a:avLst>
          </a:prstGeom>
          <a:solidFill>
            <a:srgbClr val="FFFFFF"/>
          </a:solidFill>
          <a:ln w="12700">
            <a:solidFill>
              <a:srgbClr val="FFFFFF"/>
            </a:solidFill>
            <a:prstDash val="solid"/>
          </a:ln>
        </p:spPr>
      </p:sp>
      <p:sp>
        <p:nvSpPr>
          <p:cNvPr id="48" name="Text 46"/>
          <p:cNvSpPr txBox="1"/>
          <p:nvPr/>
        </p:nvSpPr>
        <p:spPr>
          <a:xfrm>
            <a:off x="7818120" y="4425696"/>
            <a:ext cx="2011680" cy="548640"/>
          </a:xfrm>
          <a:prstGeom prst="rect">
            <a:avLst/>
          </a:prstGeom>
          <a:noFill/>
          <a:ln/>
        </p:spPr>
        <p:txBody>
          <a:bodyPr wrap="square" lIns="0" tIns="0" rIns="0" bIns="0" rtlCol="0" anchor="ctr"/>
          <a:lstStyle/>
          <a:p>
            <a:pPr marL="0" indent="0">
              <a:buNone/>
            </a:pPr>
            <a:r>
              <a:rPr lang="en-US" sz="1200" dirty="0">
                <a:solidFill>
                  <a:srgbClr val="6E625C"/>
                </a:solidFill>
                <a:latin typeface="Calibri" pitchFamily="34" charset="0"/>
                <a:ea typeface="Calibri" pitchFamily="34" charset="-122"/>
                <a:cs typeface="Calibri" pitchFamily="34" charset="-120"/>
              </a:rPr>
              <a:t>Records over 90 days</a:t>
            </a:r>
            <a:endParaRPr lang="en-US" sz="1200" dirty="0"/>
          </a:p>
        </p:txBody>
      </p:sp>
      <p:sp>
        <p:nvSpPr>
          <p:cNvPr id="49" name="Text 47"/>
          <p:cNvSpPr txBox="1"/>
          <p:nvPr/>
        </p:nvSpPr>
        <p:spPr>
          <a:xfrm>
            <a:off x="9144000" y="4425696"/>
            <a:ext cx="1920240" cy="548640"/>
          </a:xfrm>
          <a:prstGeom prst="rect">
            <a:avLst/>
          </a:prstGeom>
          <a:noFill/>
          <a:ln/>
        </p:spPr>
        <p:txBody>
          <a:bodyPr wrap="square" lIns="0" tIns="0" rIns="0" bIns="0" rtlCol="0" anchor="ctr"/>
          <a:lstStyle/>
          <a:p>
            <a:pPr marL="0" indent="0" algn="r">
              <a:buNone/>
            </a:pPr>
            <a:r>
              <a:rPr lang="en-US" sz="1350" b="1" dirty="0">
                <a:solidFill>
                  <a:srgbClr val="2A2523"/>
                </a:solidFill>
                <a:latin typeface="Arial" pitchFamily="34" charset="0"/>
                <a:ea typeface="Arial" pitchFamily="34" charset="-122"/>
                <a:cs typeface="Arial" pitchFamily="34" charset="-120"/>
              </a:rPr>
              <a:t>3,706</a:t>
            </a:r>
            <a:endParaRPr lang="en-US" sz="1350" dirty="0"/>
          </a:p>
        </p:txBody>
      </p:sp>
      <p:sp>
        <p:nvSpPr>
          <p:cNvPr id="50" name="Text 48"/>
          <p:cNvSpPr txBox="1"/>
          <p:nvPr/>
        </p:nvSpPr>
        <p:spPr>
          <a:xfrm>
            <a:off x="7635240" y="5047488"/>
            <a:ext cx="3593592" cy="621792"/>
          </a:xfrm>
          <a:prstGeom prst="rect">
            <a:avLst/>
          </a:prstGeom>
          <a:noFill/>
          <a:ln/>
        </p:spPr>
        <p:txBody>
          <a:bodyPr wrap="square" lIns="0" tIns="0" rIns="0" bIns="0" rtlCol="0" anchor="ctr"/>
          <a:lstStyle/>
          <a:p>
            <a:pPr marL="0" indent="0">
              <a:lnSpc>
                <a:spcPts val="1300"/>
              </a:lnSpc>
              <a:buNone/>
            </a:pPr>
            <a:r>
              <a:rPr lang="en-US" sz="1050" i="1" dirty="0">
                <a:solidFill>
                  <a:srgbClr val="5B4F49"/>
                </a:solidFill>
                <a:latin typeface="Calibri" pitchFamily="34" charset="0"/>
                <a:ea typeface="Calibri" pitchFamily="34" charset="-122"/>
                <a:cs typeface="Calibri" pitchFamily="34" charset="-120"/>
              </a:rPr>
              <a:t>The gap between the mean (78.78) and the median (44) shows a long right tail — a small group of very long stays pulls the average up, so both measures are reported together.</a:t>
            </a:r>
            <a:endParaRPr lang="en-US" sz="1050" dirty="0"/>
          </a:p>
        </p:txBody>
      </p:sp>
      <p:sp>
        <p:nvSpPr>
          <p:cNvPr id="54" name="Text 16">
            <a:extLst>
              <a:ext uri="{FF2B5EF4-FFF2-40B4-BE49-F238E27FC236}">
                <a16:creationId xmlns:a16="http://schemas.microsoft.com/office/drawing/2014/main" id="{F2472F58-5857-AD3D-DFE7-F8A2F41C02D1}"/>
              </a:ext>
            </a:extLst>
          </p:cNvPr>
          <p:cNvSpPr txBox="1"/>
          <p:nvPr/>
        </p:nvSpPr>
        <p:spPr>
          <a:xfrm>
            <a:off x="969264" y="3943350"/>
            <a:ext cx="310896" cy="310896"/>
          </a:xfrm>
          <a:prstGeom prst="rect">
            <a:avLst/>
          </a:prstGeom>
          <a:noFill/>
          <a:ln/>
        </p:spPr>
        <p:txBody>
          <a:bodyPr wrap="square" lIns="0" tIns="0" rIns="0" bIns="0" rtlCol="0" anchor="ctr"/>
          <a:lstStyle/>
          <a:p>
            <a:pPr marL="0" indent="0" algn="ctr">
              <a:buNone/>
            </a:pPr>
            <a:r>
              <a:rPr lang="en-US" sz="1100" b="1" dirty="0">
                <a:solidFill>
                  <a:schemeClr val="tx1">
                    <a:lumMod val="95000"/>
                    <a:lumOff val="5000"/>
                  </a:schemeClr>
                </a:solidFill>
                <a:latin typeface="Arial" pitchFamily="34" charset="0"/>
                <a:cs typeface="Arial" pitchFamily="34" charset="-120"/>
              </a:rPr>
              <a:t>4</a:t>
            </a:r>
            <a:endParaRPr lang="en-US" sz="1100" dirty="0">
              <a:solidFill>
                <a:schemeClr val="tx1">
                  <a:lumMod val="95000"/>
                  <a:lumOff val="5000"/>
                </a:schemeClr>
              </a:solidFill>
            </a:endParaRPr>
          </a:p>
        </p:txBody>
      </p:sp>
      <p:sp>
        <p:nvSpPr>
          <p:cNvPr id="56" name="Text 16">
            <a:extLst>
              <a:ext uri="{FF2B5EF4-FFF2-40B4-BE49-F238E27FC236}">
                <a16:creationId xmlns:a16="http://schemas.microsoft.com/office/drawing/2014/main" id="{8B29EA15-4A39-F46C-F2A5-C2E539332872}"/>
              </a:ext>
            </a:extLst>
          </p:cNvPr>
          <p:cNvSpPr txBox="1"/>
          <p:nvPr/>
        </p:nvSpPr>
        <p:spPr>
          <a:xfrm>
            <a:off x="960120" y="4552950"/>
            <a:ext cx="310896" cy="310896"/>
          </a:xfrm>
          <a:prstGeom prst="rect">
            <a:avLst/>
          </a:prstGeom>
          <a:noFill/>
          <a:ln/>
        </p:spPr>
        <p:txBody>
          <a:bodyPr wrap="square" lIns="0" tIns="0" rIns="0" bIns="0" rtlCol="0" anchor="ctr"/>
          <a:lstStyle/>
          <a:p>
            <a:pPr marL="0" indent="0" algn="ctr">
              <a:buNone/>
            </a:pPr>
            <a:r>
              <a:rPr lang="en-US" sz="1100" b="1" dirty="0">
                <a:solidFill>
                  <a:schemeClr val="tx1">
                    <a:lumMod val="95000"/>
                    <a:lumOff val="5000"/>
                  </a:schemeClr>
                </a:solidFill>
                <a:latin typeface="Arial" pitchFamily="34" charset="0"/>
                <a:cs typeface="Arial" pitchFamily="34" charset="-120"/>
              </a:rPr>
              <a:t>5</a:t>
            </a:r>
            <a:endParaRPr lang="en-US" sz="1100" dirty="0">
              <a:solidFill>
                <a:schemeClr val="tx1">
                  <a:lumMod val="95000"/>
                  <a:lumOff val="5000"/>
                </a:schemeClr>
              </a:solidFill>
            </a:endParaRPr>
          </a:p>
        </p:txBody>
      </p:sp>
      <p:sp>
        <p:nvSpPr>
          <p:cNvPr id="60" name="Text 16">
            <a:extLst>
              <a:ext uri="{FF2B5EF4-FFF2-40B4-BE49-F238E27FC236}">
                <a16:creationId xmlns:a16="http://schemas.microsoft.com/office/drawing/2014/main" id="{60CE58FC-4649-FFAE-C82F-91AE2A32D998}"/>
              </a:ext>
            </a:extLst>
          </p:cNvPr>
          <p:cNvSpPr txBox="1"/>
          <p:nvPr/>
        </p:nvSpPr>
        <p:spPr>
          <a:xfrm>
            <a:off x="976376" y="2744343"/>
            <a:ext cx="310896" cy="310896"/>
          </a:xfrm>
          <a:prstGeom prst="rect">
            <a:avLst/>
          </a:prstGeom>
          <a:noFill/>
          <a:ln/>
        </p:spPr>
        <p:txBody>
          <a:bodyPr wrap="square" lIns="0" tIns="0" rIns="0" bIns="0" rtlCol="0" anchor="ctr"/>
          <a:lstStyle/>
          <a:p>
            <a:pPr marL="0" indent="0" algn="ctr">
              <a:buNone/>
            </a:pPr>
            <a:r>
              <a:rPr lang="en-US" sz="1100" b="1" dirty="0">
                <a:solidFill>
                  <a:schemeClr val="tx1">
                    <a:lumMod val="95000"/>
                    <a:lumOff val="5000"/>
                  </a:schemeClr>
                </a:solidFill>
                <a:latin typeface="Arial" pitchFamily="34" charset="0"/>
                <a:cs typeface="Arial" pitchFamily="34" charset="-120"/>
              </a:rPr>
              <a:t>2</a:t>
            </a:r>
            <a:endParaRPr lang="en-US" sz="1100" dirty="0">
              <a:solidFill>
                <a:schemeClr val="tx1">
                  <a:lumMod val="95000"/>
                  <a:lumOff val="5000"/>
                </a:schemeClr>
              </a:solidFill>
            </a:endParaRPr>
          </a:p>
        </p:txBody>
      </p:sp>
      <p:sp>
        <p:nvSpPr>
          <p:cNvPr id="62" name="Text 16">
            <a:extLst>
              <a:ext uri="{FF2B5EF4-FFF2-40B4-BE49-F238E27FC236}">
                <a16:creationId xmlns:a16="http://schemas.microsoft.com/office/drawing/2014/main" id="{7CB56F25-1AE0-E075-AA1D-5BF68E87D68B}"/>
              </a:ext>
            </a:extLst>
          </p:cNvPr>
          <p:cNvSpPr txBox="1"/>
          <p:nvPr/>
        </p:nvSpPr>
        <p:spPr>
          <a:xfrm>
            <a:off x="950056" y="2155698"/>
            <a:ext cx="310896" cy="310896"/>
          </a:xfrm>
          <a:prstGeom prst="rect">
            <a:avLst/>
          </a:prstGeom>
          <a:noFill/>
          <a:ln/>
        </p:spPr>
        <p:txBody>
          <a:bodyPr wrap="square" lIns="0" tIns="0" rIns="0" bIns="0" rtlCol="0" anchor="ctr"/>
          <a:lstStyle/>
          <a:p>
            <a:pPr marL="0" indent="0" algn="ctr">
              <a:buNone/>
            </a:pPr>
            <a:r>
              <a:rPr lang="en-US" sz="1100" b="1" dirty="0">
                <a:solidFill>
                  <a:schemeClr val="tx1">
                    <a:lumMod val="95000"/>
                    <a:lumOff val="5000"/>
                  </a:schemeClr>
                </a:solidFill>
                <a:latin typeface="Arial" pitchFamily="34" charset="0"/>
                <a:cs typeface="Arial" pitchFamily="34" charset="-120"/>
              </a:rPr>
              <a:t>1</a:t>
            </a:r>
            <a:endParaRPr lang="en-US" sz="1100" dirty="0">
              <a:solidFill>
                <a:schemeClr val="tx1">
                  <a:lumMod val="95000"/>
                  <a:lumOff val="5000"/>
                </a:schemeClr>
              </a:solidFill>
            </a:endParaRPr>
          </a:p>
        </p:txBody>
      </p:sp>
    </p:spTree>
    <p:extLst>
      <p:ext uri="{BB962C8B-B14F-4D97-AF65-F5344CB8AC3E}">
        <p14:creationId xmlns:p14="http://schemas.microsoft.com/office/powerpoint/2010/main" val="3256395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7A5606C0-A9DC-691D-BB6F-0D2F82FBDD42}"/>
              </a:ext>
            </a:extLst>
          </p:cNvPr>
          <p:cNvPicPr>
            <a:picLocks noChangeAspect="1"/>
          </p:cNvPicPr>
          <p:nvPr/>
        </p:nvPicPr>
        <p:blipFill>
          <a:blip r:embed="rId3"/>
          <a:stretch>
            <a:fillRect/>
          </a:stretch>
        </p:blipFill>
        <p:spPr>
          <a:xfrm>
            <a:off x="3239" y="0"/>
            <a:ext cx="12185522" cy="6858000"/>
          </a:xfrm>
          <a:prstGeom prst="rect">
            <a:avLst/>
          </a:prstGeom>
        </p:spPr>
      </p:pic>
      <p:sp>
        <p:nvSpPr>
          <p:cNvPr id="4" name="Text 2"/>
          <p:cNvSpPr txBox="1"/>
          <p:nvPr/>
        </p:nvSpPr>
        <p:spPr>
          <a:xfrm>
            <a:off x="685800" y="731520"/>
            <a:ext cx="9144000" cy="548640"/>
          </a:xfrm>
          <a:prstGeom prst="rect">
            <a:avLst/>
          </a:prstGeom>
          <a:noFill/>
          <a:ln/>
        </p:spPr>
        <p:txBody>
          <a:bodyPr wrap="square" lIns="0" tIns="0" rIns="0" bIns="0" rtlCol="0" anchor="ctr"/>
          <a:lstStyle/>
          <a:p>
            <a:pPr marL="0" indent="0">
              <a:buNone/>
            </a:pPr>
            <a:r>
              <a:rPr lang="en-US" sz="2900" b="1" dirty="0">
                <a:solidFill>
                  <a:srgbClr val="2A2523"/>
                </a:solidFill>
                <a:latin typeface="Arial" pitchFamily="34" charset="0"/>
                <a:ea typeface="Arial" pitchFamily="34" charset="-122"/>
                <a:cs typeface="Arial" pitchFamily="34" charset="-120"/>
              </a:rPr>
              <a:t>Derived Fields &amp; KPI Engineering</a:t>
            </a:r>
            <a:endParaRPr lang="en-US" sz="2900" dirty="0"/>
          </a:p>
        </p:txBody>
      </p:sp>
      <p:sp>
        <p:nvSpPr>
          <p:cNvPr id="6" name="Text 4"/>
          <p:cNvSpPr txBox="1"/>
          <p:nvPr/>
        </p:nvSpPr>
        <p:spPr>
          <a:xfrm>
            <a:off x="10881360" y="6199632"/>
            <a:ext cx="621792"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12</a:t>
            </a:r>
            <a:endParaRPr lang="en-US" sz="1200" dirty="0"/>
          </a:p>
        </p:txBody>
      </p:sp>
      <p:sp>
        <p:nvSpPr>
          <p:cNvPr id="7" name="Shape 5"/>
          <p:cNvSpPr/>
          <p:nvPr/>
        </p:nvSpPr>
        <p:spPr>
          <a:xfrm>
            <a:off x="685800" y="1508760"/>
            <a:ext cx="5623560" cy="2103120"/>
          </a:xfrm>
          <a:prstGeom prst="roundRect">
            <a:avLst>
              <a:gd name="adj" fmla="val 5217"/>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8" name="Text 6"/>
          <p:cNvSpPr txBox="1"/>
          <p:nvPr/>
        </p:nvSpPr>
        <p:spPr>
          <a:xfrm>
            <a:off x="960120" y="1719072"/>
            <a:ext cx="5120640" cy="274320"/>
          </a:xfrm>
          <a:prstGeom prst="rect">
            <a:avLst/>
          </a:prstGeom>
          <a:noFill/>
          <a:ln/>
        </p:spPr>
        <p:txBody>
          <a:bodyPr wrap="square" lIns="0" tIns="0" rIns="0" bIns="0" rtlCol="0" anchor="ctr"/>
          <a:lstStyle/>
          <a:p>
            <a:pPr marL="0" indent="0">
              <a:buNone/>
            </a:pPr>
            <a:r>
              <a:rPr lang="en-US" sz="1550" b="1" dirty="0">
                <a:solidFill>
                  <a:srgbClr val="D9563C"/>
                </a:solidFill>
                <a:latin typeface="Arial" pitchFamily="34" charset="0"/>
                <a:ea typeface="Arial" pitchFamily="34" charset="-122"/>
                <a:cs typeface="Arial" pitchFamily="34" charset="-120"/>
              </a:rPr>
              <a:t>Fields created during preparation</a:t>
            </a:r>
            <a:endParaRPr lang="en-US" sz="1550" dirty="0"/>
          </a:p>
        </p:txBody>
      </p:sp>
      <p:sp>
        <p:nvSpPr>
          <p:cNvPr id="9" name="Shape 7"/>
          <p:cNvSpPr/>
          <p:nvPr/>
        </p:nvSpPr>
        <p:spPr>
          <a:xfrm>
            <a:off x="960120" y="2103120"/>
            <a:ext cx="1234440" cy="384048"/>
          </a:xfrm>
          <a:prstGeom prst="roundRect">
            <a:avLst>
              <a:gd name="adj" fmla="val 50000"/>
            </a:avLst>
          </a:prstGeom>
          <a:solidFill>
            <a:srgbClr val="FDEAE2"/>
          </a:solidFill>
          <a:ln w="12700">
            <a:solidFill>
              <a:srgbClr val="F7C9B9"/>
            </a:solidFill>
            <a:prstDash val="solid"/>
          </a:ln>
        </p:spPr>
      </p:sp>
      <p:sp>
        <p:nvSpPr>
          <p:cNvPr id="10" name="Text 8"/>
          <p:cNvSpPr txBox="1"/>
          <p:nvPr/>
        </p:nvSpPr>
        <p:spPr>
          <a:xfrm>
            <a:off x="960120" y="2103120"/>
            <a:ext cx="1234440" cy="384048"/>
          </a:xfrm>
          <a:prstGeom prst="rect">
            <a:avLst/>
          </a:prstGeom>
          <a:noFill/>
          <a:ln/>
        </p:spPr>
        <p:txBody>
          <a:bodyPr wrap="square" lIns="0" tIns="0" rIns="0" bIns="0" rtlCol="0" anchor="ctr"/>
          <a:lstStyle/>
          <a:p>
            <a:pPr marL="0" indent="0" algn="ctr">
              <a:buNone/>
            </a:pPr>
            <a:r>
              <a:rPr lang="en-US" sz="1150" b="1" dirty="0">
                <a:solidFill>
                  <a:srgbClr val="D9563C"/>
                </a:solidFill>
                <a:latin typeface="Calibri" pitchFamily="34" charset="0"/>
                <a:ea typeface="Calibri" pitchFamily="34" charset="-122"/>
                <a:cs typeface="Calibri" pitchFamily="34" charset="-120"/>
              </a:rPr>
              <a:t>Age Group</a:t>
            </a:r>
            <a:endParaRPr lang="en-US" sz="1150" dirty="0"/>
          </a:p>
        </p:txBody>
      </p:sp>
      <p:sp>
        <p:nvSpPr>
          <p:cNvPr id="11" name="Shape 9"/>
          <p:cNvSpPr/>
          <p:nvPr/>
        </p:nvSpPr>
        <p:spPr>
          <a:xfrm>
            <a:off x="2331720" y="2103120"/>
            <a:ext cx="1691640" cy="384048"/>
          </a:xfrm>
          <a:prstGeom prst="roundRect">
            <a:avLst>
              <a:gd name="adj" fmla="val 50000"/>
            </a:avLst>
          </a:prstGeom>
          <a:solidFill>
            <a:srgbClr val="FDEAE2"/>
          </a:solidFill>
          <a:ln w="12700">
            <a:solidFill>
              <a:srgbClr val="F7C9B9"/>
            </a:solidFill>
            <a:prstDash val="solid"/>
          </a:ln>
        </p:spPr>
      </p:sp>
      <p:sp>
        <p:nvSpPr>
          <p:cNvPr id="12" name="Text 10"/>
          <p:cNvSpPr txBox="1"/>
          <p:nvPr/>
        </p:nvSpPr>
        <p:spPr>
          <a:xfrm>
            <a:off x="2331720" y="2103120"/>
            <a:ext cx="1691640" cy="384048"/>
          </a:xfrm>
          <a:prstGeom prst="rect">
            <a:avLst/>
          </a:prstGeom>
          <a:noFill/>
          <a:ln/>
        </p:spPr>
        <p:txBody>
          <a:bodyPr wrap="square" lIns="0" tIns="0" rIns="0" bIns="0" rtlCol="0" anchor="ctr"/>
          <a:lstStyle/>
          <a:p>
            <a:pPr marL="0" indent="0" algn="ctr">
              <a:buNone/>
            </a:pPr>
            <a:r>
              <a:rPr lang="en-US" sz="1150" b="1" dirty="0">
                <a:solidFill>
                  <a:srgbClr val="D9563C"/>
                </a:solidFill>
                <a:latin typeface="Calibri" pitchFamily="34" charset="0"/>
                <a:ea typeface="Calibri" pitchFamily="34" charset="-122"/>
                <a:cs typeface="Calibri" pitchFamily="34" charset="-120"/>
              </a:rPr>
              <a:t>Admission Month</a:t>
            </a:r>
            <a:endParaRPr lang="en-US" sz="1150" dirty="0"/>
          </a:p>
        </p:txBody>
      </p:sp>
      <p:sp>
        <p:nvSpPr>
          <p:cNvPr id="13" name="Shape 11"/>
          <p:cNvSpPr/>
          <p:nvPr/>
        </p:nvSpPr>
        <p:spPr>
          <a:xfrm>
            <a:off x="4160520" y="2103120"/>
            <a:ext cx="1554480" cy="384048"/>
          </a:xfrm>
          <a:prstGeom prst="roundRect">
            <a:avLst>
              <a:gd name="adj" fmla="val 50000"/>
            </a:avLst>
          </a:prstGeom>
          <a:solidFill>
            <a:srgbClr val="FDEAE2"/>
          </a:solidFill>
          <a:ln w="12700">
            <a:solidFill>
              <a:srgbClr val="F7C9B9"/>
            </a:solidFill>
            <a:prstDash val="solid"/>
          </a:ln>
        </p:spPr>
      </p:sp>
      <p:sp>
        <p:nvSpPr>
          <p:cNvPr id="14" name="Text 12"/>
          <p:cNvSpPr txBox="1"/>
          <p:nvPr/>
        </p:nvSpPr>
        <p:spPr>
          <a:xfrm>
            <a:off x="4160520" y="2103120"/>
            <a:ext cx="1554480" cy="384048"/>
          </a:xfrm>
          <a:prstGeom prst="rect">
            <a:avLst/>
          </a:prstGeom>
          <a:noFill/>
          <a:ln/>
        </p:spPr>
        <p:txBody>
          <a:bodyPr wrap="square" lIns="0" tIns="0" rIns="0" bIns="0" rtlCol="0" anchor="ctr"/>
          <a:lstStyle/>
          <a:p>
            <a:pPr marL="0" indent="0" algn="ctr">
              <a:buNone/>
            </a:pPr>
            <a:r>
              <a:rPr lang="en-US" sz="1150" b="1" dirty="0">
                <a:solidFill>
                  <a:srgbClr val="D9563C"/>
                </a:solidFill>
                <a:latin typeface="Calibri" pitchFamily="34" charset="0"/>
                <a:ea typeface="Calibri" pitchFamily="34" charset="-122"/>
                <a:cs typeface="Calibri" pitchFamily="34" charset="-120"/>
              </a:rPr>
              <a:t>Admission Year</a:t>
            </a:r>
            <a:endParaRPr lang="en-US" sz="1150" dirty="0"/>
          </a:p>
        </p:txBody>
      </p:sp>
      <p:sp>
        <p:nvSpPr>
          <p:cNvPr id="15" name="Shape 13"/>
          <p:cNvSpPr/>
          <p:nvPr/>
        </p:nvSpPr>
        <p:spPr>
          <a:xfrm>
            <a:off x="960120" y="2578608"/>
            <a:ext cx="1417320" cy="384048"/>
          </a:xfrm>
          <a:prstGeom prst="roundRect">
            <a:avLst>
              <a:gd name="adj" fmla="val 50000"/>
            </a:avLst>
          </a:prstGeom>
          <a:solidFill>
            <a:srgbClr val="FDEAE2"/>
          </a:solidFill>
          <a:ln w="12700">
            <a:solidFill>
              <a:srgbClr val="F7C9B9"/>
            </a:solidFill>
            <a:prstDash val="solid"/>
          </a:ln>
        </p:spPr>
      </p:sp>
      <p:sp>
        <p:nvSpPr>
          <p:cNvPr id="16" name="Text 14"/>
          <p:cNvSpPr txBox="1"/>
          <p:nvPr/>
        </p:nvSpPr>
        <p:spPr>
          <a:xfrm>
            <a:off x="960120" y="2578608"/>
            <a:ext cx="1417320" cy="384048"/>
          </a:xfrm>
          <a:prstGeom prst="rect">
            <a:avLst/>
          </a:prstGeom>
          <a:noFill/>
          <a:ln/>
        </p:spPr>
        <p:txBody>
          <a:bodyPr wrap="square" lIns="0" tIns="0" rIns="0" bIns="0" rtlCol="0" anchor="ctr"/>
          <a:lstStyle/>
          <a:p>
            <a:pPr marL="0" indent="0" algn="ctr">
              <a:buNone/>
            </a:pPr>
            <a:r>
              <a:rPr lang="en-US" sz="1150" b="1" dirty="0">
                <a:solidFill>
                  <a:srgbClr val="D9563C"/>
                </a:solidFill>
                <a:latin typeface="Calibri" pitchFamily="34" charset="0"/>
                <a:ea typeface="Calibri" pitchFamily="34" charset="-122"/>
                <a:cs typeface="Calibri" pitchFamily="34" charset="-120"/>
              </a:rPr>
              <a:t>LOS Category</a:t>
            </a:r>
            <a:endParaRPr lang="en-US" sz="1150" dirty="0"/>
          </a:p>
        </p:txBody>
      </p:sp>
      <p:sp>
        <p:nvSpPr>
          <p:cNvPr id="17" name="Shape 15"/>
          <p:cNvSpPr/>
          <p:nvPr/>
        </p:nvSpPr>
        <p:spPr>
          <a:xfrm>
            <a:off x="2514600" y="2578608"/>
            <a:ext cx="1783080" cy="384048"/>
          </a:xfrm>
          <a:prstGeom prst="roundRect">
            <a:avLst>
              <a:gd name="adj" fmla="val 50000"/>
            </a:avLst>
          </a:prstGeom>
          <a:solidFill>
            <a:srgbClr val="FDEAE2"/>
          </a:solidFill>
          <a:ln w="12700">
            <a:solidFill>
              <a:srgbClr val="F7C9B9"/>
            </a:solidFill>
            <a:prstDash val="solid"/>
          </a:ln>
        </p:spPr>
      </p:sp>
      <p:sp>
        <p:nvSpPr>
          <p:cNvPr id="18" name="Text 16"/>
          <p:cNvSpPr txBox="1"/>
          <p:nvPr/>
        </p:nvSpPr>
        <p:spPr>
          <a:xfrm>
            <a:off x="2514600" y="2578608"/>
            <a:ext cx="1783080" cy="384048"/>
          </a:xfrm>
          <a:prstGeom prst="rect">
            <a:avLst/>
          </a:prstGeom>
          <a:noFill/>
          <a:ln/>
        </p:spPr>
        <p:txBody>
          <a:bodyPr wrap="square" lIns="0" tIns="0" rIns="0" bIns="0" rtlCol="0" anchor="ctr"/>
          <a:lstStyle/>
          <a:p>
            <a:pPr marL="0" indent="0" algn="ctr">
              <a:buNone/>
            </a:pPr>
            <a:r>
              <a:rPr lang="en-US" sz="1150" b="1" dirty="0">
                <a:solidFill>
                  <a:srgbClr val="D9563C"/>
                </a:solidFill>
                <a:latin typeface="Calibri" pitchFamily="34" charset="0"/>
                <a:ea typeface="Calibri" pitchFamily="34" charset="-122"/>
                <a:cs typeface="Calibri" pitchFamily="34" charset="-120"/>
              </a:rPr>
              <a:t>Dept Bed Capacity</a:t>
            </a:r>
            <a:endParaRPr lang="en-US" sz="1150" dirty="0"/>
          </a:p>
        </p:txBody>
      </p:sp>
      <p:sp>
        <p:nvSpPr>
          <p:cNvPr id="19" name="Shape 17"/>
          <p:cNvSpPr/>
          <p:nvPr/>
        </p:nvSpPr>
        <p:spPr>
          <a:xfrm>
            <a:off x="4434840" y="2578608"/>
            <a:ext cx="1371600" cy="384048"/>
          </a:xfrm>
          <a:prstGeom prst="roundRect">
            <a:avLst>
              <a:gd name="adj" fmla="val 50000"/>
            </a:avLst>
          </a:prstGeom>
          <a:solidFill>
            <a:srgbClr val="FDEAE2"/>
          </a:solidFill>
          <a:ln w="12700">
            <a:solidFill>
              <a:srgbClr val="F7C9B9"/>
            </a:solidFill>
            <a:prstDash val="solid"/>
          </a:ln>
        </p:spPr>
      </p:sp>
      <p:sp>
        <p:nvSpPr>
          <p:cNvPr id="20" name="Text 18"/>
          <p:cNvSpPr txBox="1"/>
          <p:nvPr/>
        </p:nvSpPr>
        <p:spPr>
          <a:xfrm>
            <a:off x="4434840" y="2578608"/>
            <a:ext cx="1371600" cy="384048"/>
          </a:xfrm>
          <a:prstGeom prst="rect">
            <a:avLst/>
          </a:prstGeom>
          <a:noFill/>
          <a:ln/>
        </p:spPr>
        <p:txBody>
          <a:bodyPr wrap="square" lIns="0" tIns="0" rIns="0" bIns="0" rtlCol="0" anchor="ctr"/>
          <a:lstStyle/>
          <a:p>
            <a:pPr marL="0" indent="0" algn="ctr">
              <a:buNone/>
            </a:pPr>
            <a:r>
              <a:rPr lang="en-US" sz="1150" b="1" dirty="0">
                <a:solidFill>
                  <a:srgbClr val="D9563C"/>
                </a:solidFill>
                <a:latin typeface="Calibri" pitchFamily="34" charset="0"/>
                <a:ea typeface="Calibri" pitchFamily="34" charset="-122"/>
                <a:cs typeface="Calibri" pitchFamily="34" charset="-120"/>
              </a:rPr>
              <a:t>ICU Capacity</a:t>
            </a:r>
            <a:endParaRPr lang="en-US" sz="1150" dirty="0"/>
          </a:p>
        </p:txBody>
      </p:sp>
      <p:sp>
        <p:nvSpPr>
          <p:cNvPr id="21" name="Shape 19"/>
          <p:cNvSpPr/>
          <p:nvPr/>
        </p:nvSpPr>
        <p:spPr>
          <a:xfrm>
            <a:off x="960120" y="3054096"/>
            <a:ext cx="1783080" cy="384048"/>
          </a:xfrm>
          <a:prstGeom prst="roundRect">
            <a:avLst>
              <a:gd name="adj" fmla="val 50000"/>
            </a:avLst>
          </a:prstGeom>
          <a:solidFill>
            <a:srgbClr val="FDEAE2"/>
          </a:solidFill>
          <a:ln w="12700">
            <a:solidFill>
              <a:srgbClr val="F7C9B9"/>
            </a:solidFill>
            <a:prstDash val="solid"/>
          </a:ln>
        </p:spPr>
      </p:sp>
      <p:sp>
        <p:nvSpPr>
          <p:cNvPr id="22" name="Text 20"/>
          <p:cNvSpPr txBox="1"/>
          <p:nvPr/>
        </p:nvSpPr>
        <p:spPr>
          <a:xfrm>
            <a:off x="960120" y="3054096"/>
            <a:ext cx="1783080" cy="384048"/>
          </a:xfrm>
          <a:prstGeom prst="rect">
            <a:avLst/>
          </a:prstGeom>
          <a:noFill/>
          <a:ln/>
        </p:spPr>
        <p:txBody>
          <a:bodyPr wrap="square" lIns="0" tIns="0" rIns="0" bIns="0" rtlCol="0" anchor="ctr"/>
          <a:lstStyle/>
          <a:p>
            <a:pPr marL="0" indent="0" algn="ctr">
              <a:buNone/>
            </a:pPr>
            <a:r>
              <a:rPr lang="en-US" sz="1150" b="1" dirty="0">
                <a:solidFill>
                  <a:srgbClr val="D9563C"/>
                </a:solidFill>
                <a:latin typeface="Calibri" pitchFamily="34" charset="0"/>
                <a:ea typeface="Calibri" pitchFamily="34" charset="-122"/>
                <a:cs typeface="Calibri" pitchFamily="34" charset="-120"/>
              </a:rPr>
              <a:t>Staff Utilisation %</a:t>
            </a:r>
            <a:endParaRPr lang="en-US" sz="1150" dirty="0"/>
          </a:p>
        </p:txBody>
      </p:sp>
      <p:sp>
        <p:nvSpPr>
          <p:cNvPr id="23" name="Shape 21"/>
          <p:cNvSpPr/>
          <p:nvPr/>
        </p:nvSpPr>
        <p:spPr>
          <a:xfrm>
            <a:off x="2880360" y="3054096"/>
            <a:ext cx="2011680" cy="384048"/>
          </a:xfrm>
          <a:prstGeom prst="roundRect">
            <a:avLst>
              <a:gd name="adj" fmla="val 50000"/>
            </a:avLst>
          </a:prstGeom>
          <a:solidFill>
            <a:srgbClr val="FDEAE2"/>
          </a:solidFill>
          <a:ln w="12700">
            <a:solidFill>
              <a:srgbClr val="F7C9B9"/>
            </a:solidFill>
            <a:prstDash val="solid"/>
          </a:ln>
        </p:spPr>
      </p:sp>
      <p:sp>
        <p:nvSpPr>
          <p:cNvPr id="24" name="Text 22"/>
          <p:cNvSpPr txBox="1"/>
          <p:nvPr/>
        </p:nvSpPr>
        <p:spPr>
          <a:xfrm>
            <a:off x="2880360" y="3054096"/>
            <a:ext cx="2011680" cy="384048"/>
          </a:xfrm>
          <a:prstGeom prst="rect">
            <a:avLst/>
          </a:prstGeom>
          <a:noFill/>
          <a:ln/>
        </p:spPr>
        <p:txBody>
          <a:bodyPr wrap="square" lIns="0" tIns="0" rIns="0" bIns="0" rtlCol="0" anchor="ctr"/>
          <a:lstStyle/>
          <a:p>
            <a:pPr marL="0" indent="0" algn="ctr">
              <a:buNone/>
            </a:pPr>
            <a:r>
              <a:rPr lang="en-US" sz="1150" b="1" dirty="0">
                <a:solidFill>
                  <a:srgbClr val="D9563C"/>
                </a:solidFill>
                <a:latin typeface="Calibri" pitchFamily="34" charset="0"/>
                <a:ea typeface="Calibri" pitchFamily="34" charset="-122"/>
                <a:cs typeface="Calibri" pitchFamily="34" charset="-120"/>
              </a:rPr>
              <a:t>Bed Occupancy Rate %</a:t>
            </a:r>
            <a:endParaRPr lang="en-US" sz="1150" dirty="0"/>
          </a:p>
        </p:txBody>
      </p:sp>
      <p:sp>
        <p:nvSpPr>
          <p:cNvPr id="25" name="Shape 23"/>
          <p:cNvSpPr/>
          <p:nvPr/>
        </p:nvSpPr>
        <p:spPr>
          <a:xfrm>
            <a:off x="685800" y="3749040"/>
            <a:ext cx="5623560" cy="2296160"/>
          </a:xfrm>
          <a:prstGeom prst="roundRect">
            <a:avLst>
              <a:gd name="adj" fmla="val 5581"/>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graphicFrame>
        <p:nvGraphicFramePr>
          <p:cNvPr id="26" name="Chart 0"/>
          <p:cNvGraphicFramePr/>
          <p:nvPr>
            <p:extLst>
              <p:ext uri="{D42A27DB-BD31-4B8C-83A1-F6EECF244321}">
                <p14:modId xmlns:p14="http://schemas.microsoft.com/office/powerpoint/2010/main" val="3576086324"/>
              </p:ext>
            </p:extLst>
          </p:nvPr>
        </p:nvGraphicFramePr>
        <p:xfrm>
          <a:off x="822960" y="3840480"/>
          <a:ext cx="5349240" cy="2204720"/>
        </p:xfrm>
        <a:graphic>
          <a:graphicData uri="http://schemas.openxmlformats.org/drawingml/2006/chart">
            <c:chart xmlns:c="http://schemas.openxmlformats.org/drawingml/2006/chart" xmlns:r="http://schemas.openxmlformats.org/officeDocument/2006/relationships" r:id="rId4"/>
          </a:graphicData>
        </a:graphic>
      </p:graphicFrame>
      <p:sp>
        <p:nvSpPr>
          <p:cNvPr id="27" name="Shape 24"/>
          <p:cNvSpPr/>
          <p:nvPr/>
        </p:nvSpPr>
        <p:spPr>
          <a:xfrm>
            <a:off x="6583680" y="1508760"/>
            <a:ext cx="4919472" cy="3154680"/>
          </a:xfrm>
          <a:prstGeom prst="roundRect">
            <a:avLst>
              <a:gd name="adj" fmla="val 3478"/>
            </a:avLst>
          </a:prstGeom>
          <a:solidFill>
            <a:srgbClr val="FFFFFF"/>
          </a:solidFill>
          <a:ln w="12700">
            <a:solidFill>
              <a:srgbClr val="F6DCD2"/>
            </a:solidFill>
            <a:prstDash val="solid"/>
          </a:ln>
          <a:effectLst>
            <a:outerShdw blurRad="127000" dist="25400" dir="5400000" algn="bl" rotWithShape="0">
              <a:srgbClr val="C08772">
                <a:alpha val="20000"/>
              </a:srgbClr>
            </a:outerShdw>
          </a:effectLst>
        </p:spPr>
      </p:sp>
      <p:sp>
        <p:nvSpPr>
          <p:cNvPr id="28" name="Text 25"/>
          <p:cNvSpPr txBox="1"/>
          <p:nvPr/>
        </p:nvSpPr>
        <p:spPr>
          <a:xfrm>
            <a:off x="6858000" y="1719072"/>
            <a:ext cx="4389120" cy="274320"/>
          </a:xfrm>
          <a:prstGeom prst="rect">
            <a:avLst/>
          </a:prstGeom>
          <a:noFill/>
          <a:ln/>
        </p:spPr>
        <p:txBody>
          <a:bodyPr wrap="square" lIns="0" tIns="0" rIns="0" bIns="0" rtlCol="0" anchor="ctr"/>
          <a:lstStyle/>
          <a:p>
            <a:pPr marL="0" indent="0">
              <a:buNone/>
            </a:pPr>
            <a:r>
              <a:rPr lang="en-US" sz="1550" b="1" dirty="0">
                <a:solidFill>
                  <a:srgbClr val="D9563C"/>
                </a:solidFill>
                <a:latin typeface="Arial" pitchFamily="34" charset="0"/>
                <a:ea typeface="Arial" pitchFamily="34" charset="-122"/>
                <a:cs typeface="Arial" pitchFamily="34" charset="-120"/>
              </a:rPr>
              <a:t>KPIs validated in Pandas</a:t>
            </a:r>
            <a:endParaRPr lang="en-US" sz="1550" dirty="0"/>
          </a:p>
        </p:txBody>
      </p:sp>
      <p:graphicFrame>
        <p:nvGraphicFramePr>
          <p:cNvPr id="29" name="Table 0"/>
          <p:cNvGraphicFramePr>
            <a:graphicFrameLocks noGrp="1"/>
          </p:cNvGraphicFramePr>
          <p:nvPr/>
        </p:nvGraphicFramePr>
        <p:xfrm>
          <a:off x="6858000" y="2066544"/>
          <a:ext cx="4389120" cy="2393897"/>
        </p:xfrm>
        <a:graphic>
          <a:graphicData uri="http://schemas.openxmlformats.org/drawingml/2006/table">
            <a:tbl>
              <a:tblPr/>
              <a:tblGrid>
                <a:gridCol w="251460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tblGrid>
              <a:tr h="217627">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KPI</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D9563C"/>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Validated value</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D9563C"/>
                    </a:solidFill>
                  </a:tcPr>
                </a:tc>
                <a:extLst>
                  <a:ext uri="{0D108BD9-81ED-4DB2-BD59-A6C34878D82A}">
                    <a16:rowId xmlns:a16="http://schemas.microsoft.com/office/drawing/2014/main" val="10000"/>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Total admissions</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Total revenue</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Rs. 2.50 Billion</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02"/>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Average length of stay</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78.78 days</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Average patient age</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45.30 years</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04"/>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Readmission rate</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49.87%</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Bed utilisation</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36.76%</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06"/>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Staff utilisation</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57.92%</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Equipment utilisation</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33.55%</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08"/>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Patients transferred</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1,760 (17.60%)</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17627">
                <a:tc>
                  <a:txBody>
                    <a:bodyPr/>
                    <a:lstStyle/>
                    <a:p>
                      <a:pPr marL="0" indent="0" algn="l">
                        <a:buNone/>
                      </a:pPr>
                      <a:r>
                        <a:rPr lang="en-US" sz="1050" dirty="0">
                          <a:solidFill>
                            <a:srgbClr val="6E625C"/>
                          </a:solidFill>
                          <a:latin typeface="Calibri" pitchFamily="34" charset="0"/>
                          <a:ea typeface="Calibri" pitchFamily="34" charset="-122"/>
                          <a:cs typeface="Calibri" pitchFamily="34" charset="-120"/>
                        </a:rPr>
                        <a:t>Avg. daily admissions</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tc>
                  <a:txBody>
                    <a:bodyPr/>
                    <a:lstStyle/>
                    <a:p>
                      <a:pPr marL="0" indent="0" algn="r">
                        <a:buNone/>
                      </a:pPr>
                      <a:r>
                        <a:rPr lang="en-US" sz="1050" b="1" dirty="0">
                          <a:solidFill>
                            <a:srgbClr val="2A2523"/>
                          </a:solidFill>
                          <a:latin typeface="Calibri" pitchFamily="34" charset="0"/>
                          <a:ea typeface="Calibri" pitchFamily="34" charset="-122"/>
                          <a:cs typeface="Calibri" pitchFamily="34" charset="-120"/>
                        </a:rPr>
                        <a:t>19.05</a:t>
                      </a:r>
                      <a:endParaRPr lang="en-US" sz="1050" dirty="0">
                        <a:latin typeface="Calibri" charset="0"/>
                        <a:ea typeface="Calibri" charset="0"/>
                        <a:cs typeface="Calibri" charset="0"/>
                      </a:endParaRPr>
                    </a:p>
                  </a:txBody>
                  <a:tcPr marL="63500" marR="63500" marT="12700" marB="12700" anchor="ctr">
                    <a:lnL w="12700" cap="flat" cmpd="sng" algn="ctr">
                      <a:solidFill>
                        <a:srgbClr val="F6DCD2"/>
                      </a:solidFill>
                      <a:prstDash val="solid"/>
                      <a:round/>
                      <a:headEnd type="none" w="med" len="med"/>
                      <a:tailEnd type="none" w="med" len="med"/>
                    </a:lnL>
                    <a:lnR w="12700" cap="flat" cmpd="sng" algn="ctr">
                      <a:solidFill>
                        <a:srgbClr val="F6DCD2"/>
                      </a:solidFill>
                      <a:prstDash val="solid"/>
                      <a:round/>
                      <a:headEnd type="none" w="med" len="med"/>
                      <a:tailEnd type="none" w="med" len="med"/>
                    </a:lnR>
                    <a:lnT w="12700" cap="flat" cmpd="sng" algn="ctr">
                      <a:solidFill>
                        <a:srgbClr val="F6DCD2"/>
                      </a:solidFill>
                      <a:prstDash val="solid"/>
                      <a:round/>
                      <a:headEnd type="none" w="med" len="med"/>
                      <a:tailEnd type="none" w="med" len="med"/>
                    </a:lnT>
                    <a:lnB w="12700" cap="flat" cmpd="sng" algn="ctr">
                      <a:solidFill>
                        <a:srgbClr val="F6DCD2"/>
                      </a:solidFill>
                      <a:prstDash val="solid"/>
                      <a:round/>
                      <a:headEnd type="none" w="med" len="med"/>
                      <a:tailEnd type="none" w="med" len="med"/>
                    </a:lnB>
                    <a:solidFill>
                      <a:srgbClr val="FDF4F0"/>
                    </a:solidFill>
                  </a:tcPr>
                </a:tc>
                <a:extLst>
                  <a:ext uri="{0D108BD9-81ED-4DB2-BD59-A6C34878D82A}">
                    <a16:rowId xmlns:a16="http://schemas.microsoft.com/office/drawing/2014/main" val="10010"/>
                  </a:ext>
                </a:extLst>
              </a:tr>
            </a:tbl>
          </a:graphicData>
        </a:graphic>
      </p:graphicFrame>
      <p:sp>
        <p:nvSpPr>
          <p:cNvPr id="30" name="Shape 26"/>
          <p:cNvSpPr/>
          <p:nvPr/>
        </p:nvSpPr>
        <p:spPr>
          <a:xfrm>
            <a:off x="6583680" y="4800600"/>
            <a:ext cx="4919472" cy="1244600"/>
          </a:xfrm>
          <a:prstGeom prst="roundRect">
            <a:avLst>
              <a:gd name="adj" fmla="val 12000"/>
            </a:avLst>
          </a:prstGeom>
          <a:solidFill>
            <a:srgbClr val="FDEAE2"/>
          </a:solidFill>
          <a:ln w="12700">
            <a:solidFill>
              <a:srgbClr val="F7C9B9"/>
            </a:solidFill>
            <a:prstDash val="solid"/>
          </a:ln>
          <a:effectLst>
            <a:outerShdw blurRad="127000" dist="25400" dir="5400000" algn="bl" rotWithShape="0">
              <a:srgbClr val="C08772">
                <a:alpha val="20000"/>
              </a:srgbClr>
            </a:outerShdw>
          </a:effectLst>
        </p:spPr>
      </p:sp>
      <p:sp>
        <p:nvSpPr>
          <p:cNvPr id="31" name="Text 27"/>
          <p:cNvSpPr txBox="1"/>
          <p:nvPr/>
        </p:nvSpPr>
        <p:spPr>
          <a:xfrm>
            <a:off x="6717792" y="5006340"/>
            <a:ext cx="4785360" cy="685800"/>
          </a:xfrm>
          <a:prstGeom prst="rect">
            <a:avLst/>
          </a:prstGeom>
          <a:noFill/>
          <a:ln/>
        </p:spPr>
        <p:txBody>
          <a:bodyPr wrap="square" lIns="0" tIns="0" rIns="0" bIns="0" rtlCol="0" anchor="ctr"/>
          <a:lstStyle/>
          <a:p>
            <a:pPr marL="0" indent="0">
              <a:lnSpc>
                <a:spcPct val="150000"/>
              </a:lnSpc>
              <a:buNone/>
            </a:pPr>
            <a:r>
              <a:rPr lang="en-US" sz="1600" b="1" dirty="0">
                <a:solidFill>
                  <a:srgbClr val="5B4F49"/>
                </a:solidFill>
                <a:latin typeface="Calibri" pitchFamily="34" charset="0"/>
                <a:ea typeface="Calibri" pitchFamily="34" charset="-122"/>
                <a:cs typeface="Calibri" pitchFamily="34" charset="-120"/>
              </a:rPr>
              <a:t>Efficiency Score = (Bed Utilisation x 0.40) + (Staff Utilisation x 0.40) + ((1 - Readmission Rate) x 0.20) = 47.90%</a:t>
            </a:r>
            <a:endParaRPr lang="en-US" sz="1600" dirty="0"/>
          </a:p>
        </p:txBody>
      </p:sp>
    </p:spTree>
    <p:extLst>
      <p:ext uri="{BB962C8B-B14F-4D97-AF65-F5344CB8AC3E}">
        <p14:creationId xmlns:p14="http://schemas.microsoft.com/office/powerpoint/2010/main" val="1444260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txBox="1"/>
          <p:nvPr/>
        </p:nvSpPr>
        <p:spPr>
          <a:xfrm>
            <a:off x="685800" y="658368"/>
            <a:ext cx="10241280" cy="566928"/>
          </a:xfrm>
          <a:prstGeom prst="rect">
            <a:avLst/>
          </a:prstGeom>
          <a:noFill/>
          <a:ln/>
        </p:spPr>
        <p:txBody>
          <a:bodyPr wrap="square" lIns="0" tIns="0" rIns="0" bIns="0" rtlCol="0" anchor="ctr"/>
          <a:lstStyle/>
          <a:p>
            <a:pPr marL="0" indent="0">
              <a:buNone/>
            </a:pPr>
            <a:r>
              <a:rPr lang="en-US" sz="3000" b="1" dirty="0">
                <a:solidFill>
                  <a:srgbClr val="2A2523"/>
                </a:solidFill>
                <a:latin typeface="Arial" pitchFamily="34" charset="0"/>
                <a:ea typeface="Arial" pitchFamily="34" charset="-122"/>
                <a:cs typeface="Arial" pitchFamily="34" charset="-120"/>
              </a:rPr>
              <a:t>Dashboard Development</a:t>
            </a:r>
            <a:endParaRPr lang="en-US" sz="3000" dirty="0"/>
          </a:p>
        </p:txBody>
      </p:sp>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11</a:t>
            </a:r>
            <a:endParaRPr lang="en-US" sz="1200" dirty="0"/>
          </a:p>
        </p:txBody>
      </p:sp>
      <p:sp>
        <p:nvSpPr>
          <p:cNvPr id="5" name="Shape 3"/>
          <p:cNvSpPr/>
          <p:nvPr/>
        </p:nvSpPr>
        <p:spPr>
          <a:xfrm>
            <a:off x="458470" y="1380744"/>
            <a:ext cx="5599430" cy="1130300"/>
          </a:xfrm>
          <a:prstGeom prst="roundRect">
            <a:avLst>
              <a:gd name="adj" fmla="val 5581"/>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8" name="Text 6"/>
          <p:cNvSpPr txBox="1"/>
          <p:nvPr/>
        </p:nvSpPr>
        <p:spPr>
          <a:xfrm>
            <a:off x="2125980" y="1443736"/>
            <a:ext cx="3931920" cy="329184"/>
          </a:xfrm>
          <a:prstGeom prst="rect">
            <a:avLst/>
          </a:prstGeom>
          <a:noFill/>
          <a:ln/>
        </p:spPr>
        <p:txBody>
          <a:bodyPr wrap="square" lIns="0" tIns="0" rIns="0" bIns="0" rtlCol="0" anchor="ctr"/>
          <a:lstStyle/>
          <a:p>
            <a:pPr marL="0" indent="0">
              <a:buNone/>
            </a:pPr>
            <a:r>
              <a:rPr lang="en-US" sz="1700" b="1" dirty="0">
                <a:solidFill>
                  <a:srgbClr val="2A2523"/>
                </a:solidFill>
                <a:latin typeface="Arial" pitchFamily="34" charset="0"/>
                <a:ea typeface="Arial" pitchFamily="34" charset="-122"/>
                <a:cs typeface="Arial" pitchFamily="34" charset="-120"/>
              </a:rPr>
              <a:t>Hospital Overview</a:t>
            </a:r>
            <a:endParaRPr lang="en-US" sz="1700" dirty="0"/>
          </a:p>
        </p:txBody>
      </p:sp>
      <p:sp>
        <p:nvSpPr>
          <p:cNvPr id="9" name="Text 7"/>
          <p:cNvSpPr txBox="1"/>
          <p:nvPr/>
        </p:nvSpPr>
        <p:spPr>
          <a:xfrm>
            <a:off x="809625" y="1772920"/>
            <a:ext cx="4973320" cy="725932"/>
          </a:xfrm>
          <a:prstGeom prst="rect">
            <a:avLst/>
          </a:prstGeom>
          <a:noFill/>
          <a:ln/>
        </p:spPr>
        <p:txBody>
          <a:bodyPr wrap="square" lIns="0" tIns="0" rIns="0" bIns="0" rtlCol="0" anchor="ctr"/>
          <a:lstStyle/>
          <a:p>
            <a:pPr marL="0" indent="0">
              <a:lnSpc>
                <a:spcPts val="1700"/>
              </a:lnSpc>
              <a:buNone/>
            </a:pPr>
            <a:r>
              <a:rPr lang="en-US" sz="1400" dirty="0">
                <a:solidFill>
                  <a:srgbClr val="6E625C"/>
                </a:solidFill>
                <a:latin typeface="Calibri" pitchFamily="34" charset="0"/>
                <a:ea typeface="Calibri" pitchFamily="34" charset="-122"/>
                <a:cs typeface="Calibri" pitchFamily="34" charset="-120"/>
              </a:rPr>
              <a:t>High-level view of activity and performance — admissions, revenue, length of stay, readmissions, efficiency and monthly trends. The entry point for every other dashboard.</a:t>
            </a:r>
            <a:endParaRPr lang="en-US" sz="1400" dirty="0"/>
          </a:p>
        </p:txBody>
      </p:sp>
      <p:sp>
        <p:nvSpPr>
          <p:cNvPr id="10" name="Shape 8"/>
          <p:cNvSpPr/>
          <p:nvPr/>
        </p:nvSpPr>
        <p:spPr>
          <a:xfrm>
            <a:off x="6309360" y="1380744"/>
            <a:ext cx="5347970" cy="1098296"/>
          </a:xfrm>
          <a:prstGeom prst="roundRect">
            <a:avLst>
              <a:gd name="adj" fmla="val 5581"/>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3" name="Text 11"/>
          <p:cNvSpPr txBox="1"/>
          <p:nvPr/>
        </p:nvSpPr>
        <p:spPr>
          <a:xfrm>
            <a:off x="7976870" y="1443736"/>
            <a:ext cx="1715770" cy="329184"/>
          </a:xfrm>
          <a:prstGeom prst="rect">
            <a:avLst/>
          </a:prstGeom>
          <a:noFill/>
          <a:ln/>
        </p:spPr>
        <p:txBody>
          <a:bodyPr wrap="square" lIns="0" tIns="0" rIns="0" bIns="0" rtlCol="0" anchor="ctr"/>
          <a:lstStyle/>
          <a:p>
            <a:pPr marL="0" indent="0">
              <a:buNone/>
            </a:pPr>
            <a:r>
              <a:rPr lang="en-US" sz="1700" b="1" dirty="0">
                <a:solidFill>
                  <a:srgbClr val="2A2523"/>
                </a:solidFill>
                <a:latin typeface="Arial" pitchFamily="34" charset="0"/>
                <a:ea typeface="Arial" pitchFamily="34" charset="-122"/>
                <a:cs typeface="Arial" pitchFamily="34" charset="-120"/>
              </a:rPr>
              <a:t>Patient Flow</a:t>
            </a:r>
            <a:endParaRPr lang="en-US" sz="1700" dirty="0"/>
          </a:p>
        </p:txBody>
      </p:sp>
      <p:sp>
        <p:nvSpPr>
          <p:cNvPr id="14" name="Text 12"/>
          <p:cNvSpPr txBox="1"/>
          <p:nvPr/>
        </p:nvSpPr>
        <p:spPr>
          <a:xfrm>
            <a:off x="6400800" y="1677924"/>
            <a:ext cx="5120640" cy="699516"/>
          </a:xfrm>
          <a:prstGeom prst="rect">
            <a:avLst/>
          </a:prstGeom>
          <a:noFill/>
          <a:ln/>
        </p:spPr>
        <p:txBody>
          <a:bodyPr wrap="square" lIns="0" tIns="0" rIns="0" bIns="0" rtlCol="0" anchor="ctr"/>
          <a:lstStyle/>
          <a:p>
            <a:pPr marL="0" indent="0" algn="ctr">
              <a:lnSpc>
                <a:spcPts val="1700"/>
              </a:lnSpc>
              <a:buNone/>
            </a:pPr>
            <a:r>
              <a:rPr lang="en-US" sz="1400" dirty="0">
                <a:solidFill>
                  <a:srgbClr val="6E625C"/>
                </a:solidFill>
                <a:latin typeface="Calibri" pitchFamily="34" charset="0"/>
                <a:ea typeface="Calibri" pitchFamily="34" charset="-122"/>
                <a:cs typeface="Calibri" pitchFamily="34" charset="-120"/>
              </a:rPr>
              <a:t>Who the patients are and how they move — admissions, discharges, transfers, admission types, age groups and length-of-stay categories.</a:t>
            </a:r>
            <a:endParaRPr lang="en-US" sz="1400" dirty="0"/>
          </a:p>
        </p:txBody>
      </p:sp>
      <p:sp>
        <p:nvSpPr>
          <p:cNvPr id="25" name="Text 23"/>
          <p:cNvSpPr txBox="1"/>
          <p:nvPr/>
        </p:nvSpPr>
        <p:spPr>
          <a:xfrm>
            <a:off x="2481072" y="6207760"/>
            <a:ext cx="10515600" cy="320040"/>
          </a:xfrm>
          <a:prstGeom prst="rect">
            <a:avLst/>
          </a:prstGeom>
          <a:noFill/>
          <a:ln/>
        </p:spPr>
        <p:txBody>
          <a:bodyPr wrap="square" lIns="0" tIns="0" rIns="0" bIns="0" rtlCol="0" anchor="ctr"/>
          <a:lstStyle/>
          <a:p>
            <a:pPr marL="0" indent="0">
              <a:buNone/>
            </a:pPr>
            <a:r>
              <a:rPr lang="en-US" sz="1350" i="1" dirty="0">
                <a:solidFill>
                  <a:srgbClr val="D9563C"/>
                </a:solidFill>
                <a:latin typeface="Calibri" pitchFamily="34" charset="0"/>
                <a:ea typeface="Calibri" pitchFamily="34" charset="-122"/>
                <a:cs typeface="Calibri" pitchFamily="34" charset="-120"/>
              </a:rPr>
              <a:t>All four dashboards share one cleaned dataset, consistent filters and cross-dashboard navigation.</a:t>
            </a:r>
            <a:endParaRPr lang="en-US" sz="1350" dirty="0"/>
          </a:p>
        </p:txBody>
      </p:sp>
      <p:pic>
        <p:nvPicPr>
          <p:cNvPr id="33" name="Picture 32">
            <a:extLst>
              <a:ext uri="{FF2B5EF4-FFF2-40B4-BE49-F238E27FC236}">
                <a16:creationId xmlns:a16="http://schemas.microsoft.com/office/drawing/2014/main" id="{412716E3-1796-001F-5C74-AE28C9C8B7CC}"/>
              </a:ext>
            </a:extLst>
          </p:cNvPr>
          <p:cNvPicPr>
            <a:picLocks noChangeAspect="1"/>
          </p:cNvPicPr>
          <p:nvPr/>
        </p:nvPicPr>
        <p:blipFill>
          <a:blip r:embed="rId4"/>
          <a:stretch>
            <a:fillRect/>
          </a:stretch>
        </p:blipFill>
        <p:spPr>
          <a:xfrm>
            <a:off x="314960" y="2611628"/>
            <a:ext cx="5742940" cy="3596132"/>
          </a:xfrm>
          <a:prstGeom prst="rect">
            <a:avLst/>
          </a:prstGeom>
        </p:spPr>
      </p:pic>
      <p:pic>
        <p:nvPicPr>
          <p:cNvPr id="35" name="Picture 34">
            <a:extLst>
              <a:ext uri="{FF2B5EF4-FFF2-40B4-BE49-F238E27FC236}">
                <a16:creationId xmlns:a16="http://schemas.microsoft.com/office/drawing/2014/main" id="{5AA32E17-0DF7-94D8-0E1B-12231E3FF738}"/>
              </a:ext>
            </a:extLst>
          </p:cNvPr>
          <p:cNvPicPr>
            <a:picLocks noChangeAspect="1"/>
          </p:cNvPicPr>
          <p:nvPr/>
        </p:nvPicPr>
        <p:blipFill>
          <a:blip r:embed="rId5"/>
          <a:stretch>
            <a:fillRect/>
          </a:stretch>
        </p:blipFill>
        <p:spPr>
          <a:xfrm>
            <a:off x="6257292" y="2611628"/>
            <a:ext cx="5523230" cy="35880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12</a:t>
            </a:r>
            <a:endParaRPr lang="en-US" sz="1200" dirty="0"/>
          </a:p>
        </p:txBody>
      </p:sp>
      <p:sp>
        <p:nvSpPr>
          <p:cNvPr id="32" name="Shape 13">
            <a:extLst>
              <a:ext uri="{FF2B5EF4-FFF2-40B4-BE49-F238E27FC236}">
                <a16:creationId xmlns:a16="http://schemas.microsoft.com/office/drawing/2014/main" id="{C1E6607E-3771-57AF-E243-A5BABAA2EAD6}"/>
              </a:ext>
            </a:extLst>
          </p:cNvPr>
          <p:cNvSpPr/>
          <p:nvPr/>
        </p:nvSpPr>
        <p:spPr>
          <a:xfrm>
            <a:off x="571500" y="517144"/>
            <a:ext cx="5412740" cy="1179576"/>
          </a:xfrm>
          <a:prstGeom prst="roundRect">
            <a:avLst>
              <a:gd name="adj" fmla="val 5581"/>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34" name="Shape 13">
            <a:extLst>
              <a:ext uri="{FF2B5EF4-FFF2-40B4-BE49-F238E27FC236}">
                <a16:creationId xmlns:a16="http://schemas.microsoft.com/office/drawing/2014/main" id="{0A2DC6CD-4570-2835-8791-A2A7843DC604}"/>
              </a:ext>
            </a:extLst>
          </p:cNvPr>
          <p:cNvSpPr/>
          <p:nvPr/>
        </p:nvSpPr>
        <p:spPr>
          <a:xfrm>
            <a:off x="6289040" y="517144"/>
            <a:ext cx="5427980" cy="1179576"/>
          </a:xfrm>
          <a:prstGeom prst="roundRect">
            <a:avLst>
              <a:gd name="adj" fmla="val 5581"/>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36" name="Text 16">
            <a:extLst>
              <a:ext uri="{FF2B5EF4-FFF2-40B4-BE49-F238E27FC236}">
                <a16:creationId xmlns:a16="http://schemas.microsoft.com/office/drawing/2014/main" id="{0B2E5371-C9BE-F2D6-984A-8AC119DBAB4E}"/>
              </a:ext>
            </a:extLst>
          </p:cNvPr>
          <p:cNvSpPr txBox="1"/>
          <p:nvPr/>
        </p:nvSpPr>
        <p:spPr>
          <a:xfrm>
            <a:off x="1797050" y="649224"/>
            <a:ext cx="2490470" cy="329184"/>
          </a:xfrm>
          <a:prstGeom prst="rect">
            <a:avLst/>
          </a:prstGeom>
          <a:noFill/>
          <a:ln/>
        </p:spPr>
        <p:txBody>
          <a:bodyPr wrap="square" lIns="0" tIns="0" rIns="0" bIns="0" rtlCol="0" anchor="ctr"/>
          <a:lstStyle/>
          <a:p>
            <a:pPr marL="0" indent="0">
              <a:buNone/>
            </a:pPr>
            <a:r>
              <a:rPr lang="en-US" sz="1700" b="1" dirty="0">
                <a:solidFill>
                  <a:srgbClr val="2A2523"/>
                </a:solidFill>
                <a:latin typeface="Arial" pitchFamily="34" charset="0"/>
                <a:ea typeface="Arial" pitchFamily="34" charset="-122"/>
                <a:cs typeface="Arial" pitchFamily="34" charset="-120"/>
              </a:rPr>
              <a:t>Department Analysis</a:t>
            </a:r>
            <a:endParaRPr lang="en-US" sz="1700" dirty="0"/>
          </a:p>
        </p:txBody>
      </p:sp>
      <p:sp>
        <p:nvSpPr>
          <p:cNvPr id="38" name="Text 17">
            <a:extLst>
              <a:ext uri="{FF2B5EF4-FFF2-40B4-BE49-F238E27FC236}">
                <a16:creationId xmlns:a16="http://schemas.microsoft.com/office/drawing/2014/main" id="{97BBB159-3709-ABD2-6EEA-855CE33CF73D}"/>
              </a:ext>
            </a:extLst>
          </p:cNvPr>
          <p:cNvSpPr txBox="1"/>
          <p:nvPr/>
        </p:nvSpPr>
        <p:spPr>
          <a:xfrm>
            <a:off x="693420" y="953008"/>
            <a:ext cx="5046980" cy="743712"/>
          </a:xfrm>
          <a:prstGeom prst="rect">
            <a:avLst/>
          </a:prstGeom>
          <a:noFill/>
          <a:ln/>
        </p:spPr>
        <p:txBody>
          <a:bodyPr wrap="square" lIns="0" tIns="0" rIns="0" bIns="0" rtlCol="0" anchor="ctr"/>
          <a:lstStyle/>
          <a:p>
            <a:pPr marL="0" indent="0">
              <a:lnSpc>
                <a:spcPts val="1700"/>
              </a:lnSpc>
              <a:buNone/>
            </a:pPr>
            <a:r>
              <a:rPr lang="en-US" sz="1400" dirty="0">
                <a:solidFill>
                  <a:srgbClr val="6E625C"/>
                </a:solidFill>
                <a:latin typeface="Calibri" pitchFamily="34" charset="0"/>
                <a:ea typeface="Calibri" pitchFamily="34" charset="-122"/>
                <a:cs typeface="Calibri" pitchFamily="34" charset="-120"/>
              </a:rPr>
              <a:t>Workload and performance compared across ten departments using volume, revenue, LOS, staff utilisation, bed occupancy and readmission.</a:t>
            </a:r>
            <a:endParaRPr lang="en-US" sz="1400" dirty="0"/>
          </a:p>
        </p:txBody>
      </p:sp>
      <p:sp>
        <p:nvSpPr>
          <p:cNvPr id="40" name="Text 21">
            <a:extLst>
              <a:ext uri="{FF2B5EF4-FFF2-40B4-BE49-F238E27FC236}">
                <a16:creationId xmlns:a16="http://schemas.microsoft.com/office/drawing/2014/main" id="{42261B29-909C-B58C-A4E0-B619C16AB83C}"/>
              </a:ext>
            </a:extLst>
          </p:cNvPr>
          <p:cNvSpPr txBox="1"/>
          <p:nvPr/>
        </p:nvSpPr>
        <p:spPr>
          <a:xfrm>
            <a:off x="8016240" y="624840"/>
            <a:ext cx="3931920" cy="329184"/>
          </a:xfrm>
          <a:prstGeom prst="rect">
            <a:avLst/>
          </a:prstGeom>
          <a:noFill/>
          <a:ln/>
        </p:spPr>
        <p:txBody>
          <a:bodyPr wrap="square" lIns="0" tIns="0" rIns="0" bIns="0" rtlCol="0" anchor="ctr"/>
          <a:lstStyle/>
          <a:p>
            <a:pPr marL="0" indent="0">
              <a:buNone/>
            </a:pPr>
            <a:r>
              <a:rPr lang="en-US" sz="1700" b="1" dirty="0">
                <a:solidFill>
                  <a:srgbClr val="2A2523"/>
                </a:solidFill>
                <a:latin typeface="Arial" pitchFamily="34" charset="0"/>
                <a:ea typeface="Arial" pitchFamily="34" charset="-122"/>
                <a:cs typeface="Arial" pitchFamily="34" charset="-120"/>
              </a:rPr>
              <a:t>Resource Utilization</a:t>
            </a:r>
            <a:endParaRPr lang="en-US" sz="1700" dirty="0"/>
          </a:p>
        </p:txBody>
      </p:sp>
      <p:sp>
        <p:nvSpPr>
          <p:cNvPr id="42" name="Text 22">
            <a:extLst>
              <a:ext uri="{FF2B5EF4-FFF2-40B4-BE49-F238E27FC236}">
                <a16:creationId xmlns:a16="http://schemas.microsoft.com/office/drawing/2014/main" id="{001B3493-1A66-5D7D-6316-5D23A19434C1}"/>
              </a:ext>
            </a:extLst>
          </p:cNvPr>
          <p:cNvSpPr txBox="1"/>
          <p:nvPr/>
        </p:nvSpPr>
        <p:spPr>
          <a:xfrm>
            <a:off x="6736080" y="908304"/>
            <a:ext cx="4884420" cy="736600"/>
          </a:xfrm>
          <a:prstGeom prst="rect">
            <a:avLst/>
          </a:prstGeom>
          <a:noFill/>
          <a:ln/>
        </p:spPr>
        <p:txBody>
          <a:bodyPr wrap="square" lIns="0" tIns="0" rIns="0" bIns="0" rtlCol="0" anchor="ctr"/>
          <a:lstStyle/>
          <a:p>
            <a:pPr marL="0" indent="0">
              <a:lnSpc>
                <a:spcPts val="1700"/>
              </a:lnSpc>
              <a:buNone/>
            </a:pPr>
            <a:r>
              <a:rPr lang="en-US" sz="1400" dirty="0">
                <a:solidFill>
                  <a:srgbClr val="6E625C"/>
                </a:solidFill>
                <a:latin typeface="Calibri" pitchFamily="34" charset="0"/>
                <a:ea typeface="Calibri" pitchFamily="34" charset="-122"/>
                <a:cs typeface="Calibri" pitchFamily="34" charset="-120"/>
              </a:rPr>
              <a:t>Whether beds, staff, ICU capacity and equipment are available and used effectively, combined with capacity and equipment status.</a:t>
            </a:r>
            <a:endParaRPr lang="en-US" sz="1400" dirty="0"/>
          </a:p>
        </p:txBody>
      </p:sp>
      <p:sp>
        <p:nvSpPr>
          <p:cNvPr id="44" name="Text 23">
            <a:extLst>
              <a:ext uri="{FF2B5EF4-FFF2-40B4-BE49-F238E27FC236}">
                <a16:creationId xmlns:a16="http://schemas.microsoft.com/office/drawing/2014/main" id="{6655529C-2C2D-5728-093F-0D0C24B39451}"/>
              </a:ext>
            </a:extLst>
          </p:cNvPr>
          <p:cNvSpPr txBox="1"/>
          <p:nvPr/>
        </p:nvSpPr>
        <p:spPr>
          <a:xfrm>
            <a:off x="2481072" y="6207760"/>
            <a:ext cx="10515600" cy="320040"/>
          </a:xfrm>
          <a:prstGeom prst="rect">
            <a:avLst/>
          </a:prstGeom>
          <a:noFill/>
          <a:ln/>
        </p:spPr>
        <p:txBody>
          <a:bodyPr wrap="square" lIns="0" tIns="0" rIns="0" bIns="0" rtlCol="0" anchor="ctr"/>
          <a:lstStyle/>
          <a:p>
            <a:pPr marL="0" indent="0">
              <a:buNone/>
            </a:pPr>
            <a:r>
              <a:rPr lang="en-US" sz="1350" i="1" dirty="0">
                <a:solidFill>
                  <a:srgbClr val="D9563C"/>
                </a:solidFill>
                <a:latin typeface="Calibri" pitchFamily="34" charset="0"/>
                <a:ea typeface="Calibri" pitchFamily="34" charset="-122"/>
                <a:cs typeface="Calibri" pitchFamily="34" charset="-120"/>
              </a:rPr>
              <a:t>All four dashboards share one cleaned dataset, consistent filters and cross-dashboard navigation.</a:t>
            </a:r>
            <a:endParaRPr lang="en-US" sz="1350" dirty="0"/>
          </a:p>
        </p:txBody>
      </p:sp>
      <p:pic>
        <p:nvPicPr>
          <p:cNvPr id="46" name="Picture 45">
            <a:extLst>
              <a:ext uri="{FF2B5EF4-FFF2-40B4-BE49-F238E27FC236}">
                <a16:creationId xmlns:a16="http://schemas.microsoft.com/office/drawing/2014/main" id="{3698C0B7-EE44-A16C-3BAD-07D700E0C881}"/>
              </a:ext>
            </a:extLst>
          </p:cNvPr>
          <p:cNvPicPr>
            <a:picLocks noChangeAspect="1"/>
          </p:cNvPicPr>
          <p:nvPr/>
        </p:nvPicPr>
        <p:blipFill>
          <a:blip r:embed="rId4"/>
          <a:stretch>
            <a:fillRect/>
          </a:stretch>
        </p:blipFill>
        <p:spPr>
          <a:xfrm>
            <a:off x="355602" y="2000504"/>
            <a:ext cx="5740398" cy="4068064"/>
          </a:xfrm>
          <a:prstGeom prst="rect">
            <a:avLst/>
          </a:prstGeom>
        </p:spPr>
      </p:pic>
      <p:pic>
        <p:nvPicPr>
          <p:cNvPr id="48" name="Picture 47">
            <a:extLst>
              <a:ext uri="{FF2B5EF4-FFF2-40B4-BE49-F238E27FC236}">
                <a16:creationId xmlns:a16="http://schemas.microsoft.com/office/drawing/2014/main" id="{D7546615-145F-4F31-4790-393268B96F77}"/>
              </a:ext>
            </a:extLst>
          </p:cNvPr>
          <p:cNvPicPr>
            <a:picLocks noChangeAspect="1"/>
          </p:cNvPicPr>
          <p:nvPr/>
        </p:nvPicPr>
        <p:blipFill>
          <a:blip r:embed="rId5"/>
          <a:stretch>
            <a:fillRect/>
          </a:stretch>
        </p:blipFill>
        <p:spPr>
          <a:xfrm>
            <a:off x="6207762" y="2000504"/>
            <a:ext cx="5740398" cy="40680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txBox="1"/>
          <p:nvPr/>
        </p:nvSpPr>
        <p:spPr>
          <a:xfrm>
            <a:off x="685800" y="658368"/>
            <a:ext cx="10241280" cy="566928"/>
          </a:xfrm>
          <a:prstGeom prst="rect">
            <a:avLst/>
          </a:prstGeom>
          <a:noFill/>
          <a:ln/>
        </p:spPr>
        <p:txBody>
          <a:bodyPr wrap="square" lIns="0" tIns="0" rIns="0" bIns="0" rtlCol="0" anchor="ctr"/>
          <a:lstStyle/>
          <a:p>
            <a:pPr marL="0" indent="0">
              <a:buNone/>
            </a:pPr>
            <a:r>
              <a:rPr lang="en-US" sz="3000" b="1" dirty="0">
                <a:solidFill>
                  <a:srgbClr val="2A2523"/>
                </a:solidFill>
                <a:latin typeface="Arial" pitchFamily="34" charset="0"/>
                <a:ea typeface="Arial" pitchFamily="34" charset="-122"/>
                <a:cs typeface="Arial" pitchFamily="34" charset="-120"/>
              </a:rPr>
              <a:t>Key Results &amp; Insights</a:t>
            </a:r>
            <a:endParaRPr lang="en-US" sz="3000" dirty="0"/>
          </a:p>
        </p:txBody>
      </p:sp>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13</a:t>
            </a:r>
            <a:endParaRPr lang="en-US" sz="1200" dirty="0"/>
          </a:p>
        </p:txBody>
      </p:sp>
      <p:sp>
        <p:nvSpPr>
          <p:cNvPr id="5" name="Shape 3"/>
          <p:cNvSpPr/>
          <p:nvPr/>
        </p:nvSpPr>
        <p:spPr>
          <a:xfrm>
            <a:off x="391160" y="1243584"/>
            <a:ext cx="5836920" cy="4901184"/>
          </a:xfrm>
          <a:prstGeom prst="roundRect">
            <a:avLst>
              <a:gd name="adj" fmla="val 2667"/>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0" name="TextBox 9">
            <a:extLst>
              <a:ext uri="{FF2B5EF4-FFF2-40B4-BE49-F238E27FC236}">
                <a16:creationId xmlns:a16="http://schemas.microsoft.com/office/drawing/2014/main" id="{182A2712-55CE-708A-49F6-5BCDCE602648}"/>
              </a:ext>
            </a:extLst>
          </p:cNvPr>
          <p:cNvSpPr txBox="1"/>
          <p:nvPr/>
        </p:nvSpPr>
        <p:spPr>
          <a:xfrm>
            <a:off x="391160" y="1394556"/>
            <a:ext cx="5704840" cy="4801314"/>
          </a:xfrm>
          <a:prstGeom prst="rect">
            <a:avLst/>
          </a:prstGeom>
          <a:noFill/>
        </p:spPr>
        <p:txBody>
          <a:bodyPr wrap="square" rtlCol="0">
            <a:spAutoFit/>
          </a:bodyPr>
          <a:lstStyle/>
          <a:p>
            <a:pPr marL="285750" lvl="0" indent="-285750">
              <a:lnSpc>
                <a:spcPct val="150000"/>
              </a:lnSpc>
              <a:buFont typeface="Wingdings" panose="05000000000000000000" pitchFamily="2" charset="2"/>
              <a:buChar char="q"/>
            </a:pPr>
            <a:r>
              <a:rPr lang="en-IN" sz="1600" b="1" dirty="0"/>
              <a:t>Severe Equipment Backlog:</a:t>
            </a:r>
            <a:r>
              <a:rPr lang="en-IN" sz="1600" dirty="0"/>
              <a:t> Exactly 50% of all medical equipment (3,360 units) is currently down for maintenance, matching the exact number of units in use.</a:t>
            </a:r>
          </a:p>
          <a:p>
            <a:pPr marL="285750" lvl="0" indent="-285750">
              <a:lnSpc>
                <a:spcPct val="150000"/>
              </a:lnSpc>
              <a:buFont typeface="Wingdings" panose="05000000000000000000" pitchFamily="2" charset="2"/>
              <a:buChar char="q"/>
            </a:pPr>
            <a:r>
              <a:rPr lang="en-IN" sz="1600" b="1" dirty="0"/>
              <a:t>Critical Readmission Rate:</a:t>
            </a:r>
            <a:r>
              <a:rPr lang="en-IN" sz="1600" dirty="0"/>
              <a:t> Nearly 50% of patients are readmitted, strongly linked to our 65+ demographic and their extended average length of stay (79 days).</a:t>
            </a:r>
          </a:p>
          <a:p>
            <a:pPr marL="285750" lvl="0" indent="-285750">
              <a:lnSpc>
                <a:spcPct val="150000"/>
              </a:lnSpc>
              <a:buFont typeface="Wingdings" panose="05000000000000000000" pitchFamily="2" charset="2"/>
              <a:buChar char="q"/>
            </a:pPr>
            <a:r>
              <a:rPr lang="en-IN" sz="1600" b="1" dirty="0"/>
              <a:t>The "Staff vs. Space" Paradox:</a:t>
            </a:r>
            <a:r>
              <a:rPr lang="en-IN" sz="1600" dirty="0"/>
              <a:t> The hospital has excess physical capacity (only 36.7% Bed Utilization) but faces severe workforce strain (57.9% overall Staff Utilization).</a:t>
            </a:r>
          </a:p>
          <a:p>
            <a:pPr marL="285750" lvl="0" indent="-285750">
              <a:lnSpc>
                <a:spcPct val="150000"/>
              </a:lnSpc>
              <a:buFont typeface="Wingdings" panose="05000000000000000000" pitchFamily="2" charset="2"/>
              <a:buChar char="q"/>
            </a:pPr>
            <a:r>
              <a:rPr lang="en-IN" sz="1600" b="1" dirty="0"/>
              <a:t>ICU &amp; Neurology Overload:</a:t>
            </a:r>
            <a:r>
              <a:rPr lang="en-IN" sz="1600" dirty="0"/>
              <a:t> These two departments absorb the vast majority of internal patient transfers, leading to massive spikes in localized staff burnout.</a:t>
            </a:r>
          </a:p>
          <a:p>
            <a:endParaRPr lang="en-IN" dirty="0"/>
          </a:p>
        </p:txBody>
      </p:sp>
      <p:sp>
        <p:nvSpPr>
          <p:cNvPr id="12" name="Shape 3">
            <a:extLst>
              <a:ext uri="{FF2B5EF4-FFF2-40B4-BE49-F238E27FC236}">
                <a16:creationId xmlns:a16="http://schemas.microsoft.com/office/drawing/2014/main" id="{C131DDA5-98B2-62E0-B219-937A4A49FF84}"/>
              </a:ext>
            </a:extLst>
          </p:cNvPr>
          <p:cNvSpPr/>
          <p:nvPr/>
        </p:nvSpPr>
        <p:spPr>
          <a:xfrm>
            <a:off x="6522720" y="1243584"/>
            <a:ext cx="5389880" cy="4901184"/>
          </a:xfrm>
          <a:prstGeom prst="roundRect">
            <a:avLst>
              <a:gd name="adj" fmla="val 2667"/>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3" name="TextBox 12">
            <a:extLst>
              <a:ext uri="{FF2B5EF4-FFF2-40B4-BE49-F238E27FC236}">
                <a16:creationId xmlns:a16="http://schemas.microsoft.com/office/drawing/2014/main" id="{C87DA131-40CA-AD10-EBDE-B9A85AC0F28C}"/>
              </a:ext>
            </a:extLst>
          </p:cNvPr>
          <p:cNvSpPr txBox="1"/>
          <p:nvPr/>
        </p:nvSpPr>
        <p:spPr>
          <a:xfrm>
            <a:off x="6725920" y="1473200"/>
            <a:ext cx="4958080" cy="4308872"/>
          </a:xfrm>
          <a:prstGeom prst="rect">
            <a:avLst/>
          </a:prstGeom>
          <a:noFill/>
        </p:spPr>
        <p:txBody>
          <a:bodyPr wrap="square" rtlCol="0">
            <a:spAutoFit/>
          </a:bodyPr>
          <a:lstStyle/>
          <a:p>
            <a:r>
              <a:rPr lang="en-IN" sz="2000" b="1" dirty="0">
                <a:solidFill>
                  <a:schemeClr val="accent2">
                    <a:lumMod val="75000"/>
                  </a:schemeClr>
                </a:solidFill>
              </a:rPr>
              <a:t>Strategic Recommendations</a:t>
            </a:r>
          </a:p>
          <a:p>
            <a:endParaRPr lang="en-IN" sz="2000" b="1" dirty="0"/>
          </a:p>
          <a:p>
            <a:pPr marL="285750" lvl="0" indent="-285750">
              <a:lnSpc>
                <a:spcPct val="150000"/>
              </a:lnSpc>
              <a:buFont typeface="Wingdings" panose="05000000000000000000" pitchFamily="2" charset="2"/>
              <a:buChar char="q"/>
            </a:pPr>
            <a:r>
              <a:rPr lang="en-IN" sz="1600" b="1" dirty="0"/>
              <a:t>Asset Management:</a:t>
            </a:r>
            <a:r>
              <a:rPr lang="en-IN" sz="1600" dirty="0"/>
              <a:t> Launch an immediate audit of the equipment repair pipeline to bring offline assets back into use.</a:t>
            </a:r>
          </a:p>
          <a:p>
            <a:pPr marL="285750" lvl="0" indent="-285750">
              <a:lnSpc>
                <a:spcPct val="150000"/>
              </a:lnSpc>
              <a:buFont typeface="Wingdings" panose="05000000000000000000" pitchFamily="2" charset="2"/>
              <a:buChar char="q"/>
            </a:pPr>
            <a:r>
              <a:rPr lang="en-IN" sz="1600" b="1" dirty="0"/>
              <a:t>Staff Rebalancing:</a:t>
            </a:r>
            <a:r>
              <a:rPr lang="en-IN" sz="1600" dirty="0"/>
              <a:t> Reallocate workforce resources to relieve the highly stressed ICU and Psychiatry departments.</a:t>
            </a:r>
          </a:p>
          <a:p>
            <a:pPr marL="285750" lvl="0" indent="-285750">
              <a:lnSpc>
                <a:spcPct val="150000"/>
              </a:lnSpc>
              <a:buFont typeface="Wingdings" panose="05000000000000000000" pitchFamily="2" charset="2"/>
              <a:buChar char="q"/>
            </a:pPr>
            <a:r>
              <a:rPr lang="en-IN" sz="1600" b="1" dirty="0"/>
              <a:t>Post-Discharge Care:</a:t>
            </a:r>
            <a:r>
              <a:rPr lang="en-IN" sz="1600" dirty="0"/>
              <a:t> Improve post-discharge protocols specifically for the vulnerable 65+ age group to lower the 50% readmission rate.</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txBox="1"/>
          <p:nvPr/>
        </p:nvSpPr>
        <p:spPr>
          <a:xfrm>
            <a:off x="685800" y="658368"/>
            <a:ext cx="10241280" cy="566928"/>
          </a:xfrm>
          <a:prstGeom prst="rect">
            <a:avLst/>
          </a:prstGeom>
          <a:noFill/>
          <a:ln/>
        </p:spPr>
        <p:txBody>
          <a:bodyPr wrap="square" lIns="0" tIns="0" rIns="0" bIns="0" rtlCol="0" anchor="ctr"/>
          <a:lstStyle/>
          <a:p>
            <a:pPr marL="0" indent="0">
              <a:buNone/>
            </a:pPr>
            <a:r>
              <a:rPr lang="en-US" sz="3000" b="1" dirty="0">
                <a:solidFill>
                  <a:srgbClr val="2A2523"/>
                </a:solidFill>
                <a:latin typeface="Arial" pitchFamily="34" charset="0"/>
                <a:ea typeface="Arial" pitchFamily="34" charset="-122"/>
                <a:cs typeface="Arial" pitchFamily="34" charset="-120"/>
              </a:rPr>
              <a:t>Testing, Challenges &amp; Learning</a:t>
            </a:r>
            <a:endParaRPr lang="en-US" sz="3000" dirty="0"/>
          </a:p>
        </p:txBody>
      </p:sp>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14</a:t>
            </a:r>
            <a:endParaRPr lang="en-US" sz="1200" dirty="0"/>
          </a:p>
        </p:txBody>
      </p:sp>
      <p:sp>
        <p:nvSpPr>
          <p:cNvPr id="5" name="Shape 3"/>
          <p:cNvSpPr/>
          <p:nvPr/>
        </p:nvSpPr>
        <p:spPr>
          <a:xfrm>
            <a:off x="685800" y="1572768"/>
            <a:ext cx="3456432" cy="4114800"/>
          </a:xfrm>
          <a:prstGeom prst="roundRect">
            <a:avLst>
              <a:gd name="adj" fmla="val 3175"/>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6" name="Text 4"/>
          <p:cNvSpPr txBox="1"/>
          <p:nvPr/>
        </p:nvSpPr>
        <p:spPr>
          <a:xfrm>
            <a:off x="960120" y="1810512"/>
            <a:ext cx="2926080" cy="292608"/>
          </a:xfrm>
          <a:prstGeom prst="rect">
            <a:avLst/>
          </a:prstGeom>
          <a:noFill/>
          <a:ln/>
        </p:spPr>
        <p:txBody>
          <a:bodyPr wrap="square" lIns="0" tIns="0" rIns="0" bIns="0" rtlCol="0" anchor="ctr"/>
          <a:lstStyle/>
          <a:p>
            <a:pPr marL="0" indent="0">
              <a:buNone/>
            </a:pPr>
            <a:r>
              <a:rPr lang="en-US" sz="1600" b="1" dirty="0">
                <a:solidFill>
                  <a:srgbClr val="D9563C"/>
                </a:solidFill>
                <a:latin typeface="Arial" pitchFamily="34" charset="0"/>
                <a:ea typeface="Arial" pitchFamily="34" charset="-122"/>
                <a:cs typeface="Arial" pitchFamily="34" charset="-120"/>
              </a:rPr>
              <a:t>Testing &amp; QA</a:t>
            </a:r>
            <a:endParaRPr lang="en-US" sz="1600" dirty="0"/>
          </a:p>
        </p:txBody>
      </p:sp>
      <p:sp>
        <p:nvSpPr>
          <p:cNvPr id="7" name="Text 5"/>
          <p:cNvSpPr txBox="1"/>
          <p:nvPr/>
        </p:nvSpPr>
        <p:spPr>
          <a:xfrm>
            <a:off x="960120" y="2212848"/>
            <a:ext cx="2926080" cy="685800"/>
          </a:xfrm>
          <a:prstGeom prst="rect">
            <a:avLst/>
          </a:prstGeom>
          <a:noFill/>
          <a:ln/>
        </p:spPr>
        <p:txBody>
          <a:bodyPr wrap="square" lIns="0" tIns="0" rIns="0" bIns="0" rtlCol="0" anchor="ctr"/>
          <a:lstStyle/>
          <a:p>
            <a:pPr marL="0" indent="0">
              <a:buNone/>
            </a:pPr>
            <a:r>
              <a:rPr lang="en-US" sz="4000" b="1" dirty="0">
                <a:solidFill>
                  <a:srgbClr val="2A2523"/>
                </a:solidFill>
                <a:latin typeface="Arial" pitchFamily="34" charset="0"/>
                <a:ea typeface="Arial" pitchFamily="34" charset="-122"/>
                <a:cs typeface="Arial" pitchFamily="34" charset="-120"/>
              </a:rPr>
              <a:t>97.5%</a:t>
            </a:r>
            <a:endParaRPr lang="en-US" sz="4000" dirty="0"/>
          </a:p>
        </p:txBody>
      </p:sp>
      <p:sp>
        <p:nvSpPr>
          <p:cNvPr id="8" name="Text 6"/>
          <p:cNvSpPr txBox="1"/>
          <p:nvPr/>
        </p:nvSpPr>
        <p:spPr>
          <a:xfrm>
            <a:off x="987552" y="2907792"/>
            <a:ext cx="2926080" cy="256032"/>
          </a:xfrm>
          <a:prstGeom prst="rect">
            <a:avLst/>
          </a:prstGeom>
          <a:noFill/>
          <a:ln/>
        </p:spPr>
        <p:txBody>
          <a:bodyPr wrap="square" lIns="0" tIns="0" rIns="0" bIns="0" rtlCol="0" anchor="ctr"/>
          <a:lstStyle/>
          <a:p>
            <a:pPr marL="0" indent="0">
              <a:buNone/>
            </a:pPr>
            <a:r>
              <a:rPr lang="en-US" sz="1100" b="1" kern="0" spc="160" dirty="0">
                <a:solidFill>
                  <a:srgbClr val="6E625C"/>
                </a:solidFill>
                <a:latin typeface="Calibri" pitchFamily="34" charset="0"/>
                <a:ea typeface="Calibri" pitchFamily="34" charset="-122"/>
                <a:cs typeface="Calibri" pitchFamily="34" charset="-120"/>
              </a:rPr>
              <a:t>PASS RATE</a:t>
            </a:r>
            <a:endParaRPr lang="en-US" sz="1100" dirty="0"/>
          </a:p>
        </p:txBody>
      </p:sp>
      <p:sp>
        <p:nvSpPr>
          <p:cNvPr id="9" name="Text 7"/>
          <p:cNvSpPr txBox="1"/>
          <p:nvPr/>
        </p:nvSpPr>
        <p:spPr>
          <a:xfrm>
            <a:off x="960120" y="3346704"/>
            <a:ext cx="2926080" cy="210312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40 test cases executed, 39 passed</a:t>
            </a:r>
            <a:endParaRPr lang="en-US" sz="1400" dirty="0">
              <a:solidFill>
                <a:schemeClr val="tx1">
                  <a:lumMod val="95000"/>
                  <a:lumOff val="5000"/>
                </a:schemeClr>
              </a:solidFill>
            </a:endParaRPr>
          </a:p>
          <a:p>
            <a:pPr marL="342900" indent="-342900">
              <a:lnSpc>
                <a:spcPts val="1500"/>
              </a:lnSpc>
              <a:spcAft>
                <a:spcPts val="9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Zero major issues recorded</a:t>
            </a:r>
            <a:endParaRPr lang="en-US" sz="1400" dirty="0">
              <a:solidFill>
                <a:schemeClr val="tx1">
                  <a:lumMod val="95000"/>
                  <a:lumOff val="5000"/>
                </a:schemeClr>
              </a:solidFill>
            </a:endParaRPr>
          </a:p>
          <a:p>
            <a:pPr marL="342900" indent="-342900">
              <a:lnSpc>
                <a:spcPts val="1500"/>
              </a:lnSpc>
              <a:spcAft>
                <a:spcPts val="9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Filters, navigation and cross-filtering tested</a:t>
            </a:r>
            <a:endParaRPr lang="en-US" sz="1400" dirty="0">
              <a:solidFill>
                <a:schemeClr val="tx1">
                  <a:lumMod val="95000"/>
                  <a:lumOff val="5000"/>
                </a:schemeClr>
              </a:solidFill>
            </a:endParaRPr>
          </a:p>
          <a:p>
            <a:pPr marL="342900" indent="-342900">
              <a:lnSpc>
                <a:spcPts val="1500"/>
              </a:lnSpc>
              <a:spcAft>
                <a:spcPts val="9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Tableau values compared with Pandas</a:t>
            </a:r>
            <a:endParaRPr lang="en-US" sz="1400" dirty="0">
              <a:solidFill>
                <a:schemeClr val="tx1">
                  <a:lumMod val="95000"/>
                  <a:lumOff val="5000"/>
                </a:schemeClr>
              </a:solidFill>
            </a:endParaRPr>
          </a:p>
          <a:p>
            <a:pPr marL="342900" indent="-342900">
              <a:lnSpc>
                <a:spcPts val="1500"/>
              </a:lnSpc>
              <a:spcAft>
                <a:spcPts val="9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One open item: Total Inventory KPI definition</a:t>
            </a:r>
            <a:endParaRPr lang="en-US" sz="1400" dirty="0">
              <a:solidFill>
                <a:schemeClr val="tx1">
                  <a:lumMod val="95000"/>
                  <a:lumOff val="5000"/>
                </a:schemeClr>
              </a:solidFill>
            </a:endParaRPr>
          </a:p>
        </p:txBody>
      </p:sp>
      <p:sp>
        <p:nvSpPr>
          <p:cNvPr id="10" name="Shape 8"/>
          <p:cNvSpPr/>
          <p:nvPr/>
        </p:nvSpPr>
        <p:spPr>
          <a:xfrm>
            <a:off x="4343400" y="1572768"/>
            <a:ext cx="3456432" cy="4114800"/>
          </a:xfrm>
          <a:prstGeom prst="roundRect">
            <a:avLst>
              <a:gd name="adj" fmla="val 3175"/>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11" name="Text 9"/>
          <p:cNvSpPr txBox="1"/>
          <p:nvPr/>
        </p:nvSpPr>
        <p:spPr>
          <a:xfrm>
            <a:off x="4617720" y="1810512"/>
            <a:ext cx="2926080" cy="292608"/>
          </a:xfrm>
          <a:prstGeom prst="rect">
            <a:avLst/>
          </a:prstGeom>
          <a:noFill/>
          <a:ln/>
        </p:spPr>
        <p:txBody>
          <a:bodyPr wrap="square" lIns="0" tIns="0" rIns="0" bIns="0" rtlCol="0" anchor="ctr"/>
          <a:lstStyle/>
          <a:p>
            <a:pPr marL="0" indent="0">
              <a:buNone/>
            </a:pPr>
            <a:r>
              <a:rPr lang="en-US" sz="1600" b="1" dirty="0">
                <a:solidFill>
                  <a:srgbClr val="D9563C"/>
                </a:solidFill>
                <a:latin typeface="Arial" pitchFamily="34" charset="0"/>
                <a:ea typeface="Arial" pitchFamily="34" charset="-122"/>
                <a:cs typeface="Arial" pitchFamily="34" charset="-120"/>
              </a:rPr>
              <a:t>Challenges faced</a:t>
            </a:r>
            <a:endParaRPr lang="en-US" sz="1600" dirty="0"/>
          </a:p>
        </p:txBody>
      </p:sp>
      <p:sp>
        <p:nvSpPr>
          <p:cNvPr id="18" name="Shape 16"/>
          <p:cNvSpPr/>
          <p:nvPr/>
        </p:nvSpPr>
        <p:spPr>
          <a:xfrm>
            <a:off x="7962392" y="1572768"/>
            <a:ext cx="3456432" cy="4114800"/>
          </a:xfrm>
          <a:prstGeom prst="roundRect">
            <a:avLst>
              <a:gd name="adj" fmla="val 3175"/>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19" name="Text 17"/>
          <p:cNvSpPr txBox="1"/>
          <p:nvPr/>
        </p:nvSpPr>
        <p:spPr>
          <a:xfrm>
            <a:off x="8227568" y="1669968"/>
            <a:ext cx="2926080" cy="292608"/>
          </a:xfrm>
          <a:prstGeom prst="rect">
            <a:avLst/>
          </a:prstGeom>
          <a:noFill/>
          <a:ln/>
        </p:spPr>
        <p:txBody>
          <a:bodyPr wrap="square" lIns="0" tIns="0" rIns="0" bIns="0" rtlCol="0" anchor="ctr"/>
          <a:lstStyle/>
          <a:p>
            <a:pPr marL="0" indent="0">
              <a:buNone/>
            </a:pPr>
            <a:r>
              <a:rPr lang="en-US" sz="1600" b="1" dirty="0">
                <a:solidFill>
                  <a:srgbClr val="D9563C"/>
                </a:solidFill>
                <a:latin typeface="Arial" pitchFamily="34" charset="0"/>
                <a:ea typeface="Arial" pitchFamily="34" charset="-122"/>
                <a:cs typeface="Arial" pitchFamily="34" charset="-120"/>
              </a:rPr>
              <a:t>Skills learned</a:t>
            </a:r>
            <a:endParaRPr lang="en-US" sz="1600" dirty="0"/>
          </a:p>
        </p:txBody>
      </p:sp>
      <p:sp>
        <p:nvSpPr>
          <p:cNvPr id="24" name="Text 22"/>
          <p:cNvSpPr txBox="1"/>
          <p:nvPr/>
        </p:nvSpPr>
        <p:spPr>
          <a:xfrm>
            <a:off x="8228584" y="4514749"/>
            <a:ext cx="3190240" cy="381346"/>
          </a:xfrm>
          <a:prstGeom prst="rect">
            <a:avLst/>
          </a:prstGeom>
          <a:noFill/>
          <a:ln/>
        </p:spPr>
        <p:txBody>
          <a:bodyPr wrap="square" lIns="0" tIns="0" rIns="0" bIns="0" rtlCol="0" anchor="ctr"/>
          <a:lstStyle/>
          <a:p>
            <a:pPr marL="0" indent="0">
              <a:buNone/>
            </a:pPr>
            <a:r>
              <a:rPr lang="en-US" sz="1400" b="1" dirty="0">
                <a:solidFill>
                  <a:srgbClr val="2A2523"/>
                </a:solidFill>
                <a:latin typeface="Arial" pitchFamily="34" charset="0"/>
                <a:ea typeface="Arial" pitchFamily="34" charset="-122"/>
                <a:cs typeface="Arial" pitchFamily="34" charset="-120"/>
              </a:rPr>
              <a:t>Tableau Dashboard design &amp; QA</a:t>
            </a:r>
            <a:endParaRPr lang="en-US" sz="1400" dirty="0"/>
          </a:p>
        </p:txBody>
      </p:sp>
      <p:sp>
        <p:nvSpPr>
          <p:cNvPr id="25" name="Text 23"/>
          <p:cNvSpPr txBox="1"/>
          <p:nvPr/>
        </p:nvSpPr>
        <p:spPr>
          <a:xfrm>
            <a:off x="8305800" y="4807875"/>
            <a:ext cx="2926080" cy="777240"/>
          </a:xfrm>
          <a:prstGeom prst="rect">
            <a:avLst/>
          </a:prstGeom>
          <a:noFill/>
          <a:ln/>
        </p:spPr>
        <p:txBody>
          <a:bodyPr wrap="square" lIns="0" tIns="0" rIns="0" bIns="0" rtlCol="0" anchor="ctr"/>
          <a:lstStyle/>
          <a:p>
            <a:pPr marL="0" indent="0">
              <a:lnSpc>
                <a:spcPts val="1500"/>
              </a:lnSpc>
              <a:buNone/>
            </a:pPr>
            <a:r>
              <a:rPr lang="en-US" sz="1600" dirty="0">
                <a:solidFill>
                  <a:srgbClr val="5B4F49"/>
                </a:solidFill>
                <a:latin typeface="Calibri" pitchFamily="34" charset="0"/>
                <a:ea typeface="Calibri" pitchFamily="34" charset="-122"/>
                <a:cs typeface="Calibri" pitchFamily="34" charset="-120"/>
              </a:rPr>
              <a:t>Consistent filters, navigation and structured test cases before delivery.</a:t>
            </a:r>
            <a:endParaRPr lang="en-US" sz="1600" dirty="0"/>
          </a:p>
        </p:txBody>
      </p:sp>
      <p:sp>
        <p:nvSpPr>
          <p:cNvPr id="26" name="TextBox 25">
            <a:extLst>
              <a:ext uri="{FF2B5EF4-FFF2-40B4-BE49-F238E27FC236}">
                <a16:creationId xmlns:a16="http://schemas.microsoft.com/office/drawing/2014/main" id="{7854F197-48FB-86AE-B8CC-311BDABFBD13}"/>
              </a:ext>
            </a:extLst>
          </p:cNvPr>
          <p:cNvSpPr txBox="1"/>
          <p:nvPr/>
        </p:nvSpPr>
        <p:spPr>
          <a:xfrm>
            <a:off x="8173720" y="2028616"/>
            <a:ext cx="3190240" cy="2800767"/>
          </a:xfrm>
          <a:prstGeom prst="rect">
            <a:avLst/>
          </a:prstGeom>
          <a:noFill/>
        </p:spPr>
        <p:txBody>
          <a:bodyPr wrap="square" rtlCol="0">
            <a:spAutoFit/>
          </a:bodyPr>
          <a:lstStyle/>
          <a:p>
            <a:pPr lvl="0"/>
            <a:r>
              <a:rPr lang="en-IN" sz="1600" b="1" dirty="0"/>
              <a:t>Data Storytelling over Simple Reporting:</a:t>
            </a:r>
            <a:r>
              <a:rPr lang="en-IN" sz="1600" dirty="0"/>
              <a:t> Learned to look beyond the numbers to find the business problem</a:t>
            </a:r>
          </a:p>
          <a:p>
            <a:pPr lvl="0"/>
            <a:endParaRPr lang="en-IN" sz="1600" dirty="0"/>
          </a:p>
          <a:p>
            <a:pPr lvl="0"/>
            <a:r>
              <a:rPr lang="en-IN" sz="1600" b="1" dirty="0"/>
              <a:t>Advanced Dashboard Design:</a:t>
            </a:r>
            <a:r>
              <a:rPr lang="en-IN" sz="1600" dirty="0"/>
              <a:t> Improved technical skills in UI layout, dual-axis charts, and directing the user's eye to urgent warning metrics.</a:t>
            </a:r>
          </a:p>
          <a:p>
            <a:endParaRPr lang="en-IN" sz="1600" dirty="0"/>
          </a:p>
        </p:txBody>
      </p:sp>
      <p:sp>
        <p:nvSpPr>
          <p:cNvPr id="27" name="TextBox 26">
            <a:extLst>
              <a:ext uri="{FF2B5EF4-FFF2-40B4-BE49-F238E27FC236}">
                <a16:creationId xmlns:a16="http://schemas.microsoft.com/office/drawing/2014/main" id="{E7B0A392-C717-38E7-D9C5-C2D984BD628E}"/>
              </a:ext>
            </a:extLst>
          </p:cNvPr>
          <p:cNvSpPr txBox="1"/>
          <p:nvPr/>
        </p:nvSpPr>
        <p:spPr>
          <a:xfrm>
            <a:off x="4460240" y="2212848"/>
            <a:ext cx="3339592" cy="3570208"/>
          </a:xfrm>
          <a:prstGeom prst="rect">
            <a:avLst/>
          </a:prstGeom>
          <a:noFill/>
        </p:spPr>
        <p:txBody>
          <a:bodyPr wrap="square" rtlCol="0">
            <a:spAutoFit/>
          </a:bodyPr>
          <a:lstStyle/>
          <a:p>
            <a:pPr marL="285750" lvl="0" indent="-285750">
              <a:buFont typeface="Arial" panose="020B0604020202020204" pitchFamily="34" charset="0"/>
              <a:buChar char="•"/>
            </a:pPr>
            <a:r>
              <a:rPr lang="en-IN" sz="1600" b="1" dirty="0"/>
              <a:t>Complex KPI Logic:</a:t>
            </a:r>
            <a:r>
              <a:rPr lang="en-IN" sz="1600" dirty="0"/>
              <a:t> Validated the math behind the 49.87% readmission rate to ensure repeat patients were tracked correctly, not just counted as new.</a:t>
            </a:r>
          </a:p>
          <a:p>
            <a:pPr marL="285750" lvl="0" indent="-285750">
              <a:buFont typeface="Arial" panose="020B0604020202020204" pitchFamily="34" charset="0"/>
              <a:buChar char="•"/>
            </a:pPr>
            <a:r>
              <a:rPr lang="en-IN" sz="1600" b="1" dirty="0"/>
              <a:t>Data Duplication Risks:</a:t>
            </a:r>
            <a:r>
              <a:rPr lang="en-IN" sz="1600" dirty="0"/>
              <a:t> Monitored total row counts during dataset joins to ensure top-level metrics </a:t>
            </a:r>
            <a:r>
              <a:rPr lang="en-IN" sz="1600" b="1" dirty="0"/>
              <a:t>Performance Optimization:</a:t>
            </a:r>
            <a:r>
              <a:rPr lang="en-IN" sz="1600" dirty="0"/>
              <a:t> Optimized data extraction and interactive elements to ensure the dashboards loaded smoothly during a live presentation.</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txBox="1"/>
          <p:nvPr/>
        </p:nvSpPr>
        <p:spPr>
          <a:xfrm>
            <a:off x="685800" y="658368"/>
            <a:ext cx="10241280" cy="566928"/>
          </a:xfrm>
          <a:prstGeom prst="rect">
            <a:avLst/>
          </a:prstGeom>
          <a:noFill/>
          <a:ln/>
        </p:spPr>
        <p:txBody>
          <a:bodyPr wrap="square" lIns="0" tIns="0" rIns="0" bIns="0" rtlCol="0" anchor="ctr"/>
          <a:lstStyle/>
          <a:p>
            <a:pPr marL="0" indent="0">
              <a:buNone/>
            </a:pPr>
            <a:r>
              <a:rPr lang="en-US" sz="3000" b="1" dirty="0">
                <a:solidFill>
                  <a:srgbClr val="2A2523"/>
                </a:solidFill>
                <a:latin typeface="Arial" pitchFamily="34" charset="0"/>
                <a:ea typeface="Arial" pitchFamily="34" charset="-122"/>
                <a:cs typeface="Arial" pitchFamily="34" charset="-120"/>
              </a:rPr>
              <a:t>Conclusion &amp; Future Scope</a:t>
            </a:r>
            <a:endParaRPr lang="en-US" sz="3000" dirty="0"/>
          </a:p>
        </p:txBody>
      </p:sp>
      <p:sp>
        <p:nvSpPr>
          <p:cNvPr id="4" name="Text 2"/>
          <p:cNvSpPr txBox="1"/>
          <p:nvPr/>
        </p:nvSpPr>
        <p:spPr>
          <a:xfrm>
            <a:off x="10972800" y="6144768"/>
            <a:ext cx="548640" cy="274320"/>
          </a:xfrm>
          <a:prstGeom prst="rect">
            <a:avLst/>
          </a:prstGeom>
          <a:noFill/>
          <a:ln/>
        </p:spPr>
        <p:txBody>
          <a:bodyPr wrap="square" lIns="0" tIns="0" rIns="0" bIns="0" rtlCol="0" anchor="ctr"/>
          <a:lstStyle/>
          <a:p>
            <a:pPr marL="0" indent="0" algn="r">
              <a:buNone/>
            </a:pPr>
            <a:r>
              <a:rPr lang="en-US" sz="1200" b="1" dirty="0">
                <a:solidFill>
                  <a:srgbClr val="F7C9B9"/>
                </a:solidFill>
                <a:latin typeface="Calibri" pitchFamily="34" charset="0"/>
                <a:ea typeface="Calibri" pitchFamily="34" charset="-122"/>
                <a:cs typeface="Calibri" pitchFamily="34" charset="-120"/>
              </a:rPr>
              <a:t>15</a:t>
            </a:r>
            <a:endParaRPr lang="en-US" sz="1200" dirty="0"/>
          </a:p>
        </p:txBody>
      </p:sp>
      <p:sp>
        <p:nvSpPr>
          <p:cNvPr id="5" name="Shape 3"/>
          <p:cNvSpPr/>
          <p:nvPr/>
        </p:nvSpPr>
        <p:spPr>
          <a:xfrm>
            <a:off x="685800" y="1536192"/>
            <a:ext cx="5669280" cy="2880360"/>
          </a:xfrm>
          <a:prstGeom prst="roundRect">
            <a:avLst>
              <a:gd name="adj" fmla="val 3810"/>
            </a:avLst>
          </a:prstGeom>
          <a:solidFill>
            <a:srgbClr val="FFFFFF"/>
          </a:solidFill>
          <a:ln w="12700">
            <a:solidFill>
              <a:srgbClr val="F6DCD2"/>
            </a:solidFill>
            <a:prstDash val="solid"/>
          </a:ln>
          <a:effectLst>
            <a:outerShdw blurRad="127000" dist="25400" dir="5400000" algn="bl" rotWithShape="0">
              <a:srgbClr val="C08772">
                <a:alpha val="22000"/>
              </a:srgbClr>
            </a:outerShdw>
          </a:effectLst>
        </p:spPr>
      </p:sp>
      <p:sp>
        <p:nvSpPr>
          <p:cNvPr id="6" name="Text 4"/>
          <p:cNvSpPr txBox="1"/>
          <p:nvPr/>
        </p:nvSpPr>
        <p:spPr>
          <a:xfrm>
            <a:off x="960120" y="1773936"/>
            <a:ext cx="5120640" cy="292608"/>
          </a:xfrm>
          <a:prstGeom prst="rect">
            <a:avLst/>
          </a:prstGeom>
          <a:noFill/>
          <a:ln/>
        </p:spPr>
        <p:txBody>
          <a:bodyPr wrap="square" lIns="0" tIns="0" rIns="0" bIns="0" rtlCol="0" anchor="ctr"/>
          <a:lstStyle/>
          <a:p>
            <a:pPr marL="0" indent="0">
              <a:buNone/>
            </a:pPr>
            <a:r>
              <a:rPr lang="en-US" sz="1600" b="1" dirty="0">
                <a:solidFill>
                  <a:srgbClr val="D9563C"/>
                </a:solidFill>
                <a:latin typeface="Arial" pitchFamily="34" charset="0"/>
                <a:ea typeface="Arial" pitchFamily="34" charset="-122"/>
                <a:cs typeface="Arial" pitchFamily="34" charset="-120"/>
              </a:rPr>
              <a:t>Conclusion</a:t>
            </a:r>
            <a:endParaRPr lang="en-US" sz="1600" dirty="0"/>
          </a:p>
        </p:txBody>
      </p:sp>
      <p:sp>
        <p:nvSpPr>
          <p:cNvPr id="7" name="Text 5"/>
          <p:cNvSpPr txBox="1"/>
          <p:nvPr/>
        </p:nvSpPr>
        <p:spPr>
          <a:xfrm>
            <a:off x="960120" y="2194560"/>
            <a:ext cx="5120640" cy="2011680"/>
          </a:xfrm>
          <a:prstGeom prst="rect">
            <a:avLst/>
          </a:prstGeom>
          <a:noFill/>
          <a:ln/>
        </p:spPr>
        <p:txBody>
          <a:bodyPr wrap="square" lIns="0" tIns="0" rIns="0" bIns="0" rtlCol="0" anchor="ctr"/>
          <a:lstStyle/>
          <a:p>
            <a:pPr marL="0" indent="0">
              <a:lnSpc>
                <a:spcPts val="1900"/>
              </a:lnSpc>
              <a:buNone/>
            </a:pPr>
            <a:r>
              <a:rPr lang="en-US" sz="1400" dirty="0">
                <a:solidFill>
                  <a:schemeClr val="tx1">
                    <a:lumMod val="95000"/>
                    <a:lumOff val="5000"/>
                  </a:schemeClr>
                </a:solidFill>
                <a:latin typeface="Calibri" pitchFamily="34" charset="0"/>
                <a:ea typeface="Calibri" pitchFamily="34" charset="-122"/>
                <a:cs typeface="Calibri" pitchFamily="34" charset="-120"/>
              </a:rPr>
              <a:t>The project delivers a complete analytics workflow — data collection and cleaning, KPI engineering, dashboard development, testing and documentation. The four dashboards give complementary views of hospital performance and support evidence-based operational analysis, and the work shows why independent KPI validation, clear metric definitions and consistent filtering matter when presenting healthcare data.</a:t>
            </a:r>
            <a:endParaRPr lang="en-US" sz="1400" dirty="0">
              <a:solidFill>
                <a:schemeClr val="tx1">
                  <a:lumMod val="95000"/>
                  <a:lumOff val="5000"/>
                </a:schemeClr>
              </a:solidFill>
            </a:endParaRPr>
          </a:p>
        </p:txBody>
      </p:sp>
      <p:sp>
        <p:nvSpPr>
          <p:cNvPr id="8" name="Shape 6"/>
          <p:cNvSpPr/>
          <p:nvPr/>
        </p:nvSpPr>
        <p:spPr>
          <a:xfrm>
            <a:off x="6629400" y="1536192"/>
            <a:ext cx="4873752" cy="2880360"/>
          </a:xfrm>
          <a:prstGeom prst="roundRect">
            <a:avLst>
              <a:gd name="adj" fmla="val 3810"/>
            </a:avLst>
          </a:prstGeom>
          <a:solidFill>
            <a:srgbClr val="FDEAE2"/>
          </a:solidFill>
          <a:ln w="12700">
            <a:solidFill>
              <a:srgbClr val="F7C9B9"/>
            </a:solidFill>
            <a:prstDash val="solid"/>
          </a:ln>
          <a:effectLst>
            <a:outerShdw blurRad="127000" dist="25400" dir="5400000" algn="bl" rotWithShape="0">
              <a:srgbClr val="C08772">
                <a:alpha val="22000"/>
              </a:srgbClr>
            </a:outerShdw>
          </a:effectLst>
        </p:spPr>
      </p:sp>
      <p:sp>
        <p:nvSpPr>
          <p:cNvPr id="9" name="Text 7"/>
          <p:cNvSpPr txBox="1"/>
          <p:nvPr/>
        </p:nvSpPr>
        <p:spPr>
          <a:xfrm>
            <a:off x="6903720" y="1773936"/>
            <a:ext cx="4297680" cy="292608"/>
          </a:xfrm>
          <a:prstGeom prst="rect">
            <a:avLst/>
          </a:prstGeom>
          <a:noFill/>
          <a:ln/>
        </p:spPr>
        <p:txBody>
          <a:bodyPr wrap="square" lIns="0" tIns="0" rIns="0" bIns="0" rtlCol="0" anchor="ctr"/>
          <a:lstStyle/>
          <a:p>
            <a:pPr marL="0" indent="0">
              <a:buNone/>
            </a:pPr>
            <a:r>
              <a:rPr lang="en-US" sz="1600" b="1" dirty="0">
                <a:solidFill>
                  <a:srgbClr val="D9563C"/>
                </a:solidFill>
                <a:latin typeface="Arial" pitchFamily="34" charset="0"/>
                <a:ea typeface="Arial" pitchFamily="34" charset="-122"/>
                <a:cs typeface="Arial" pitchFamily="34" charset="-120"/>
              </a:rPr>
              <a:t>Future scope</a:t>
            </a:r>
            <a:endParaRPr lang="en-US" sz="1600" dirty="0"/>
          </a:p>
        </p:txBody>
      </p:sp>
      <p:sp>
        <p:nvSpPr>
          <p:cNvPr id="10" name="Text 8"/>
          <p:cNvSpPr txBox="1"/>
          <p:nvPr/>
        </p:nvSpPr>
        <p:spPr>
          <a:xfrm>
            <a:off x="6903720" y="2212848"/>
            <a:ext cx="4297680" cy="201168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Automated data refresh and scheduled updates</a:t>
            </a:r>
            <a:endParaRPr lang="en-US" sz="1400" dirty="0">
              <a:solidFill>
                <a:schemeClr val="tx1">
                  <a:lumMod val="95000"/>
                  <a:lumOff val="5000"/>
                </a:schemeClr>
              </a:solidFill>
            </a:endParaRPr>
          </a:p>
          <a:p>
            <a:pPr marL="342900" indent="-342900">
              <a:lnSpc>
                <a:spcPts val="1600"/>
              </a:lnSpc>
              <a:spcAft>
                <a:spcPts val="10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Hospital-level benchmarking and department comparison</a:t>
            </a:r>
            <a:endParaRPr lang="en-US" sz="1400" dirty="0">
              <a:solidFill>
                <a:schemeClr val="tx1">
                  <a:lumMod val="95000"/>
                  <a:lumOff val="5000"/>
                </a:schemeClr>
              </a:solidFill>
            </a:endParaRPr>
          </a:p>
          <a:p>
            <a:pPr marL="342900" indent="-342900">
              <a:lnSpc>
                <a:spcPts val="1600"/>
              </a:lnSpc>
              <a:spcAft>
                <a:spcPts val="10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Forecasting of admissions, bed demand and resources</a:t>
            </a:r>
            <a:endParaRPr lang="en-US" sz="1400" dirty="0">
              <a:solidFill>
                <a:schemeClr val="tx1">
                  <a:lumMod val="95000"/>
                  <a:lumOff val="5000"/>
                </a:schemeClr>
              </a:solidFill>
            </a:endParaRPr>
          </a:p>
          <a:p>
            <a:pPr marL="342900" indent="-342900">
              <a:lnSpc>
                <a:spcPts val="1600"/>
              </a:lnSpc>
              <a:spcAft>
                <a:spcPts val="10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Capacity-planning and staffing support analysis</a:t>
            </a:r>
            <a:endParaRPr lang="en-US" sz="1400" dirty="0">
              <a:solidFill>
                <a:schemeClr val="tx1">
                  <a:lumMod val="95000"/>
                  <a:lumOff val="5000"/>
                </a:schemeClr>
              </a:solidFill>
            </a:endParaRPr>
          </a:p>
          <a:p>
            <a:pPr marL="342900" indent="-342900">
              <a:lnSpc>
                <a:spcPts val="1600"/>
              </a:lnSpc>
              <a:spcAft>
                <a:spcPts val="10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Additional automated checks before publication</a:t>
            </a:r>
            <a:endParaRPr lang="en-US" sz="1400" dirty="0">
              <a:solidFill>
                <a:schemeClr val="tx1">
                  <a:lumMod val="95000"/>
                  <a:lumOff val="5000"/>
                </a:schemeClr>
              </a:solidFill>
            </a:endParaRPr>
          </a:p>
        </p:txBody>
      </p:sp>
      <p:sp>
        <p:nvSpPr>
          <p:cNvPr id="17" name="TextBox 16">
            <a:extLst>
              <a:ext uri="{FF2B5EF4-FFF2-40B4-BE49-F238E27FC236}">
                <a16:creationId xmlns:a16="http://schemas.microsoft.com/office/drawing/2014/main" id="{079D825E-5FF1-1465-9D21-51715610810C}"/>
              </a:ext>
            </a:extLst>
          </p:cNvPr>
          <p:cNvSpPr txBox="1"/>
          <p:nvPr/>
        </p:nvSpPr>
        <p:spPr>
          <a:xfrm>
            <a:off x="5273040" y="4998730"/>
            <a:ext cx="4055872" cy="523220"/>
          </a:xfrm>
          <a:prstGeom prst="rect">
            <a:avLst/>
          </a:prstGeom>
          <a:noFill/>
        </p:spPr>
        <p:txBody>
          <a:bodyPr wrap="square" rtlCol="0">
            <a:spAutoFit/>
          </a:bodyPr>
          <a:lstStyle/>
          <a:p>
            <a:r>
              <a:rPr lang="en-US" sz="2800" b="1" dirty="0">
                <a:solidFill>
                  <a:schemeClr val="accent2">
                    <a:lumMod val="75000"/>
                  </a:schemeClr>
                </a:solidFill>
              </a:rPr>
              <a:t>Thank You !</a:t>
            </a:r>
            <a:endParaRPr lang="en-IN" sz="2800" b="1" dirty="0">
              <a:solidFill>
                <a:schemeClr val="accent2">
                  <a:lumMod val="75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1936</Words>
  <Application>Microsoft Office PowerPoint</Application>
  <PresentationFormat>Widescreen</PresentationFormat>
  <Paragraphs>303</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Operations and Patient Analytics</dc:title>
  <dc:subject>PptxGenJS Presentation</dc:subject>
  <dc:creator>Rutuja Warbhog</dc:creator>
  <cp:lastModifiedBy>warbhog.rutuja@gmail.com</cp:lastModifiedBy>
  <cp:revision>2</cp:revision>
  <dcterms:created xsi:type="dcterms:W3CDTF">2026-09-16T08:19:02Z</dcterms:created>
  <dcterms:modified xsi:type="dcterms:W3CDTF">2026-09-16T12:17:06Z</dcterms:modified>
</cp:coreProperties>
</file>