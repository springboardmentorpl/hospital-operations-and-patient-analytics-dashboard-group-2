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25755-36D2-4309-A036-EFBF01F1E930}" v="1" dt="2026-09-16T13:41:20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amjio85@outlook.com" userId="751cf042b54f1076" providerId="LiveId" clId="{4501802D-7E79-4BE6-9058-1E5F029FEDEE}"/>
    <pc:docChg chg="addSld modSld">
      <pc:chgData name="gautamjio85@outlook.com" userId="751cf042b54f1076" providerId="LiveId" clId="{4501802D-7E79-4BE6-9058-1E5F029FEDEE}" dt="2026-09-16T13:42:27.609" v="18" actId="1036"/>
      <pc:docMkLst>
        <pc:docMk/>
      </pc:docMkLst>
      <pc:sldChg chg="modSp mod">
        <pc:chgData name="gautamjio85@outlook.com" userId="751cf042b54f1076" providerId="LiveId" clId="{4501802D-7E79-4BE6-9058-1E5F029FEDEE}" dt="2026-09-16T13:42:27.609" v="18" actId="1036"/>
        <pc:sldMkLst>
          <pc:docMk/>
          <pc:sldMk cId="0" sldId="256"/>
        </pc:sldMkLst>
        <pc:spChg chg="mod">
          <ac:chgData name="gautamjio85@outlook.com" userId="751cf042b54f1076" providerId="LiveId" clId="{4501802D-7E79-4BE6-9058-1E5F029FEDEE}" dt="2026-09-16T13:42:27.609" v="18" actId="1036"/>
          <ac:spMkLst>
            <pc:docMk/>
            <pc:sldMk cId="0" sldId="256"/>
            <ac:spMk id="2" creationId="{00000000-0000-0000-0000-000000000000}"/>
          </ac:spMkLst>
        </pc:spChg>
      </pc:sldChg>
      <pc:sldChg chg="addSp modSp new mod">
        <pc:chgData name="gautamjio85@outlook.com" userId="751cf042b54f1076" providerId="LiveId" clId="{4501802D-7E79-4BE6-9058-1E5F029FEDEE}" dt="2026-09-16T13:42:10.755" v="17" actId="2711"/>
        <pc:sldMkLst>
          <pc:docMk/>
          <pc:sldMk cId="750813295" sldId="268"/>
        </pc:sldMkLst>
        <pc:spChg chg="add mod">
          <ac:chgData name="gautamjio85@outlook.com" userId="751cf042b54f1076" providerId="LiveId" clId="{4501802D-7E79-4BE6-9058-1E5F029FEDEE}" dt="2026-09-16T13:42:10.755" v="17" actId="2711"/>
          <ac:spMkLst>
            <pc:docMk/>
            <pc:sldMk cId="750813295" sldId="268"/>
            <ac:spMk id="2" creationId="{C0AFEAA2-68E0-20B2-0B56-74BD260619F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B3A4B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3A4B"/>
                </a:solidFill>
                <a:latin typeface="Calibri"/>
              </a:rPr>
              <a:t>Missing Values by Column (% of records)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2E7D8F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3A4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City</c:v>
                </c:pt>
                <c:pt idx="1">
                  <c:v>Discharge_Date</c:v>
                </c:pt>
                <c:pt idx="2">
                  <c:v>Age</c:v>
                </c:pt>
                <c:pt idx="3">
                  <c:v>Patient_Satisfaction_Score</c:v>
                </c:pt>
                <c:pt idx="4">
                  <c:v>Insurance_Provider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6.68</c:v>
                </c:pt>
                <c:pt idx="4">
                  <c:v>12.52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3A-4C91-BB94-FD445B63DA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B5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b"/>
        <c:majorGridlines>
          <c:spPr>
            <a:ln w="9525" cap="flat">
              <a:solidFill>
                <a:srgbClr val="E8ED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082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9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hospital patient dataset cleaned in Python and visualised in Tableau and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8021"/>
            <a:ext cx="5285232" cy="6858000"/>
          </a:xfrm>
          <a:prstGeom prst="rect">
            <a:avLst/>
          </a:prstGeom>
          <a:solidFill>
            <a:srgbClr val="F2F7F9"/>
          </a:solidFill>
          <a:ln w="6350">
            <a:solidFill>
              <a:srgbClr val="F2F7F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72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INTERNSHIP PROJECT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Patient Analytics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456432"/>
            <a:ext cx="1280160" cy="22860"/>
          </a:xfrm>
          <a:prstGeom prst="rect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6576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cleaning, analysis and interactive dashboard development using Python, Tableau and Power BI.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006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in partial fulfilment of the requirements for the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Computer Applications (BCA)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35240" y="148132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882128" y="1581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938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analysed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35240" y="2505456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882128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29626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3529584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882128" y="3630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882128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35240" y="455371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882128" y="4654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5010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| Tableau |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95728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44752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426464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173736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 and expected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2395728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0" name="Shape 8"/>
          <p:cNvSpPr/>
          <p:nvPr/>
        </p:nvSpPr>
        <p:spPr>
          <a:xfrm>
            <a:off x="6277356" y="1444752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7356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80860" y="1426464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80860" y="173736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size and key attributes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02736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43584" y="2633472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2944368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followed and technology stack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7356" y="3602736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7356" y="265176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7356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80860" y="2633472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80860" y="2944368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data inconsistencies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858768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43584" y="384048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43584" y="4151376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 applied to the dataset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4809744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277356" y="3858768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77356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80860" y="384048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80860" y="4151376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analytical columns derived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016752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5065776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43584" y="5047488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43584" y="5358384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and Power BI visualisations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77356" y="6016752"/>
            <a:ext cx="5271516" cy="7315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40" name="Shape 38"/>
          <p:cNvSpPr/>
          <p:nvPr/>
        </p:nvSpPr>
        <p:spPr>
          <a:xfrm>
            <a:off x="6277356" y="5065776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77356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80860" y="5047488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80860" y="5358384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learning outcomes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663440" cy="4754880"/>
          </a:xfrm>
          <a:prstGeom prst="roundRect">
            <a:avLst>
              <a:gd name="adj" fmla="val 980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analyses a hospital patient dataset covering admissions, departments, billing, insurance and patient satisfaction across multiple Indian cities.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was cleaned and transformed using Python and Pandas, and the resulting dataset was used to build interactive dashboards in Tableau and Power BI for hospital management decision support.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1810512"/>
            <a:ext cx="384048" cy="384048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data quality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84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structure, completeness and consistency of the raw dataset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871216"/>
            <a:ext cx="384048" cy="384048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14553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invalid bills and inconsistent categories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3931920"/>
            <a:ext cx="384048" cy="384048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913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new features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206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length of stay, age group, bill category and time-based attributes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4992624"/>
            <a:ext cx="384048" cy="384048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974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and report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52669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four dashboard views each in Tableau and Power BI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2145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521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35858" y="1371600"/>
            <a:ext cx="252145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35858" y="1481328"/>
            <a:ext cx="2521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35858" y="1965960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371600"/>
            <a:ext cx="252145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1636" y="1481328"/>
            <a:ext cx="2521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31636" y="1965960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27414" y="1371600"/>
            <a:ext cx="252145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27414" y="1481328"/>
            <a:ext cx="2521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27414" y="1965960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697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 in the Dataset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6675120" cy="3063240"/>
          </a:xfrm>
          <a:prstGeom prst="roundRect">
            <a:avLst>
              <a:gd name="adj" fmla="val 1493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/ Patient_Name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246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 identity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" y="3598164"/>
            <a:ext cx="6172200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36621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Gender / City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6621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 profile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" y="4014216"/>
            <a:ext cx="6172200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Doctor_Name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77640" y="40782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unit and consultant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6112" y="4430268"/>
            <a:ext cx="6172200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44942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Admission_Date / Discharge_Date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4942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Hospitalisation period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6112" y="4846320"/>
            <a:ext cx="6172200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4910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Bill_Amount_INR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49103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treatment amount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6112" y="5262372"/>
            <a:ext cx="6172200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6112" y="53263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Insurance_Provider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53263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of the patient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96112" y="5678424"/>
            <a:ext cx="6172200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5742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Patient_Satisfaction_Score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977640" y="5742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rating on a 1-5 scale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3108960"/>
            <a:ext cx="3867912" cy="3063240"/>
          </a:xfrm>
          <a:prstGeom prst="roundRect">
            <a:avLst>
              <a:gd name="adj" fmla="val 1493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0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973568" y="3749040"/>
            <a:ext cx="3273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clinical departments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cities across India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from 2020 to 2025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doctors across departments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insurance providers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format: CSV file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76933" cy="20574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64592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12848"/>
            <a:ext cx="15380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24912"/>
            <a:ext cx="153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hospital CSV dataset imported into Jupyter Notebook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35301" y="224028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73045" y="1417320"/>
            <a:ext cx="1976933" cy="20574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2501" y="164592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2501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92501" y="2212848"/>
            <a:ext cx="15380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92501" y="2724912"/>
            <a:ext cx="153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data types and value distributions reviewed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68266" y="224028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06010" y="1417320"/>
            <a:ext cx="1976933" cy="20574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25466" y="164592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546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25466" y="2212848"/>
            <a:ext cx="15380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25466" y="2724912"/>
            <a:ext cx="153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 and invalid entries treated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01230" y="224028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38974" y="1417320"/>
            <a:ext cx="1976933" cy="20574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58430" y="164592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843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58430" y="2212848"/>
            <a:ext cx="15380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58430" y="2724912"/>
            <a:ext cx="153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derived analytical columns created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334195" y="224028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71939" y="1417320"/>
            <a:ext cx="1976933" cy="20574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91395" y="1645920"/>
            <a:ext cx="420624" cy="420624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91395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91395" y="2212848"/>
            <a:ext cx="15380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791395" y="2724912"/>
            <a:ext cx="153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 in Tableau and Power BI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40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4315968"/>
            <a:ext cx="3453384" cy="749808"/>
          </a:xfrm>
          <a:prstGeom prst="roundRect">
            <a:avLst>
              <a:gd name="adj" fmla="val 7317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" y="43982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470001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67784" y="4315968"/>
            <a:ext cx="3453384" cy="749808"/>
          </a:xfrm>
          <a:prstGeom prst="roundRect">
            <a:avLst>
              <a:gd name="adj" fmla="val 7317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23816" y="43982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623816" y="470001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computation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95488" y="4315968"/>
            <a:ext cx="3453384" cy="749808"/>
          </a:xfrm>
          <a:prstGeom prst="roundRect">
            <a:avLst>
              <a:gd name="adj" fmla="val 7317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51520" y="43982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351520" y="470001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environment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5230368"/>
            <a:ext cx="3453384" cy="749808"/>
          </a:xfrm>
          <a:prstGeom prst="roundRect">
            <a:avLst>
              <a:gd name="adj" fmla="val 7317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6112" y="53126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96112" y="561441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67784" y="5230368"/>
            <a:ext cx="3453384" cy="749808"/>
          </a:xfrm>
          <a:prstGeom prst="roundRect">
            <a:avLst>
              <a:gd name="adj" fmla="val 7317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23816" y="53126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623816" y="561441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reporting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95488" y="5230368"/>
            <a:ext cx="3453384" cy="749808"/>
          </a:xfrm>
          <a:prstGeom prst="roundRect">
            <a:avLst>
              <a:gd name="adj" fmla="val 7317"/>
            </a:avLst>
          </a:prstGeom>
          <a:solidFill>
            <a:srgbClr val="F8FAFB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351520" y="53126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 / CSV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351520" y="561441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and exchange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were identified in five columns of the raw dataset, measured as a percentage of all 15,000 records.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676656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822960" y="1828800"/>
          <a:ext cx="64008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64208"/>
            <a:ext cx="3776472" cy="2103120"/>
          </a:xfrm>
          <a:prstGeom prst="roundRect">
            <a:avLst>
              <a:gd name="adj" fmla="val 2174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65008" y="2212848"/>
            <a:ext cx="3182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Insurance_Provider had the highest share of missing data at 12.52%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Patient_Satisfaction_Score followed at 6.68%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Discharge_Date and City showed minor gaps below 3%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3995928"/>
            <a:ext cx="3776472" cy="2103120"/>
          </a:xfrm>
          <a:prstGeom prst="roundRect">
            <a:avLst>
              <a:gd name="adj" fmla="val 2174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Quality Issues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65008" y="4544568"/>
            <a:ext cx="3182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recorded in 13 inconsistent formats such as M, m, MALE and Female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 present in Bill_Amount_INR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found against the same Patient_ID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71516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Identified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7356" y="1325880"/>
            <a:ext cx="5271516" cy="3657600"/>
          </a:xfrm>
          <a:prstGeom prst="roundRect">
            <a:avLst>
              <a:gd name="adj" fmla="val 1250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1676" y="150876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Applied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38528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gender labels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1938528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into Male, Female and Other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304288"/>
            <a:ext cx="4722876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1" name="Shape 9"/>
          <p:cNvSpPr/>
          <p:nvPr/>
        </p:nvSpPr>
        <p:spPr>
          <a:xfrm>
            <a:off x="6551676" y="2304288"/>
            <a:ext cx="4722876" cy="5486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359152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billing amounts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51676" y="2359152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records removed from the dataset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2724912"/>
            <a:ext cx="4722876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1676" y="2724912"/>
            <a:ext cx="4722876" cy="5486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2779776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patient entries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51676" y="2779776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duplicates on Patient_ID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145536"/>
            <a:ext cx="4722876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1676" y="3145536"/>
            <a:ext cx="4722876" cy="5486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20040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and satisfaction scores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320040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using the column median value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3566160"/>
            <a:ext cx="4722876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51676" y="3566160"/>
            <a:ext cx="4722876" cy="5486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3621024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City values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51676" y="3621024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using the most frequent city (mode)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3986784"/>
            <a:ext cx="4722876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551676" y="3986784"/>
            <a:ext cx="4722876" cy="5486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041648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insurance and discharge dates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551676" y="4041648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as "None"; discharge set to admission date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" y="4407408"/>
            <a:ext cx="4722876" cy="5486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551676" y="4407408"/>
            <a:ext cx="4722876" cy="5486"/>
          </a:xfrm>
          <a:prstGeom prst="rect">
            <a:avLst/>
          </a:prstGeom>
          <a:solidFill>
            <a:srgbClr val="DCE7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462272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columns stored as text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51676" y="4462272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proper datetime format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193792"/>
            <a:ext cx="345338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96112" y="5303520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→ 14,734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5705856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records retained after cleaning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67784" y="5193792"/>
            <a:ext cx="345338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623816" y="5303520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20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4623816" y="5705856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 engineering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95488" y="5193792"/>
            <a:ext cx="345338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351520" y="5303520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8351520" y="5705856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remaining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new analytical columns were derived from the cleaned dataset to support deeper operational and patient-level analysis.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002536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441448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Length_of_Stay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697480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between admission and discharge date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31286" y="1783080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9030" y="2002536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903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69030" y="2441448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Stay_Category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69030" y="2697480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Day, 1-3, 4-7 and more than 7 days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2492" y="1783080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0236" y="2002536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0236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2441448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60236" y="2697480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0-18, 19-35, 36-50, 51-65 and 65+ bands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3698" y="1783080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51442" y="2002536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5144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51442" y="2441448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Bill_Category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251442" y="2697480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High and Very High billing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264408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77824" y="3483864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3922776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Admission_Year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4178808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extracted from the admission date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31286" y="3264408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69030" y="3483864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6903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69030" y="3922776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Admission_Month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669030" y="4178808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 for seasonal trend analysis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22492" y="3264408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60236" y="3483864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60236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60236" y="3922776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Admission_Quarter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460236" y="4178808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of the year for period comparison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13698" y="3264408"/>
            <a:ext cx="253517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51442" y="3483864"/>
            <a:ext cx="365760" cy="365760"/>
          </a:xfrm>
          <a:prstGeom prst="ellipse">
            <a:avLst/>
          </a:prstGeom>
          <a:solidFill>
            <a:srgbClr val="E3EFF2"/>
          </a:solidFill>
          <a:ln w="6350">
            <a:solidFill>
              <a:srgbClr val="E3EF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5144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251442" y="3922776"/>
            <a:ext cx="2077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Admission_Day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251442" y="4178808"/>
            <a:ext cx="2077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used for daily load analysis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4864608"/>
            <a:ext cx="10908792" cy="1261872"/>
          </a:xfrm>
          <a:prstGeom prst="roundRect">
            <a:avLst>
              <a:gd name="adj" fmla="val 3623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2688" y="502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32688" y="5321808"/>
            <a:ext cx="10323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cleaned dataset contains 14,734 records and 20 columns with no remaining missing values, and was exported as hospital_operations_patient_analytics_cleaned.csv for dashboard development.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TABLEAU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 — Operations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four interlinked Tableau dashboards, filtered by admission year, department, city and gender.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36676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Hospital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2668" y="1719072"/>
            <a:ext cx="5157216" cy="317235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7" name="Image 0" descr="img/tb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783080"/>
            <a:ext cx="5029200" cy="30443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23076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Patient Flow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9068" y="1719072"/>
            <a:ext cx="5157216" cy="317235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10" name="Image 1" descr="img/tb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1783080"/>
            <a:ext cx="5029200" cy="304433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3846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32688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32688" y="5486400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14,734 total admissions generating ₹1.49 bn in revenue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277356" y="5486400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bill of ₹1,01,016 per patient across departments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932688" y="5833872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day stays form the largest category with 5,978 admissions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77356" y="5833872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are evenly distributed across months and weekdays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TABLEAU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 — Analytical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performance and resource utilisation views built on the same cleaned dataset.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36676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Department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2668" y="1719072"/>
            <a:ext cx="5157216" cy="317235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7" name="Image 0" descr="img/tb_d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783080"/>
            <a:ext cx="5029200" cy="30443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23076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— Resource Utilization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9068" y="1719072"/>
            <a:ext cx="5157216" cy="317235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10" name="Image 1" descr="img/tb_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1783080"/>
            <a:ext cx="5029200" cy="304433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3846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32688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32688" y="5486400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leads revenue contribution at ₹289 million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277356" y="5486400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are shared almost equally across the 12 departments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932688" y="5833872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doctors serve the patient base, averaging 546 patients each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77356" y="5833872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satisfaction scores fall between 3.0 and 4.5 out of 5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POWER BI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48256" y="12252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93392" y="1444752"/>
            <a:ext cx="3904488" cy="2251972"/>
          </a:xfrm>
          <a:prstGeom prst="roundRect">
            <a:avLst>
              <a:gd name="adj" fmla="val 121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6" name="Image 0" descr="img/pb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1499616"/>
            <a:ext cx="3794760" cy="21422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45936" y="12252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Analysis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1072" y="1444752"/>
            <a:ext cx="3904488" cy="2235392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9" name="Image 1" descr="img/pb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499616"/>
            <a:ext cx="3794760" cy="21256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48256" y="38587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993392" y="4078224"/>
            <a:ext cx="3904488" cy="2255032"/>
          </a:xfrm>
          <a:prstGeom prst="roundRect">
            <a:avLst>
              <a:gd name="adj" fmla="val 1216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12" name="Image 2" descr="img/pb_de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6" y="4133088"/>
            <a:ext cx="3794760" cy="21453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45936" y="38587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Workforce Utilization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91072" y="4078224"/>
            <a:ext cx="3904488" cy="224209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pic>
        <p:nvPicPr>
          <p:cNvPr id="15" name="Image 3" descr="img/pb_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4133088"/>
            <a:ext cx="3794760" cy="213236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52145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83664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35858" y="1325880"/>
            <a:ext cx="252145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35858" y="143560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₹1.49 bn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35858" y="1883664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325880"/>
            <a:ext cx="252145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1636" y="143560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days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31636" y="1883664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27414" y="1325880"/>
            <a:ext cx="252145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101600" dist="12700" dir="5400000" algn="bl" rotWithShape="0">
              <a:srgbClr val="9FB0B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27414" y="1435608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 / 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27414" y="1883664"/>
            <a:ext cx="2521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5271516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278892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3182112"/>
            <a:ext cx="46680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is the highest revenue-generating department, followed by Cardiology and Neurology.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records the highest number of admissions, while ENT records the lowest.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40% of patients are discharged within one to three days of admission.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remain stable across months and weekdays, showing steady hospital demand.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patient-to-doctor ratio indicates workforce pressure in specific departments.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2606040"/>
            <a:ext cx="5271516" cy="3520440"/>
          </a:xfrm>
          <a:prstGeom prst="roundRect">
            <a:avLst>
              <a:gd name="adj" fmla="val 1299"/>
            </a:avLst>
          </a:prstGeom>
          <a:solidFill>
            <a:srgbClr val="F2F7F9"/>
          </a:solidFill>
          <a:ln w="9525">
            <a:solidFill>
              <a:srgbClr val="DCE5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9964" y="278892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588252" y="3182112"/>
            <a:ext cx="46680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patient dataset was successfully cleaned, transformed and enriched using Python and Pandas, resulting in a reliable analytical dataset of 14,734 records and 20 columns with no missing values.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then visualised through eight interactive dashboards in Tableau and Power BI, covering hospital overview, patient flow, department performance and resource utilisation.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69964" y="4864608"/>
            <a:ext cx="47228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8252" y="5175504"/>
            <a:ext cx="46680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data cleaning and feature engineering with Pandas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and storytelling in Tableau and Power BI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operational data into business insight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6382512"/>
            <a:ext cx="10908792" cy="9144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45159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AFEAA2-68E0-20B2-0B56-74BD260619F2}"/>
              </a:ext>
            </a:extLst>
          </p:cNvPr>
          <p:cNvSpPr txBox="1"/>
          <p:nvPr/>
        </p:nvSpPr>
        <p:spPr>
          <a:xfrm>
            <a:off x="3408948" y="2312568"/>
            <a:ext cx="670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THANK YOU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1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1277</Words>
  <Application>Microsoft Office PowerPoint</Application>
  <PresentationFormat>Widescreen</PresentationFormat>
  <Paragraphs>276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Operations &amp; Patient Analytics</dc:title>
  <dc:subject>PptxGenJS Presentation</dc:subject>
  <dc:creator>Hospital Operations &amp; Patient Analytics</dc:creator>
  <cp:lastModifiedBy>gautamjio85@outlook.com</cp:lastModifiedBy>
  <cp:revision>1</cp:revision>
  <dcterms:created xsi:type="dcterms:W3CDTF">2026-09-16T13:38:39Z</dcterms:created>
  <dcterms:modified xsi:type="dcterms:W3CDTF">2026-09-16T13:42:27Z</dcterms:modified>
</cp:coreProperties>
</file>