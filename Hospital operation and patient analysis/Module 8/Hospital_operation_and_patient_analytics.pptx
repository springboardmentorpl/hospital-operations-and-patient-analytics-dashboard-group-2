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631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631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11480"/>
            <a:ext cx="658495" cy="658495"/>
          </a:xfrm>
          <a:custGeom>
            <a:avLst/>
            <a:gdLst/>
            <a:ahLst/>
            <a:cxnLst/>
            <a:rect l="l" t="t" r="r" b="b"/>
            <a:pathLst>
              <a:path w="658494" h="658494">
                <a:moveTo>
                  <a:pt x="329184" y="0"/>
                </a:moveTo>
                <a:lnTo>
                  <a:pt x="280540" y="3567"/>
                </a:lnTo>
                <a:lnTo>
                  <a:pt x="234112" y="13932"/>
                </a:lnTo>
                <a:lnTo>
                  <a:pt x="190409" y="30585"/>
                </a:lnTo>
                <a:lnTo>
                  <a:pt x="149941" y="53018"/>
                </a:lnTo>
                <a:lnTo>
                  <a:pt x="113216" y="80722"/>
                </a:lnTo>
                <a:lnTo>
                  <a:pt x="80744" y="113190"/>
                </a:lnTo>
                <a:lnTo>
                  <a:pt x="53034" y="149913"/>
                </a:lnTo>
                <a:lnTo>
                  <a:pt x="30595" y="190382"/>
                </a:lnTo>
                <a:lnTo>
                  <a:pt x="13937" y="234089"/>
                </a:lnTo>
                <a:lnTo>
                  <a:pt x="3569" y="280525"/>
                </a:lnTo>
                <a:lnTo>
                  <a:pt x="0" y="329184"/>
                </a:lnTo>
                <a:lnTo>
                  <a:pt x="3569" y="377842"/>
                </a:lnTo>
                <a:lnTo>
                  <a:pt x="13937" y="424278"/>
                </a:lnTo>
                <a:lnTo>
                  <a:pt x="30595" y="467985"/>
                </a:lnTo>
                <a:lnTo>
                  <a:pt x="53034" y="508454"/>
                </a:lnTo>
                <a:lnTo>
                  <a:pt x="80744" y="545177"/>
                </a:lnTo>
                <a:lnTo>
                  <a:pt x="113216" y="577645"/>
                </a:lnTo>
                <a:lnTo>
                  <a:pt x="149941" y="605349"/>
                </a:lnTo>
                <a:lnTo>
                  <a:pt x="190409" y="627782"/>
                </a:lnTo>
                <a:lnTo>
                  <a:pt x="234112" y="644435"/>
                </a:lnTo>
                <a:lnTo>
                  <a:pt x="280540" y="654800"/>
                </a:lnTo>
                <a:lnTo>
                  <a:pt x="329184" y="658368"/>
                </a:lnTo>
                <a:lnTo>
                  <a:pt x="377827" y="654800"/>
                </a:lnTo>
                <a:lnTo>
                  <a:pt x="424255" y="644435"/>
                </a:lnTo>
                <a:lnTo>
                  <a:pt x="467958" y="627782"/>
                </a:lnTo>
                <a:lnTo>
                  <a:pt x="508426" y="605349"/>
                </a:lnTo>
                <a:lnTo>
                  <a:pt x="545151" y="577645"/>
                </a:lnTo>
                <a:lnTo>
                  <a:pt x="577623" y="545177"/>
                </a:lnTo>
                <a:lnTo>
                  <a:pt x="605333" y="508454"/>
                </a:lnTo>
                <a:lnTo>
                  <a:pt x="627772" y="467985"/>
                </a:lnTo>
                <a:lnTo>
                  <a:pt x="644430" y="424278"/>
                </a:lnTo>
                <a:lnTo>
                  <a:pt x="654798" y="377842"/>
                </a:lnTo>
                <a:lnTo>
                  <a:pt x="658368" y="329184"/>
                </a:lnTo>
                <a:lnTo>
                  <a:pt x="654798" y="280525"/>
                </a:lnTo>
                <a:lnTo>
                  <a:pt x="644430" y="234089"/>
                </a:lnTo>
                <a:lnTo>
                  <a:pt x="627772" y="190382"/>
                </a:lnTo>
                <a:lnTo>
                  <a:pt x="605333" y="149913"/>
                </a:lnTo>
                <a:lnTo>
                  <a:pt x="577623" y="113190"/>
                </a:lnTo>
                <a:lnTo>
                  <a:pt x="545151" y="80722"/>
                </a:lnTo>
                <a:lnTo>
                  <a:pt x="508426" y="53018"/>
                </a:lnTo>
                <a:lnTo>
                  <a:pt x="467958" y="30585"/>
                </a:lnTo>
                <a:lnTo>
                  <a:pt x="424255" y="13932"/>
                </a:lnTo>
                <a:lnTo>
                  <a:pt x="377827" y="3567"/>
                </a:lnTo>
                <a:lnTo>
                  <a:pt x="329184" y="0"/>
                </a:lnTo>
                <a:close/>
              </a:path>
            </a:pathLst>
          </a:custGeom>
          <a:solidFill>
            <a:srgbClr val="0180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631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1631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1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11480"/>
            <a:ext cx="658495" cy="658495"/>
          </a:xfrm>
          <a:custGeom>
            <a:avLst/>
            <a:gdLst/>
            <a:ahLst/>
            <a:cxnLst/>
            <a:rect l="l" t="t" r="r" b="b"/>
            <a:pathLst>
              <a:path w="658494" h="658494">
                <a:moveTo>
                  <a:pt x="329184" y="0"/>
                </a:moveTo>
                <a:lnTo>
                  <a:pt x="280540" y="3567"/>
                </a:lnTo>
                <a:lnTo>
                  <a:pt x="234112" y="13932"/>
                </a:lnTo>
                <a:lnTo>
                  <a:pt x="190409" y="30585"/>
                </a:lnTo>
                <a:lnTo>
                  <a:pt x="149941" y="53018"/>
                </a:lnTo>
                <a:lnTo>
                  <a:pt x="113216" y="80722"/>
                </a:lnTo>
                <a:lnTo>
                  <a:pt x="80744" y="113190"/>
                </a:lnTo>
                <a:lnTo>
                  <a:pt x="53034" y="149913"/>
                </a:lnTo>
                <a:lnTo>
                  <a:pt x="30595" y="190382"/>
                </a:lnTo>
                <a:lnTo>
                  <a:pt x="13937" y="234089"/>
                </a:lnTo>
                <a:lnTo>
                  <a:pt x="3569" y="280525"/>
                </a:lnTo>
                <a:lnTo>
                  <a:pt x="0" y="329184"/>
                </a:lnTo>
                <a:lnTo>
                  <a:pt x="3569" y="377842"/>
                </a:lnTo>
                <a:lnTo>
                  <a:pt x="13937" y="424278"/>
                </a:lnTo>
                <a:lnTo>
                  <a:pt x="30595" y="467985"/>
                </a:lnTo>
                <a:lnTo>
                  <a:pt x="53034" y="508454"/>
                </a:lnTo>
                <a:lnTo>
                  <a:pt x="80744" y="545177"/>
                </a:lnTo>
                <a:lnTo>
                  <a:pt x="113216" y="577645"/>
                </a:lnTo>
                <a:lnTo>
                  <a:pt x="149941" y="605349"/>
                </a:lnTo>
                <a:lnTo>
                  <a:pt x="190409" y="627782"/>
                </a:lnTo>
                <a:lnTo>
                  <a:pt x="234112" y="644435"/>
                </a:lnTo>
                <a:lnTo>
                  <a:pt x="280540" y="654800"/>
                </a:lnTo>
                <a:lnTo>
                  <a:pt x="329184" y="658368"/>
                </a:lnTo>
                <a:lnTo>
                  <a:pt x="377827" y="654800"/>
                </a:lnTo>
                <a:lnTo>
                  <a:pt x="424255" y="644435"/>
                </a:lnTo>
                <a:lnTo>
                  <a:pt x="467958" y="627782"/>
                </a:lnTo>
                <a:lnTo>
                  <a:pt x="508426" y="605349"/>
                </a:lnTo>
                <a:lnTo>
                  <a:pt x="545151" y="577645"/>
                </a:lnTo>
                <a:lnTo>
                  <a:pt x="577623" y="545177"/>
                </a:lnTo>
                <a:lnTo>
                  <a:pt x="605333" y="508454"/>
                </a:lnTo>
                <a:lnTo>
                  <a:pt x="627772" y="467985"/>
                </a:lnTo>
                <a:lnTo>
                  <a:pt x="644430" y="424278"/>
                </a:lnTo>
                <a:lnTo>
                  <a:pt x="654798" y="377842"/>
                </a:lnTo>
                <a:lnTo>
                  <a:pt x="658368" y="329184"/>
                </a:lnTo>
                <a:lnTo>
                  <a:pt x="654798" y="280525"/>
                </a:lnTo>
                <a:lnTo>
                  <a:pt x="644430" y="234089"/>
                </a:lnTo>
                <a:lnTo>
                  <a:pt x="627772" y="190382"/>
                </a:lnTo>
                <a:lnTo>
                  <a:pt x="605333" y="149913"/>
                </a:lnTo>
                <a:lnTo>
                  <a:pt x="577623" y="113190"/>
                </a:lnTo>
                <a:lnTo>
                  <a:pt x="545151" y="80722"/>
                </a:lnTo>
                <a:lnTo>
                  <a:pt x="508426" y="53018"/>
                </a:lnTo>
                <a:lnTo>
                  <a:pt x="467958" y="30585"/>
                </a:lnTo>
                <a:lnTo>
                  <a:pt x="424255" y="13932"/>
                </a:lnTo>
                <a:lnTo>
                  <a:pt x="377827" y="3567"/>
                </a:lnTo>
                <a:lnTo>
                  <a:pt x="329184" y="0"/>
                </a:lnTo>
                <a:close/>
              </a:path>
            </a:pathLst>
          </a:custGeom>
          <a:solidFill>
            <a:srgbClr val="018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153" y="635253"/>
            <a:ext cx="592963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16313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35940" y="6616013"/>
            <a:ext cx="217551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1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50395" y="6616013"/>
            <a:ext cx="205231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B6D73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alert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14420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2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C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L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L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N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G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120"/>
              <a:t> </a:t>
            </a:r>
            <a:r>
              <a:rPr dirty="0" spc="-10"/>
              <a:t>Statement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669694"/>
            <a:ext cx="10227945" cy="636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100"/>
              </a:spcBef>
            </a:pP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Hospital</a:t>
            </a:r>
            <a:r>
              <a:rPr dirty="0" sz="160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data</a:t>
            </a:r>
            <a:r>
              <a:rPr dirty="0" sz="160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is</a:t>
            </a:r>
            <a:r>
              <a:rPr dirty="0" sz="160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scattered</a:t>
            </a:r>
            <a:r>
              <a:rPr dirty="0" sz="160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across</a:t>
            </a:r>
            <a:r>
              <a:rPr dirty="0" sz="160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separate</a:t>
            </a:r>
            <a:r>
              <a:rPr dirty="0" sz="160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systems</a:t>
            </a:r>
            <a:r>
              <a:rPr dirty="0" sz="160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60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60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admissions,</a:t>
            </a:r>
            <a:r>
              <a:rPr dirty="0" sz="160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department</a:t>
            </a:r>
            <a:r>
              <a:rPr dirty="0" sz="1600" spc="-20">
                <a:solidFill>
                  <a:srgbClr val="163139"/>
                </a:solidFill>
                <a:latin typeface="Calibri"/>
                <a:cs typeface="Calibri"/>
              </a:rPr>
              <a:t> capacity,</a:t>
            </a:r>
            <a:r>
              <a:rPr dirty="0" sz="160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staff</a:t>
            </a:r>
            <a:r>
              <a:rPr dirty="0" sz="160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schedules,</a:t>
            </a:r>
            <a:r>
              <a:rPr dirty="0" sz="160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60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billing</a:t>
            </a:r>
            <a:r>
              <a:rPr dirty="0" sz="1600" spc="-6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63139"/>
                </a:solidFill>
                <a:latin typeface="Calibri"/>
                <a:cs typeface="Calibri"/>
              </a:rPr>
              <a:t>all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live</a:t>
            </a:r>
            <a:r>
              <a:rPr dirty="0" sz="160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in</a:t>
            </a:r>
            <a:r>
              <a:rPr dirty="0" sz="160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different</a:t>
            </a:r>
            <a:r>
              <a:rPr dirty="0" sz="160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files,</a:t>
            </a:r>
            <a:r>
              <a:rPr dirty="0" sz="160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in</a:t>
            </a:r>
            <a:r>
              <a:rPr dirty="0" sz="160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different</a:t>
            </a:r>
            <a:r>
              <a:rPr dirty="0" sz="160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formats,</a:t>
            </a:r>
            <a:r>
              <a:rPr dirty="0" sz="160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updated</a:t>
            </a:r>
            <a:r>
              <a:rPr dirty="0" sz="160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63139"/>
                </a:solidFill>
                <a:latin typeface="Calibri"/>
                <a:cs typeface="Calibri"/>
              </a:rPr>
              <a:t>on</a:t>
            </a:r>
            <a:r>
              <a:rPr dirty="0" sz="160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different</a:t>
            </a:r>
            <a:r>
              <a:rPr dirty="0" sz="160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63139"/>
                </a:solidFill>
                <a:latin typeface="Calibri"/>
                <a:cs typeface="Calibri"/>
              </a:rPr>
              <a:t>cycles.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6610" y="2691129"/>
            <a:ext cx="5087620" cy="1612900"/>
            <a:chOff x="816610" y="2691129"/>
            <a:chExt cx="5087620" cy="1612900"/>
          </a:xfrm>
        </p:grpSpPr>
        <p:sp>
          <p:nvSpPr>
            <p:cNvPr id="7" name="object 7"/>
            <p:cNvSpPr/>
            <p:nvPr/>
          </p:nvSpPr>
          <p:spPr>
            <a:xfrm>
              <a:off x="822960" y="26974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527048"/>
                  </a:lnTo>
                  <a:lnTo>
                    <a:pt x="5748" y="1555515"/>
                  </a:lnTo>
                  <a:lnTo>
                    <a:pt x="21424" y="1578768"/>
                  </a:lnTo>
                  <a:lnTo>
                    <a:pt x="44673" y="1594449"/>
                  </a:lnTo>
                  <a:lnTo>
                    <a:pt x="73139" y="1600200"/>
                  </a:lnTo>
                  <a:lnTo>
                    <a:pt x="5001768" y="1600200"/>
                  </a:lnTo>
                  <a:lnTo>
                    <a:pt x="5030235" y="1594449"/>
                  </a:lnTo>
                  <a:lnTo>
                    <a:pt x="5053488" y="1578768"/>
                  </a:lnTo>
                  <a:lnTo>
                    <a:pt x="5069169" y="1555515"/>
                  </a:lnTo>
                  <a:lnTo>
                    <a:pt x="5074920" y="1527048"/>
                  </a:lnTo>
                  <a:lnTo>
                    <a:pt x="5074920" y="73152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26974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0" y="73152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2"/>
                  </a:lnTo>
                  <a:lnTo>
                    <a:pt x="5074920" y="1527048"/>
                  </a:lnTo>
                  <a:lnTo>
                    <a:pt x="5069169" y="1555515"/>
                  </a:lnTo>
                  <a:lnTo>
                    <a:pt x="5053488" y="1578768"/>
                  </a:lnTo>
                  <a:lnTo>
                    <a:pt x="5030235" y="1594449"/>
                  </a:lnTo>
                  <a:lnTo>
                    <a:pt x="5001768" y="1600200"/>
                  </a:lnTo>
                  <a:lnTo>
                    <a:pt x="73139" y="1600200"/>
                  </a:lnTo>
                  <a:lnTo>
                    <a:pt x="44673" y="1594449"/>
                  </a:lnTo>
                  <a:lnTo>
                    <a:pt x="21424" y="1578768"/>
                  </a:lnTo>
                  <a:lnTo>
                    <a:pt x="5748" y="1555515"/>
                  </a:lnTo>
                  <a:lnTo>
                    <a:pt x="0" y="152704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1560" y="29260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179982" y="2971926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9194" y="2906395"/>
            <a:ext cx="12655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5F6B"/>
                </a:solidFill>
                <a:latin typeface="Calibri"/>
                <a:cs typeface="Calibri"/>
              </a:rPr>
              <a:t>No</a:t>
            </a:r>
            <a:r>
              <a:rPr dirty="0" sz="150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05F6B"/>
                </a:solidFill>
                <a:latin typeface="Calibri"/>
                <a:cs typeface="Calibri"/>
              </a:rPr>
              <a:t>unified</a:t>
            </a:r>
            <a:r>
              <a:rPr dirty="0" sz="1500" spc="-5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500" spc="-20" b="1">
                <a:solidFill>
                  <a:srgbClr val="005F6B"/>
                </a:solidFill>
                <a:latin typeface="Calibri"/>
                <a:cs typeface="Calibri"/>
              </a:rPr>
              <a:t>view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194" y="3449585"/>
            <a:ext cx="3692525" cy="48387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Administrators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cannot</a:t>
            </a:r>
            <a:r>
              <a:rPr dirty="0" sz="12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see</a:t>
            </a:r>
            <a:r>
              <a:rPr dirty="0" sz="12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2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flow,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staffing,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cost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together</a:t>
            </a:r>
            <a:r>
              <a:rPr dirty="0" sz="12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in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one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place.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65850" y="2691129"/>
            <a:ext cx="5087620" cy="1612900"/>
            <a:chOff x="6165850" y="2691129"/>
            <a:chExt cx="5087620" cy="1612900"/>
          </a:xfrm>
        </p:grpSpPr>
        <p:sp>
          <p:nvSpPr>
            <p:cNvPr id="14" name="object 14"/>
            <p:cNvSpPr/>
            <p:nvPr/>
          </p:nvSpPr>
          <p:spPr>
            <a:xfrm>
              <a:off x="6172200" y="26974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527048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5001768" y="1600200"/>
                  </a:lnTo>
                  <a:lnTo>
                    <a:pt x="5030235" y="1594449"/>
                  </a:lnTo>
                  <a:lnTo>
                    <a:pt x="5053488" y="1578768"/>
                  </a:lnTo>
                  <a:lnTo>
                    <a:pt x="5069169" y="1555515"/>
                  </a:lnTo>
                  <a:lnTo>
                    <a:pt x="5074920" y="1527048"/>
                  </a:lnTo>
                  <a:lnTo>
                    <a:pt x="5074920" y="73152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72200" y="26974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2"/>
                  </a:lnTo>
                  <a:lnTo>
                    <a:pt x="5074920" y="1527048"/>
                  </a:lnTo>
                  <a:lnTo>
                    <a:pt x="5069169" y="1555515"/>
                  </a:lnTo>
                  <a:lnTo>
                    <a:pt x="5053488" y="1578768"/>
                  </a:lnTo>
                  <a:lnTo>
                    <a:pt x="5030235" y="1594449"/>
                  </a:lnTo>
                  <a:lnTo>
                    <a:pt x="5001768" y="1600200"/>
                  </a:lnTo>
                  <a:lnTo>
                    <a:pt x="73151" y="1600200"/>
                  </a:lnTo>
                  <a:lnTo>
                    <a:pt x="44684" y="1594449"/>
                  </a:lnTo>
                  <a:lnTo>
                    <a:pt x="21431" y="1578768"/>
                  </a:lnTo>
                  <a:lnTo>
                    <a:pt x="5750" y="1555515"/>
                  </a:lnTo>
                  <a:lnTo>
                    <a:pt x="0" y="152704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00800" y="29260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29831" y="2971926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29068" y="2906395"/>
            <a:ext cx="14668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05F6B"/>
                </a:solidFill>
                <a:latin typeface="Calibri"/>
                <a:cs typeface="Calibri"/>
              </a:rPr>
              <a:t>Reactive</a:t>
            </a:r>
            <a:r>
              <a:rPr dirty="0" sz="150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5F6B"/>
                </a:solidFill>
                <a:latin typeface="Calibri"/>
                <a:cs typeface="Calibri"/>
              </a:rPr>
              <a:t>decisions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29068" y="3449585"/>
            <a:ext cx="3791585" cy="48387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Without</a:t>
            </a:r>
            <a:r>
              <a:rPr dirty="0" sz="12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consolidated</a:t>
            </a:r>
            <a:r>
              <a:rPr dirty="0" sz="12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KPIs,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capacity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 staffing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issues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163139"/>
                </a:solidFill>
                <a:latin typeface="Calibri"/>
                <a:cs typeface="Calibri"/>
              </a:rPr>
              <a:t>are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noticed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after</a:t>
            </a:r>
            <a:r>
              <a:rPr dirty="0" sz="12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they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occur,</a:t>
            </a:r>
            <a:r>
              <a:rPr dirty="0" sz="12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not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before.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6610" y="4519929"/>
            <a:ext cx="5087620" cy="1612900"/>
            <a:chOff x="816610" y="4519929"/>
            <a:chExt cx="5087620" cy="1612900"/>
          </a:xfrm>
        </p:grpSpPr>
        <p:sp>
          <p:nvSpPr>
            <p:cNvPr id="21" name="object 21"/>
            <p:cNvSpPr/>
            <p:nvPr/>
          </p:nvSpPr>
          <p:spPr>
            <a:xfrm>
              <a:off x="822960" y="45262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527060"/>
                  </a:lnTo>
                  <a:lnTo>
                    <a:pt x="5748" y="1555526"/>
                  </a:lnTo>
                  <a:lnTo>
                    <a:pt x="21424" y="1578775"/>
                  </a:lnTo>
                  <a:lnTo>
                    <a:pt x="44673" y="1594451"/>
                  </a:lnTo>
                  <a:lnTo>
                    <a:pt x="73139" y="1600200"/>
                  </a:lnTo>
                  <a:lnTo>
                    <a:pt x="5001768" y="1600200"/>
                  </a:lnTo>
                  <a:lnTo>
                    <a:pt x="5030235" y="1594451"/>
                  </a:lnTo>
                  <a:lnTo>
                    <a:pt x="5053488" y="1578775"/>
                  </a:lnTo>
                  <a:lnTo>
                    <a:pt x="5069169" y="1555526"/>
                  </a:lnTo>
                  <a:lnTo>
                    <a:pt x="5074920" y="1527060"/>
                  </a:lnTo>
                  <a:lnTo>
                    <a:pt x="5074920" y="73152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22960" y="45262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0" y="73152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2"/>
                  </a:lnTo>
                  <a:lnTo>
                    <a:pt x="5074920" y="1527060"/>
                  </a:lnTo>
                  <a:lnTo>
                    <a:pt x="5069169" y="1555526"/>
                  </a:lnTo>
                  <a:lnTo>
                    <a:pt x="5053488" y="1578775"/>
                  </a:lnTo>
                  <a:lnTo>
                    <a:pt x="5030235" y="1594451"/>
                  </a:lnTo>
                  <a:lnTo>
                    <a:pt x="5001768" y="1600200"/>
                  </a:lnTo>
                  <a:lnTo>
                    <a:pt x="73139" y="1600200"/>
                  </a:lnTo>
                  <a:lnTo>
                    <a:pt x="44673" y="1594451"/>
                  </a:lnTo>
                  <a:lnTo>
                    <a:pt x="21424" y="1578775"/>
                  </a:lnTo>
                  <a:lnTo>
                    <a:pt x="5748" y="1555526"/>
                  </a:lnTo>
                  <a:lnTo>
                    <a:pt x="0" y="1527060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51560" y="47548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2" y="5071"/>
                  </a:lnTo>
                  <a:lnTo>
                    <a:pt x="107574" y="19518"/>
                  </a:lnTo>
                  <a:lnTo>
                    <a:pt x="71920" y="42187"/>
                  </a:lnTo>
                  <a:lnTo>
                    <a:pt x="42183" y="71925"/>
                  </a:lnTo>
                  <a:lnTo>
                    <a:pt x="19516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6" y="276468"/>
                  </a:lnTo>
                  <a:lnTo>
                    <a:pt x="42183" y="312122"/>
                  </a:lnTo>
                  <a:lnTo>
                    <a:pt x="71920" y="341860"/>
                  </a:lnTo>
                  <a:lnTo>
                    <a:pt x="107574" y="364529"/>
                  </a:lnTo>
                  <a:lnTo>
                    <a:pt x="147992" y="378976"/>
                  </a:lnTo>
                  <a:lnTo>
                    <a:pt x="192024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179982" y="4800980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79194" y="4735448"/>
            <a:ext cx="14090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5F6B"/>
                </a:solidFill>
                <a:latin typeface="Calibri"/>
                <a:cs typeface="Calibri"/>
              </a:rPr>
              <a:t>Manual</a:t>
            </a:r>
            <a:r>
              <a:rPr dirty="0" sz="150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5F6B"/>
                </a:solidFill>
                <a:latin typeface="Calibri"/>
                <a:cs typeface="Calibri"/>
              </a:rPr>
              <a:t>reporting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9194" y="5164263"/>
            <a:ext cx="3143250" cy="712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20100"/>
              </a:lnSpc>
              <a:spcBef>
                <a:spcPts val="105"/>
              </a:spcBef>
            </a:pP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Comparing</a:t>
            </a:r>
            <a:r>
              <a:rPr dirty="0" sz="12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department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performance</a:t>
            </a:r>
            <a:r>
              <a:rPr dirty="0" sz="12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or</a:t>
            </a:r>
            <a:r>
              <a:rPr dirty="0" sz="12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tracking readmissions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means</a:t>
            </a:r>
            <a:r>
              <a:rPr dirty="0" sz="12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manually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cross-referencing spreadsheets.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65850" y="4519929"/>
            <a:ext cx="5087620" cy="1612900"/>
            <a:chOff x="6165850" y="4519929"/>
            <a:chExt cx="5087620" cy="1612900"/>
          </a:xfrm>
        </p:grpSpPr>
        <p:sp>
          <p:nvSpPr>
            <p:cNvPr id="28" name="object 28"/>
            <p:cNvSpPr/>
            <p:nvPr/>
          </p:nvSpPr>
          <p:spPr>
            <a:xfrm>
              <a:off x="6172200" y="45262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527060"/>
                  </a:lnTo>
                  <a:lnTo>
                    <a:pt x="5750" y="1555526"/>
                  </a:lnTo>
                  <a:lnTo>
                    <a:pt x="21431" y="1578775"/>
                  </a:lnTo>
                  <a:lnTo>
                    <a:pt x="44684" y="1594451"/>
                  </a:lnTo>
                  <a:lnTo>
                    <a:pt x="73151" y="1600200"/>
                  </a:lnTo>
                  <a:lnTo>
                    <a:pt x="5001768" y="1600200"/>
                  </a:lnTo>
                  <a:lnTo>
                    <a:pt x="5030235" y="1594451"/>
                  </a:lnTo>
                  <a:lnTo>
                    <a:pt x="5053488" y="1578775"/>
                  </a:lnTo>
                  <a:lnTo>
                    <a:pt x="5069169" y="1555526"/>
                  </a:lnTo>
                  <a:lnTo>
                    <a:pt x="5074920" y="1527060"/>
                  </a:lnTo>
                  <a:lnTo>
                    <a:pt x="5074920" y="73152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172200" y="452627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2"/>
                  </a:lnTo>
                  <a:lnTo>
                    <a:pt x="5074920" y="1527060"/>
                  </a:lnTo>
                  <a:lnTo>
                    <a:pt x="5069169" y="1555526"/>
                  </a:lnTo>
                  <a:lnTo>
                    <a:pt x="5053488" y="1578775"/>
                  </a:lnTo>
                  <a:lnTo>
                    <a:pt x="5030235" y="1594451"/>
                  </a:lnTo>
                  <a:lnTo>
                    <a:pt x="5001768" y="1600200"/>
                  </a:lnTo>
                  <a:lnTo>
                    <a:pt x="73151" y="1600200"/>
                  </a:lnTo>
                  <a:lnTo>
                    <a:pt x="44684" y="1594451"/>
                  </a:lnTo>
                  <a:lnTo>
                    <a:pt x="21431" y="1578775"/>
                  </a:lnTo>
                  <a:lnTo>
                    <a:pt x="5750" y="1555526"/>
                  </a:lnTo>
                  <a:lnTo>
                    <a:pt x="0" y="1527060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00800" y="475487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529831" y="4800980"/>
            <a:ext cx="1282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2" name="object 32"/>
          <p:cNvSpPr txBox="1"/>
          <p:nvPr/>
        </p:nvSpPr>
        <p:spPr>
          <a:xfrm>
            <a:off x="7029068" y="4735448"/>
            <a:ext cx="20275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005F6B"/>
                </a:solidFill>
                <a:latin typeface="Calibri"/>
                <a:cs typeface="Calibri"/>
              </a:rPr>
              <a:t>Limited</a:t>
            </a:r>
            <a:r>
              <a:rPr dirty="0" sz="1500" spc="-6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500" b="1">
                <a:solidFill>
                  <a:srgbClr val="005F6B"/>
                </a:solidFill>
                <a:latin typeface="Calibri"/>
                <a:cs typeface="Calibri"/>
              </a:rPr>
              <a:t>financial</a:t>
            </a:r>
            <a:r>
              <a:rPr dirty="0" sz="1500" spc="-7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005F6B"/>
                </a:solidFill>
                <a:latin typeface="Calibri"/>
                <a:cs typeface="Calibri"/>
              </a:rPr>
              <a:t>visibility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29068" y="5279644"/>
            <a:ext cx="38125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Cost</a:t>
            </a:r>
            <a:r>
              <a:rPr dirty="0" sz="12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drivers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condition,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state,</a:t>
            </a:r>
            <a:r>
              <a:rPr dirty="0" sz="12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or</a:t>
            </a:r>
            <a:r>
              <a:rPr dirty="0" sz="12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department</a:t>
            </a:r>
            <a:r>
              <a:rPr dirty="0" sz="12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are</a:t>
            </a:r>
            <a:r>
              <a:rPr dirty="0" sz="12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difficult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to</a:t>
            </a:r>
            <a:r>
              <a:rPr dirty="0" sz="12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isolate</a:t>
            </a:r>
            <a:r>
              <a:rPr dirty="0" sz="12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for</a:t>
            </a:r>
            <a:r>
              <a:rPr dirty="0" sz="12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63139"/>
                </a:solidFill>
                <a:latin typeface="Calibri"/>
                <a:cs typeface="Calibri"/>
              </a:rPr>
              <a:t>budget</a:t>
            </a:r>
            <a:r>
              <a:rPr dirty="0" sz="12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63139"/>
                </a:solidFill>
                <a:latin typeface="Calibri"/>
                <a:cs typeface="Calibri"/>
              </a:rPr>
              <a:t>planning.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bulb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137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2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C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Proposed</a:t>
            </a:r>
            <a:r>
              <a:rPr dirty="0" spc="-85"/>
              <a:t> </a:t>
            </a:r>
            <a:r>
              <a:rPr dirty="0" spc="-10"/>
              <a:t>Solution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590877"/>
            <a:ext cx="10111740" cy="9321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8099"/>
              </a:lnSpc>
              <a:spcBef>
                <a:spcPts val="90"/>
              </a:spcBef>
            </a:pP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An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end-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to-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end</a:t>
            </a:r>
            <a:r>
              <a:rPr dirty="0" sz="15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analytics</a:t>
            </a:r>
            <a:r>
              <a:rPr dirty="0" sz="1550" spc="-6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pipeline</a:t>
            </a:r>
            <a:r>
              <a:rPr dirty="0" sz="15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that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collects,</a:t>
            </a:r>
            <a:r>
              <a:rPr dirty="0" sz="15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cleans,</a:t>
            </a:r>
            <a:r>
              <a:rPr dirty="0" sz="15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5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merges</a:t>
            </a:r>
            <a:r>
              <a:rPr dirty="0" sz="15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hospital</a:t>
            </a:r>
            <a:r>
              <a:rPr dirty="0" sz="15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data</a:t>
            </a:r>
            <a:r>
              <a:rPr dirty="0" sz="15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in</a:t>
            </a:r>
            <a:r>
              <a:rPr dirty="0" sz="15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Python,</a:t>
            </a:r>
            <a:r>
              <a:rPr dirty="0" sz="15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engineers</a:t>
            </a:r>
            <a:r>
              <a:rPr dirty="0" sz="15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core</a:t>
            </a:r>
            <a:r>
              <a:rPr dirty="0" sz="15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operational</a:t>
            </a:r>
            <a:r>
              <a:rPr dirty="0" sz="15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KPIs,</a:t>
            </a:r>
            <a:r>
              <a:rPr dirty="0" sz="15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25">
                <a:solidFill>
                  <a:srgbClr val="163139"/>
                </a:solidFill>
                <a:latin typeface="Calibri"/>
                <a:cs typeface="Calibri"/>
              </a:rPr>
              <a:t>and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delivers</a:t>
            </a:r>
            <a:r>
              <a:rPr dirty="0" sz="15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results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as</a:t>
            </a:r>
            <a:r>
              <a:rPr dirty="0" sz="15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an</a:t>
            </a:r>
            <a:r>
              <a:rPr dirty="0" sz="15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interactive,</a:t>
            </a:r>
            <a:r>
              <a:rPr dirty="0" sz="15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filterable</a:t>
            </a:r>
            <a:r>
              <a:rPr dirty="0" sz="15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dashboard</a:t>
            </a:r>
            <a:r>
              <a:rPr dirty="0" sz="15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suite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5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built</a:t>
            </a:r>
            <a:r>
              <a:rPr dirty="0" sz="15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independently</a:t>
            </a:r>
            <a:r>
              <a:rPr dirty="0" sz="15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in</a:t>
            </a:r>
            <a:r>
              <a:rPr dirty="0" sz="15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both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 Tableau</a:t>
            </a:r>
            <a:r>
              <a:rPr dirty="0" sz="15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Power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BI</a:t>
            </a:r>
            <a:r>
              <a:rPr dirty="0" sz="15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5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giving administrators</a:t>
            </a:r>
            <a:r>
              <a:rPr dirty="0" sz="1550" spc="-6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one</a:t>
            </a:r>
            <a:r>
              <a:rPr dirty="0" sz="15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consolidated,</a:t>
            </a:r>
            <a:r>
              <a:rPr dirty="0" sz="15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real-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time</a:t>
            </a:r>
            <a:r>
              <a:rPr dirty="0" sz="15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view</a:t>
            </a:r>
            <a:r>
              <a:rPr dirty="0" sz="15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5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550" spc="-25">
                <a:solidFill>
                  <a:srgbClr val="163139"/>
                </a:solidFill>
                <a:latin typeface="Calibri"/>
                <a:cs typeface="Calibri"/>
              </a:rPr>
              <a:t> flow,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staffing,</a:t>
            </a:r>
            <a:r>
              <a:rPr dirty="0" sz="15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5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163139"/>
                </a:solidFill>
                <a:latin typeface="Calibri"/>
                <a:cs typeface="Calibri"/>
              </a:rPr>
              <a:t>finances.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22960" y="2880360"/>
            <a:ext cx="2366010" cy="1920239"/>
            <a:chOff x="822960" y="2880360"/>
            <a:chExt cx="2366010" cy="1920239"/>
          </a:xfrm>
        </p:grpSpPr>
        <p:sp>
          <p:nvSpPr>
            <p:cNvPr id="7" name="object 7"/>
            <p:cNvSpPr/>
            <p:nvPr/>
          </p:nvSpPr>
          <p:spPr>
            <a:xfrm>
              <a:off x="822960" y="2880360"/>
              <a:ext cx="2366010" cy="1920239"/>
            </a:xfrm>
            <a:custGeom>
              <a:avLst/>
              <a:gdLst/>
              <a:ahLst/>
              <a:cxnLst/>
              <a:rect l="l" t="t" r="r" b="b"/>
              <a:pathLst>
                <a:path w="2366010" h="1920239">
                  <a:moveTo>
                    <a:pt x="2292858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1847088"/>
                  </a:lnTo>
                  <a:lnTo>
                    <a:pt x="5749" y="1875555"/>
                  </a:lnTo>
                  <a:lnTo>
                    <a:pt x="21428" y="1898808"/>
                  </a:lnTo>
                  <a:lnTo>
                    <a:pt x="44684" y="1914489"/>
                  </a:lnTo>
                  <a:lnTo>
                    <a:pt x="73164" y="1920239"/>
                  </a:lnTo>
                  <a:lnTo>
                    <a:pt x="2292858" y="1920239"/>
                  </a:lnTo>
                  <a:lnTo>
                    <a:pt x="2321325" y="1914489"/>
                  </a:lnTo>
                  <a:lnTo>
                    <a:pt x="2344578" y="1898808"/>
                  </a:lnTo>
                  <a:lnTo>
                    <a:pt x="2360259" y="1875555"/>
                  </a:lnTo>
                  <a:lnTo>
                    <a:pt x="2366010" y="1847088"/>
                  </a:lnTo>
                  <a:lnTo>
                    <a:pt x="2366010" y="73151"/>
                  </a:lnTo>
                  <a:lnTo>
                    <a:pt x="2360259" y="44684"/>
                  </a:lnTo>
                  <a:lnTo>
                    <a:pt x="2344578" y="21431"/>
                  </a:lnTo>
                  <a:lnTo>
                    <a:pt x="2321325" y="5750"/>
                  </a:lnTo>
                  <a:lnTo>
                    <a:pt x="2292858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85925" y="31089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79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icons/databas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3941" y="3236976"/>
              <a:ext cx="384048" cy="3840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32533" y="3888740"/>
            <a:ext cx="54737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Collect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5585" y="4363973"/>
            <a:ext cx="16014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raw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hospital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operation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1482" y="3613784"/>
            <a:ext cx="2559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5B6D73"/>
                </a:solidFill>
                <a:latin typeface="Calibri"/>
                <a:cs typeface="Calibri"/>
              </a:rPr>
              <a:t>→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09009" y="2880360"/>
            <a:ext cx="2366010" cy="1920239"/>
            <a:chOff x="3509009" y="2880360"/>
            <a:chExt cx="2366010" cy="1920239"/>
          </a:xfrm>
        </p:grpSpPr>
        <p:sp>
          <p:nvSpPr>
            <p:cNvPr id="14" name="object 14"/>
            <p:cNvSpPr/>
            <p:nvPr/>
          </p:nvSpPr>
          <p:spPr>
            <a:xfrm>
              <a:off x="3509009" y="2880360"/>
              <a:ext cx="2366010" cy="1920239"/>
            </a:xfrm>
            <a:custGeom>
              <a:avLst/>
              <a:gdLst/>
              <a:ahLst/>
              <a:cxnLst/>
              <a:rect l="l" t="t" r="r" b="b"/>
              <a:pathLst>
                <a:path w="2366010" h="1920239">
                  <a:moveTo>
                    <a:pt x="229285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47088"/>
                  </a:lnTo>
                  <a:lnTo>
                    <a:pt x="5750" y="1875555"/>
                  </a:lnTo>
                  <a:lnTo>
                    <a:pt x="21431" y="1898808"/>
                  </a:lnTo>
                  <a:lnTo>
                    <a:pt x="44684" y="1914489"/>
                  </a:lnTo>
                  <a:lnTo>
                    <a:pt x="73151" y="1920239"/>
                  </a:lnTo>
                  <a:lnTo>
                    <a:pt x="2292857" y="1920239"/>
                  </a:lnTo>
                  <a:lnTo>
                    <a:pt x="2321325" y="1914489"/>
                  </a:lnTo>
                  <a:lnTo>
                    <a:pt x="2344578" y="1898808"/>
                  </a:lnTo>
                  <a:lnTo>
                    <a:pt x="2360259" y="1875555"/>
                  </a:lnTo>
                  <a:lnTo>
                    <a:pt x="2366010" y="1847088"/>
                  </a:lnTo>
                  <a:lnTo>
                    <a:pt x="2366010" y="73151"/>
                  </a:lnTo>
                  <a:lnTo>
                    <a:pt x="2360259" y="44684"/>
                  </a:lnTo>
                  <a:lnTo>
                    <a:pt x="2344578" y="21431"/>
                  </a:lnTo>
                  <a:lnTo>
                    <a:pt x="2321325" y="5750"/>
                  </a:lnTo>
                  <a:lnTo>
                    <a:pt x="2292857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71974" y="31089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icons/broom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9990" y="3236976"/>
              <a:ext cx="384048" cy="38404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114038" y="3888740"/>
            <a:ext cx="115760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Clean</a:t>
            </a:r>
            <a:r>
              <a:rPr dirty="0" sz="14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4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52747" y="4363973"/>
            <a:ext cx="14770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Pandas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Jupyter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8040" y="3613784"/>
            <a:ext cx="2559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5B6D73"/>
                </a:solidFill>
                <a:latin typeface="Calibri"/>
                <a:cs typeface="Calibri"/>
              </a:rPr>
              <a:t>→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95059" y="2880360"/>
            <a:ext cx="2366010" cy="1920239"/>
            <a:chOff x="6195059" y="2880360"/>
            <a:chExt cx="2366010" cy="1920239"/>
          </a:xfrm>
        </p:grpSpPr>
        <p:sp>
          <p:nvSpPr>
            <p:cNvPr id="21" name="object 21"/>
            <p:cNvSpPr/>
            <p:nvPr/>
          </p:nvSpPr>
          <p:spPr>
            <a:xfrm>
              <a:off x="6195059" y="2880360"/>
              <a:ext cx="2366010" cy="1920239"/>
            </a:xfrm>
            <a:custGeom>
              <a:avLst/>
              <a:gdLst/>
              <a:ahLst/>
              <a:cxnLst/>
              <a:rect l="l" t="t" r="r" b="b"/>
              <a:pathLst>
                <a:path w="2366009" h="1920239">
                  <a:moveTo>
                    <a:pt x="229285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47088"/>
                  </a:lnTo>
                  <a:lnTo>
                    <a:pt x="5750" y="1875555"/>
                  </a:lnTo>
                  <a:lnTo>
                    <a:pt x="21431" y="1898808"/>
                  </a:lnTo>
                  <a:lnTo>
                    <a:pt x="44684" y="1914489"/>
                  </a:lnTo>
                  <a:lnTo>
                    <a:pt x="73151" y="1920239"/>
                  </a:lnTo>
                  <a:lnTo>
                    <a:pt x="2292858" y="1920239"/>
                  </a:lnTo>
                  <a:lnTo>
                    <a:pt x="2321325" y="1914489"/>
                  </a:lnTo>
                  <a:lnTo>
                    <a:pt x="2344578" y="1898808"/>
                  </a:lnTo>
                  <a:lnTo>
                    <a:pt x="2360259" y="1875555"/>
                  </a:lnTo>
                  <a:lnTo>
                    <a:pt x="2366010" y="1847088"/>
                  </a:lnTo>
                  <a:lnTo>
                    <a:pt x="2366010" y="73151"/>
                  </a:lnTo>
                  <a:lnTo>
                    <a:pt x="2360259" y="44684"/>
                  </a:lnTo>
                  <a:lnTo>
                    <a:pt x="2344578" y="21431"/>
                  </a:lnTo>
                  <a:lnTo>
                    <a:pt x="2321325" y="5750"/>
                  </a:lnTo>
                  <a:lnTo>
                    <a:pt x="2292858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058024" y="31089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icons/clipboar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86040" y="3236976"/>
              <a:ext cx="384048" cy="38404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850760" y="3888740"/>
            <a:ext cx="105600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Engineer</a:t>
            </a:r>
            <a:r>
              <a:rPr dirty="0" sz="145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0" b="1">
                <a:solidFill>
                  <a:srgbClr val="FFFFFF"/>
                </a:solidFill>
                <a:latin typeface="Calibri"/>
                <a:cs typeface="Calibri"/>
              </a:rPr>
              <a:t>KPIs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11290" y="4363973"/>
            <a:ext cx="173355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LOS, Occupancy,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Readmission </a:t>
            </a:r>
            <a:r>
              <a:rPr dirty="0" sz="1050" spc="-6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94597" y="3613784"/>
            <a:ext cx="25590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5B6D73"/>
                </a:solidFill>
                <a:latin typeface="Calibri"/>
                <a:cs typeface="Calibri"/>
              </a:rPr>
              <a:t>→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881109" y="2880360"/>
            <a:ext cx="2366010" cy="1920239"/>
            <a:chOff x="8881109" y="2880360"/>
            <a:chExt cx="2366010" cy="1920239"/>
          </a:xfrm>
        </p:grpSpPr>
        <p:sp>
          <p:nvSpPr>
            <p:cNvPr id="28" name="object 28"/>
            <p:cNvSpPr/>
            <p:nvPr/>
          </p:nvSpPr>
          <p:spPr>
            <a:xfrm>
              <a:off x="8881109" y="2880360"/>
              <a:ext cx="2366010" cy="1920239"/>
            </a:xfrm>
            <a:custGeom>
              <a:avLst/>
              <a:gdLst/>
              <a:ahLst/>
              <a:cxnLst/>
              <a:rect l="l" t="t" r="r" b="b"/>
              <a:pathLst>
                <a:path w="2366009" h="1920239">
                  <a:moveTo>
                    <a:pt x="229285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847088"/>
                  </a:lnTo>
                  <a:lnTo>
                    <a:pt x="5750" y="1875555"/>
                  </a:lnTo>
                  <a:lnTo>
                    <a:pt x="21431" y="1898808"/>
                  </a:lnTo>
                  <a:lnTo>
                    <a:pt x="44684" y="1914489"/>
                  </a:lnTo>
                  <a:lnTo>
                    <a:pt x="73151" y="1920239"/>
                  </a:lnTo>
                  <a:lnTo>
                    <a:pt x="2292858" y="1920239"/>
                  </a:lnTo>
                  <a:lnTo>
                    <a:pt x="2321325" y="1914489"/>
                  </a:lnTo>
                  <a:lnTo>
                    <a:pt x="2344578" y="1898808"/>
                  </a:lnTo>
                  <a:lnTo>
                    <a:pt x="2360259" y="1875555"/>
                  </a:lnTo>
                  <a:lnTo>
                    <a:pt x="2366010" y="1847088"/>
                  </a:lnTo>
                  <a:lnTo>
                    <a:pt x="2366010" y="73151"/>
                  </a:lnTo>
                  <a:lnTo>
                    <a:pt x="2360259" y="44684"/>
                  </a:lnTo>
                  <a:lnTo>
                    <a:pt x="2344578" y="21431"/>
                  </a:lnTo>
                  <a:lnTo>
                    <a:pt x="2321325" y="5750"/>
                  </a:lnTo>
                  <a:lnTo>
                    <a:pt x="2292858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744074" y="31089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79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icons/chartbar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2090" y="3236976"/>
              <a:ext cx="384048" cy="38404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386061" y="3888740"/>
            <a:ext cx="136334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dirty="0" sz="14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Dashboards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33001" y="4363973"/>
            <a:ext cx="10636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Tableau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1700" y="5107304"/>
            <a:ext cx="17125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65" b="1">
                <a:solidFill>
                  <a:srgbClr val="5B6D73"/>
                </a:solidFill>
                <a:latin typeface="Calibri"/>
                <a:cs typeface="Calibri"/>
              </a:rPr>
              <a:t>TOOLS</a:t>
            </a:r>
            <a:r>
              <a:rPr dirty="0" sz="1100" spc="229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5B6D73"/>
                </a:solidFill>
                <a:latin typeface="Calibri"/>
                <a:cs typeface="Calibri"/>
              </a:rPr>
              <a:t>&amp;</a:t>
            </a:r>
            <a:r>
              <a:rPr dirty="0" sz="1100" spc="204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100" spc="70" b="1">
                <a:solidFill>
                  <a:srgbClr val="5B6D73"/>
                </a:solidFill>
                <a:latin typeface="Calibri"/>
                <a:cs typeface="Calibri"/>
              </a:rPr>
              <a:t>TECHNOLOGIES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22960" y="5440679"/>
            <a:ext cx="502920" cy="502920"/>
            <a:chOff x="822960" y="5440679"/>
            <a:chExt cx="502920" cy="502920"/>
          </a:xfrm>
        </p:grpSpPr>
        <p:sp>
          <p:nvSpPr>
            <p:cNvPr id="35" name="object 35"/>
            <p:cNvSpPr/>
            <p:nvPr/>
          </p:nvSpPr>
          <p:spPr>
            <a:xfrm>
              <a:off x="822960" y="54406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59"/>
                  </a:lnTo>
                  <a:lnTo>
                    <a:pt x="15732" y="339201"/>
                  </a:lnTo>
                  <a:lnTo>
                    <a:pt x="34332" y="378375"/>
                  </a:lnTo>
                  <a:lnTo>
                    <a:pt x="59141" y="413471"/>
                  </a:lnTo>
                  <a:lnTo>
                    <a:pt x="89448" y="443778"/>
                  </a:lnTo>
                  <a:lnTo>
                    <a:pt x="124544" y="468587"/>
                  </a:lnTo>
                  <a:lnTo>
                    <a:pt x="163718" y="487187"/>
                  </a:lnTo>
                  <a:lnTo>
                    <a:pt x="206260" y="498868"/>
                  </a:lnTo>
                  <a:lnTo>
                    <a:pt x="251459" y="502920"/>
                  </a:lnTo>
                  <a:lnTo>
                    <a:pt x="296659" y="498868"/>
                  </a:lnTo>
                  <a:lnTo>
                    <a:pt x="339201" y="487187"/>
                  </a:lnTo>
                  <a:lnTo>
                    <a:pt x="378375" y="468587"/>
                  </a:lnTo>
                  <a:lnTo>
                    <a:pt x="413471" y="443778"/>
                  </a:lnTo>
                  <a:lnTo>
                    <a:pt x="443778" y="413471"/>
                  </a:lnTo>
                  <a:lnTo>
                    <a:pt x="468587" y="378375"/>
                  </a:lnTo>
                  <a:lnTo>
                    <a:pt x="487187" y="339201"/>
                  </a:lnTo>
                  <a:lnTo>
                    <a:pt x="498868" y="296659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05F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icons/python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8573" y="5546293"/>
              <a:ext cx="291693" cy="291693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59637" y="6022035"/>
            <a:ext cx="4311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63139"/>
                </a:solidFill>
                <a:latin typeface="Calibri"/>
                <a:cs typeface="Calibri"/>
              </a:rPr>
              <a:t>Python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926079" y="5440679"/>
            <a:ext cx="502920" cy="502920"/>
            <a:chOff x="2926079" y="5440679"/>
            <a:chExt cx="502920" cy="502920"/>
          </a:xfrm>
        </p:grpSpPr>
        <p:sp>
          <p:nvSpPr>
            <p:cNvPr id="39" name="object 39"/>
            <p:cNvSpPr/>
            <p:nvPr/>
          </p:nvSpPr>
          <p:spPr>
            <a:xfrm>
              <a:off x="2926079" y="54406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59"/>
                  </a:lnTo>
                  <a:lnTo>
                    <a:pt x="15725" y="339201"/>
                  </a:lnTo>
                  <a:lnTo>
                    <a:pt x="34318" y="378375"/>
                  </a:lnTo>
                  <a:lnTo>
                    <a:pt x="59120" y="413471"/>
                  </a:lnTo>
                  <a:lnTo>
                    <a:pt x="89422" y="443778"/>
                  </a:lnTo>
                  <a:lnTo>
                    <a:pt x="124516" y="468587"/>
                  </a:lnTo>
                  <a:lnTo>
                    <a:pt x="163693" y="487187"/>
                  </a:lnTo>
                  <a:lnTo>
                    <a:pt x="206243" y="498868"/>
                  </a:lnTo>
                  <a:lnTo>
                    <a:pt x="251459" y="502920"/>
                  </a:lnTo>
                  <a:lnTo>
                    <a:pt x="296676" y="498868"/>
                  </a:lnTo>
                  <a:lnTo>
                    <a:pt x="339226" y="487187"/>
                  </a:lnTo>
                  <a:lnTo>
                    <a:pt x="378403" y="468587"/>
                  </a:lnTo>
                  <a:lnTo>
                    <a:pt x="413497" y="443778"/>
                  </a:lnTo>
                  <a:lnTo>
                    <a:pt x="443799" y="413471"/>
                  </a:lnTo>
                  <a:lnTo>
                    <a:pt x="468601" y="378375"/>
                  </a:lnTo>
                  <a:lnTo>
                    <a:pt x="487194" y="339201"/>
                  </a:lnTo>
                  <a:lnTo>
                    <a:pt x="498870" y="296659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05F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icons/jupyter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31743" y="5546293"/>
              <a:ext cx="291693" cy="29169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2953892" y="6022035"/>
            <a:ext cx="4464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63139"/>
                </a:solidFill>
                <a:latin typeface="Calibri"/>
                <a:cs typeface="Calibri"/>
              </a:rPr>
              <a:t>Jupyter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029200" y="5440679"/>
            <a:ext cx="502920" cy="502920"/>
            <a:chOff x="5029200" y="5440679"/>
            <a:chExt cx="502920" cy="502920"/>
          </a:xfrm>
        </p:grpSpPr>
        <p:sp>
          <p:nvSpPr>
            <p:cNvPr id="43" name="object 43"/>
            <p:cNvSpPr/>
            <p:nvPr/>
          </p:nvSpPr>
          <p:spPr>
            <a:xfrm>
              <a:off x="5029200" y="54406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59"/>
                  </a:lnTo>
                  <a:lnTo>
                    <a:pt x="15725" y="339201"/>
                  </a:lnTo>
                  <a:lnTo>
                    <a:pt x="34318" y="378375"/>
                  </a:lnTo>
                  <a:lnTo>
                    <a:pt x="59120" y="413471"/>
                  </a:lnTo>
                  <a:lnTo>
                    <a:pt x="89422" y="443778"/>
                  </a:lnTo>
                  <a:lnTo>
                    <a:pt x="124516" y="468587"/>
                  </a:lnTo>
                  <a:lnTo>
                    <a:pt x="163693" y="487187"/>
                  </a:lnTo>
                  <a:lnTo>
                    <a:pt x="206243" y="498868"/>
                  </a:lnTo>
                  <a:lnTo>
                    <a:pt x="251460" y="502920"/>
                  </a:lnTo>
                  <a:lnTo>
                    <a:pt x="296676" y="498868"/>
                  </a:lnTo>
                  <a:lnTo>
                    <a:pt x="339226" y="487187"/>
                  </a:lnTo>
                  <a:lnTo>
                    <a:pt x="378403" y="468587"/>
                  </a:lnTo>
                  <a:lnTo>
                    <a:pt x="413497" y="443778"/>
                  </a:lnTo>
                  <a:lnTo>
                    <a:pt x="443799" y="413471"/>
                  </a:lnTo>
                  <a:lnTo>
                    <a:pt x="468601" y="378375"/>
                  </a:lnTo>
                  <a:lnTo>
                    <a:pt x="487194" y="339201"/>
                  </a:lnTo>
                  <a:lnTo>
                    <a:pt x="498870" y="296659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05F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icons/pandas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34863" y="5546293"/>
              <a:ext cx="291693" cy="291693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063490" y="6022035"/>
            <a:ext cx="434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63139"/>
                </a:solidFill>
                <a:latin typeface="Calibri"/>
                <a:cs typeface="Calibri"/>
              </a:rPr>
              <a:t>Pandas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132319" y="5440679"/>
            <a:ext cx="502920" cy="502920"/>
            <a:chOff x="7132319" y="5440679"/>
            <a:chExt cx="502920" cy="502920"/>
          </a:xfrm>
        </p:grpSpPr>
        <p:sp>
          <p:nvSpPr>
            <p:cNvPr id="47" name="object 47"/>
            <p:cNvSpPr/>
            <p:nvPr/>
          </p:nvSpPr>
          <p:spPr>
            <a:xfrm>
              <a:off x="7132319" y="54406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59"/>
                  </a:lnTo>
                  <a:lnTo>
                    <a:pt x="15725" y="339201"/>
                  </a:lnTo>
                  <a:lnTo>
                    <a:pt x="34318" y="378375"/>
                  </a:lnTo>
                  <a:lnTo>
                    <a:pt x="59120" y="413471"/>
                  </a:lnTo>
                  <a:lnTo>
                    <a:pt x="89422" y="443778"/>
                  </a:lnTo>
                  <a:lnTo>
                    <a:pt x="124516" y="468587"/>
                  </a:lnTo>
                  <a:lnTo>
                    <a:pt x="163693" y="487187"/>
                  </a:lnTo>
                  <a:lnTo>
                    <a:pt x="206243" y="498868"/>
                  </a:lnTo>
                  <a:lnTo>
                    <a:pt x="251459" y="502920"/>
                  </a:lnTo>
                  <a:lnTo>
                    <a:pt x="296676" y="498868"/>
                  </a:lnTo>
                  <a:lnTo>
                    <a:pt x="339226" y="487187"/>
                  </a:lnTo>
                  <a:lnTo>
                    <a:pt x="378403" y="468587"/>
                  </a:lnTo>
                  <a:lnTo>
                    <a:pt x="413497" y="443778"/>
                  </a:lnTo>
                  <a:lnTo>
                    <a:pt x="443799" y="413471"/>
                  </a:lnTo>
                  <a:lnTo>
                    <a:pt x="468601" y="378375"/>
                  </a:lnTo>
                  <a:lnTo>
                    <a:pt x="487194" y="339201"/>
                  </a:lnTo>
                  <a:lnTo>
                    <a:pt x="498870" y="296659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05F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icons/chartbar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7983" y="5546293"/>
              <a:ext cx="291693" cy="291693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145528" y="6022035"/>
            <a:ext cx="47688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63139"/>
                </a:solidFill>
                <a:latin typeface="Calibri"/>
                <a:cs typeface="Calibri"/>
              </a:rPr>
              <a:t>Tableau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235440" y="5440679"/>
            <a:ext cx="502920" cy="502920"/>
            <a:chOff x="9235440" y="5440679"/>
            <a:chExt cx="502920" cy="502920"/>
          </a:xfrm>
        </p:grpSpPr>
        <p:sp>
          <p:nvSpPr>
            <p:cNvPr id="51" name="object 51"/>
            <p:cNvSpPr/>
            <p:nvPr/>
          </p:nvSpPr>
          <p:spPr>
            <a:xfrm>
              <a:off x="9235440" y="54406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59"/>
                  </a:lnTo>
                  <a:lnTo>
                    <a:pt x="15725" y="339201"/>
                  </a:lnTo>
                  <a:lnTo>
                    <a:pt x="34318" y="378375"/>
                  </a:lnTo>
                  <a:lnTo>
                    <a:pt x="59120" y="413471"/>
                  </a:lnTo>
                  <a:lnTo>
                    <a:pt x="89422" y="443778"/>
                  </a:lnTo>
                  <a:lnTo>
                    <a:pt x="124516" y="468587"/>
                  </a:lnTo>
                  <a:lnTo>
                    <a:pt x="163693" y="487187"/>
                  </a:lnTo>
                  <a:lnTo>
                    <a:pt x="206243" y="498868"/>
                  </a:lnTo>
                  <a:lnTo>
                    <a:pt x="251459" y="502920"/>
                  </a:lnTo>
                  <a:lnTo>
                    <a:pt x="296676" y="498868"/>
                  </a:lnTo>
                  <a:lnTo>
                    <a:pt x="339226" y="487187"/>
                  </a:lnTo>
                  <a:lnTo>
                    <a:pt x="378403" y="468587"/>
                  </a:lnTo>
                  <a:lnTo>
                    <a:pt x="413497" y="443778"/>
                  </a:lnTo>
                  <a:lnTo>
                    <a:pt x="443799" y="413471"/>
                  </a:lnTo>
                  <a:lnTo>
                    <a:pt x="468601" y="378375"/>
                  </a:lnTo>
                  <a:lnTo>
                    <a:pt x="487194" y="339201"/>
                  </a:lnTo>
                  <a:lnTo>
                    <a:pt x="498870" y="296659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05F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icons/chartpie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1104" y="5546293"/>
              <a:ext cx="291693" cy="291693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9221469" y="6022035"/>
            <a:ext cx="5314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63139"/>
                </a:solidFill>
                <a:latin typeface="Calibri"/>
                <a:cs typeface="Calibri"/>
              </a:rPr>
              <a:t>Power</a:t>
            </a:r>
            <a:r>
              <a:rPr dirty="0" sz="1100" spc="-25">
                <a:solidFill>
                  <a:srgbClr val="163139"/>
                </a:solidFill>
                <a:latin typeface="Calibri"/>
                <a:cs typeface="Calibri"/>
              </a:rPr>
              <a:t> BI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databas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16573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C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L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L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C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Datasets</a:t>
            </a:r>
            <a:r>
              <a:rPr dirty="0" spc="-95"/>
              <a:t> </a:t>
            </a:r>
            <a:r>
              <a:rPr dirty="0" spc="-20"/>
              <a:t>Used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16610" y="1685289"/>
            <a:ext cx="2042795" cy="3578860"/>
            <a:chOff x="816610" y="1685289"/>
            <a:chExt cx="2042795" cy="3578860"/>
          </a:xfrm>
        </p:grpSpPr>
        <p:sp>
          <p:nvSpPr>
            <p:cNvPr id="6" name="object 6"/>
            <p:cNvSpPr/>
            <p:nvPr/>
          </p:nvSpPr>
          <p:spPr>
            <a:xfrm>
              <a:off x="822960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1956815" y="0"/>
                  </a:moveTo>
                  <a:lnTo>
                    <a:pt x="73164" y="0"/>
                  </a:lnTo>
                  <a:lnTo>
                    <a:pt x="44684" y="5750"/>
                  </a:lnTo>
                  <a:lnTo>
                    <a:pt x="21428" y="21431"/>
                  </a:lnTo>
                  <a:lnTo>
                    <a:pt x="5749" y="44684"/>
                  </a:lnTo>
                  <a:lnTo>
                    <a:pt x="0" y="73151"/>
                  </a:lnTo>
                  <a:lnTo>
                    <a:pt x="0" y="3493008"/>
                  </a:lnTo>
                  <a:lnTo>
                    <a:pt x="5749" y="3521475"/>
                  </a:lnTo>
                  <a:lnTo>
                    <a:pt x="21428" y="3544728"/>
                  </a:lnTo>
                  <a:lnTo>
                    <a:pt x="44684" y="3560409"/>
                  </a:lnTo>
                  <a:lnTo>
                    <a:pt x="73164" y="3566160"/>
                  </a:lnTo>
                  <a:lnTo>
                    <a:pt x="1956815" y="3566160"/>
                  </a:lnTo>
                  <a:lnTo>
                    <a:pt x="1985283" y="3560409"/>
                  </a:lnTo>
                  <a:lnTo>
                    <a:pt x="2008536" y="3544728"/>
                  </a:lnTo>
                  <a:lnTo>
                    <a:pt x="2024217" y="3521475"/>
                  </a:lnTo>
                  <a:lnTo>
                    <a:pt x="2029967" y="3493008"/>
                  </a:lnTo>
                  <a:lnTo>
                    <a:pt x="2029967" y="73151"/>
                  </a:lnTo>
                  <a:lnTo>
                    <a:pt x="2024217" y="44684"/>
                  </a:lnTo>
                  <a:lnTo>
                    <a:pt x="2008536" y="21431"/>
                  </a:lnTo>
                  <a:lnTo>
                    <a:pt x="1985283" y="5750"/>
                  </a:lnTo>
                  <a:lnTo>
                    <a:pt x="1956815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2960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0" y="73151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1956815" y="0"/>
                  </a:lnTo>
                  <a:lnTo>
                    <a:pt x="1985283" y="5750"/>
                  </a:lnTo>
                  <a:lnTo>
                    <a:pt x="2008536" y="21431"/>
                  </a:lnTo>
                  <a:lnTo>
                    <a:pt x="2024217" y="44684"/>
                  </a:lnTo>
                  <a:lnTo>
                    <a:pt x="2029967" y="73151"/>
                  </a:lnTo>
                  <a:lnTo>
                    <a:pt x="2029967" y="3493008"/>
                  </a:lnTo>
                  <a:lnTo>
                    <a:pt x="2024217" y="3521475"/>
                  </a:lnTo>
                  <a:lnTo>
                    <a:pt x="2008536" y="3544728"/>
                  </a:lnTo>
                  <a:lnTo>
                    <a:pt x="1985283" y="3560409"/>
                  </a:lnTo>
                  <a:lnTo>
                    <a:pt x="1956815" y="3566160"/>
                  </a:lnTo>
                  <a:lnTo>
                    <a:pt x="73164" y="3566160"/>
                  </a:lnTo>
                  <a:lnTo>
                    <a:pt x="44684" y="3560409"/>
                  </a:lnTo>
                  <a:lnTo>
                    <a:pt x="21428" y="3544728"/>
                  </a:lnTo>
                  <a:lnTo>
                    <a:pt x="5749" y="3521475"/>
                  </a:lnTo>
                  <a:lnTo>
                    <a:pt x="0" y="34930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1691639"/>
              <a:ext cx="2030095" cy="905510"/>
            </a:xfrm>
            <a:custGeom>
              <a:avLst/>
              <a:gdLst/>
              <a:ahLst/>
              <a:cxnLst/>
              <a:rect l="l" t="t" r="r" b="b"/>
              <a:pathLst>
                <a:path w="2030095" h="905510">
                  <a:moveTo>
                    <a:pt x="1307592" y="612648"/>
                  </a:moveTo>
                  <a:lnTo>
                    <a:pt x="1303756" y="565200"/>
                  </a:lnTo>
                  <a:lnTo>
                    <a:pt x="1292656" y="520192"/>
                  </a:lnTo>
                  <a:lnTo>
                    <a:pt x="1274914" y="478205"/>
                  </a:lnTo>
                  <a:lnTo>
                    <a:pt x="1251115" y="439864"/>
                  </a:lnTo>
                  <a:lnTo>
                    <a:pt x="1221854" y="405765"/>
                  </a:lnTo>
                  <a:lnTo>
                    <a:pt x="1187767" y="376516"/>
                  </a:lnTo>
                  <a:lnTo>
                    <a:pt x="1149426" y="352717"/>
                  </a:lnTo>
                  <a:lnTo>
                    <a:pt x="1107440" y="334975"/>
                  </a:lnTo>
                  <a:lnTo>
                    <a:pt x="1062431" y="323875"/>
                  </a:lnTo>
                  <a:lnTo>
                    <a:pt x="1014984" y="320040"/>
                  </a:lnTo>
                  <a:lnTo>
                    <a:pt x="967524" y="323875"/>
                  </a:lnTo>
                  <a:lnTo>
                    <a:pt x="922515" y="334975"/>
                  </a:lnTo>
                  <a:lnTo>
                    <a:pt x="880529" y="352717"/>
                  </a:lnTo>
                  <a:lnTo>
                    <a:pt x="842187" y="376516"/>
                  </a:lnTo>
                  <a:lnTo>
                    <a:pt x="808101" y="405765"/>
                  </a:lnTo>
                  <a:lnTo>
                    <a:pt x="778840" y="439864"/>
                  </a:lnTo>
                  <a:lnTo>
                    <a:pt x="755040" y="478205"/>
                  </a:lnTo>
                  <a:lnTo>
                    <a:pt x="737298" y="520192"/>
                  </a:lnTo>
                  <a:lnTo>
                    <a:pt x="726198" y="565200"/>
                  </a:lnTo>
                  <a:lnTo>
                    <a:pt x="722376" y="612648"/>
                  </a:lnTo>
                  <a:lnTo>
                    <a:pt x="726198" y="660107"/>
                  </a:lnTo>
                  <a:lnTo>
                    <a:pt x="737298" y="705116"/>
                  </a:lnTo>
                  <a:lnTo>
                    <a:pt x="755040" y="747102"/>
                  </a:lnTo>
                  <a:lnTo>
                    <a:pt x="778840" y="785444"/>
                  </a:lnTo>
                  <a:lnTo>
                    <a:pt x="808101" y="819531"/>
                  </a:lnTo>
                  <a:lnTo>
                    <a:pt x="842187" y="848791"/>
                  </a:lnTo>
                  <a:lnTo>
                    <a:pt x="880529" y="872591"/>
                  </a:lnTo>
                  <a:lnTo>
                    <a:pt x="922515" y="890333"/>
                  </a:lnTo>
                  <a:lnTo>
                    <a:pt x="967524" y="901433"/>
                  </a:lnTo>
                  <a:lnTo>
                    <a:pt x="1014984" y="905256"/>
                  </a:lnTo>
                  <a:lnTo>
                    <a:pt x="1062431" y="901433"/>
                  </a:lnTo>
                  <a:lnTo>
                    <a:pt x="1107440" y="890333"/>
                  </a:lnTo>
                  <a:lnTo>
                    <a:pt x="1149426" y="872591"/>
                  </a:lnTo>
                  <a:lnTo>
                    <a:pt x="1187767" y="848791"/>
                  </a:lnTo>
                  <a:lnTo>
                    <a:pt x="1221867" y="819531"/>
                  </a:lnTo>
                  <a:lnTo>
                    <a:pt x="1251115" y="785444"/>
                  </a:lnTo>
                  <a:lnTo>
                    <a:pt x="1274914" y="747102"/>
                  </a:lnTo>
                  <a:lnTo>
                    <a:pt x="1292656" y="705116"/>
                  </a:lnTo>
                  <a:lnTo>
                    <a:pt x="1303756" y="660107"/>
                  </a:lnTo>
                  <a:lnTo>
                    <a:pt x="1307592" y="612648"/>
                  </a:lnTo>
                  <a:close/>
                </a:path>
                <a:path w="2030095" h="905510">
                  <a:moveTo>
                    <a:pt x="2029968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029968" y="109728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icons/clipboar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7035" y="2143328"/>
              <a:ext cx="321868" cy="32186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76324" y="3018789"/>
            <a:ext cx="132207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b="1">
                <a:solidFill>
                  <a:srgbClr val="005F6B"/>
                </a:solidFill>
                <a:latin typeface="Calibri"/>
                <a:cs typeface="Calibri"/>
              </a:rPr>
              <a:t>Hospital</a:t>
            </a:r>
            <a:r>
              <a:rPr dirty="0" sz="1250" spc="-6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005F6B"/>
                </a:solidFill>
                <a:latin typeface="Calibri"/>
                <a:cs typeface="Calibri"/>
              </a:rPr>
              <a:t>Patient.csv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6428" y="3636086"/>
            <a:ext cx="11842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984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rows</a:t>
            </a:r>
            <a:r>
              <a:rPr dirty="0" sz="1200" spc="-2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×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15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cols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7744" y="4341393"/>
            <a:ext cx="145923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7950">
              <a:lnSpc>
                <a:spcPct val="114300"/>
              </a:lnSpc>
              <a:spcBef>
                <a:spcPts val="95"/>
              </a:spcBef>
            </a:pP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Patient</a:t>
            </a:r>
            <a:r>
              <a:rPr dirty="0" sz="1050" spc="-3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D73"/>
                </a:solidFill>
                <a:latin typeface="Calibri"/>
                <a:cs typeface="Calibri"/>
              </a:rPr>
              <a:t>demographics,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condition,</a:t>
            </a:r>
            <a:r>
              <a:rPr dirty="0" sz="1050" spc="-3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cost</a:t>
            </a:r>
            <a:r>
              <a:rPr dirty="0" sz="1050" spc="-1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&amp;</a:t>
            </a:r>
            <a:r>
              <a:rPr dirty="0" sz="1050" spc="-3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D73"/>
                </a:solidFill>
                <a:latin typeface="Calibri"/>
                <a:cs typeface="Calibri"/>
              </a:rPr>
              <a:t>outcome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83738" y="1685289"/>
            <a:ext cx="2042795" cy="3578860"/>
            <a:chOff x="2983738" y="1685289"/>
            <a:chExt cx="2042795" cy="3578860"/>
          </a:xfrm>
        </p:grpSpPr>
        <p:sp>
          <p:nvSpPr>
            <p:cNvPr id="14" name="object 14"/>
            <p:cNvSpPr/>
            <p:nvPr/>
          </p:nvSpPr>
          <p:spPr>
            <a:xfrm>
              <a:off x="2990088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1956815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493008"/>
                  </a:lnTo>
                  <a:lnTo>
                    <a:pt x="5750" y="3521475"/>
                  </a:lnTo>
                  <a:lnTo>
                    <a:pt x="21431" y="3544728"/>
                  </a:lnTo>
                  <a:lnTo>
                    <a:pt x="44684" y="3560409"/>
                  </a:lnTo>
                  <a:lnTo>
                    <a:pt x="73151" y="3566160"/>
                  </a:lnTo>
                  <a:lnTo>
                    <a:pt x="1956815" y="3566160"/>
                  </a:lnTo>
                  <a:lnTo>
                    <a:pt x="1985283" y="3560409"/>
                  </a:lnTo>
                  <a:lnTo>
                    <a:pt x="2008536" y="3544728"/>
                  </a:lnTo>
                  <a:lnTo>
                    <a:pt x="2024217" y="3521475"/>
                  </a:lnTo>
                  <a:lnTo>
                    <a:pt x="2029967" y="3493008"/>
                  </a:lnTo>
                  <a:lnTo>
                    <a:pt x="2029967" y="73151"/>
                  </a:lnTo>
                  <a:lnTo>
                    <a:pt x="2024217" y="44684"/>
                  </a:lnTo>
                  <a:lnTo>
                    <a:pt x="2008536" y="21431"/>
                  </a:lnTo>
                  <a:lnTo>
                    <a:pt x="1985283" y="5750"/>
                  </a:lnTo>
                  <a:lnTo>
                    <a:pt x="1956815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90088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956815" y="0"/>
                  </a:lnTo>
                  <a:lnTo>
                    <a:pt x="1985283" y="5750"/>
                  </a:lnTo>
                  <a:lnTo>
                    <a:pt x="2008536" y="21431"/>
                  </a:lnTo>
                  <a:lnTo>
                    <a:pt x="2024217" y="44684"/>
                  </a:lnTo>
                  <a:lnTo>
                    <a:pt x="2029967" y="73151"/>
                  </a:lnTo>
                  <a:lnTo>
                    <a:pt x="2029967" y="3493008"/>
                  </a:lnTo>
                  <a:lnTo>
                    <a:pt x="2024217" y="3521475"/>
                  </a:lnTo>
                  <a:lnTo>
                    <a:pt x="2008536" y="3544728"/>
                  </a:lnTo>
                  <a:lnTo>
                    <a:pt x="1985283" y="3560409"/>
                  </a:lnTo>
                  <a:lnTo>
                    <a:pt x="1956815" y="3566160"/>
                  </a:lnTo>
                  <a:lnTo>
                    <a:pt x="73151" y="3566160"/>
                  </a:lnTo>
                  <a:lnTo>
                    <a:pt x="44684" y="3560409"/>
                  </a:lnTo>
                  <a:lnTo>
                    <a:pt x="21431" y="3544728"/>
                  </a:lnTo>
                  <a:lnTo>
                    <a:pt x="5750" y="3521475"/>
                  </a:lnTo>
                  <a:lnTo>
                    <a:pt x="0" y="34930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90088" y="1691639"/>
              <a:ext cx="2030095" cy="905510"/>
            </a:xfrm>
            <a:custGeom>
              <a:avLst/>
              <a:gdLst/>
              <a:ahLst/>
              <a:cxnLst/>
              <a:rect l="l" t="t" r="r" b="b"/>
              <a:pathLst>
                <a:path w="2030095" h="905510">
                  <a:moveTo>
                    <a:pt x="1307592" y="612648"/>
                  </a:moveTo>
                  <a:lnTo>
                    <a:pt x="1303756" y="565200"/>
                  </a:lnTo>
                  <a:lnTo>
                    <a:pt x="1292656" y="520192"/>
                  </a:lnTo>
                  <a:lnTo>
                    <a:pt x="1274914" y="478205"/>
                  </a:lnTo>
                  <a:lnTo>
                    <a:pt x="1251115" y="439864"/>
                  </a:lnTo>
                  <a:lnTo>
                    <a:pt x="1221867" y="405765"/>
                  </a:lnTo>
                  <a:lnTo>
                    <a:pt x="1187767" y="376516"/>
                  </a:lnTo>
                  <a:lnTo>
                    <a:pt x="1149426" y="352717"/>
                  </a:lnTo>
                  <a:lnTo>
                    <a:pt x="1107440" y="334975"/>
                  </a:lnTo>
                  <a:lnTo>
                    <a:pt x="1062431" y="323875"/>
                  </a:lnTo>
                  <a:lnTo>
                    <a:pt x="1014984" y="320040"/>
                  </a:lnTo>
                  <a:lnTo>
                    <a:pt x="967524" y="323875"/>
                  </a:lnTo>
                  <a:lnTo>
                    <a:pt x="922515" y="334975"/>
                  </a:lnTo>
                  <a:lnTo>
                    <a:pt x="880529" y="352717"/>
                  </a:lnTo>
                  <a:lnTo>
                    <a:pt x="842187" y="376516"/>
                  </a:lnTo>
                  <a:lnTo>
                    <a:pt x="808088" y="405765"/>
                  </a:lnTo>
                  <a:lnTo>
                    <a:pt x="778840" y="439864"/>
                  </a:lnTo>
                  <a:lnTo>
                    <a:pt x="755040" y="478205"/>
                  </a:lnTo>
                  <a:lnTo>
                    <a:pt x="737298" y="520192"/>
                  </a:lnTo>
                  <a:lnTo>
                    <a:pt x="726198" y="565200"/>
                  </a:lnTo>
                  <a:lnTo>
                    <a:pt x="722376" y="612648"/>
                  </a:lnTo>
                  <a:lnTo>
                    <a:pt x="726198" y="660107"/>
                  </a:lnTo>
                  <a:lnTo>
                    <a:pt x="737298" y="705116"/>
                  </a:lnTo>
                  <a:lnTo>
                    <a:pt x="755040" y="747102"/>
                  </a:lnTo>
                  <a:lnTo>
                    <a:pt x="778840" y="785444"/>
                  </a:lnTo>
                  <a:lnTo>
                    <a:pt x="808101" y="819531"/>
                  </a:lnTo>
                  <a:lnTo>
                    <a:pt x="842187" y="848791"/>
                  </a:lnTo>
                  <a:lnTo>
                    <a:pt x="880529" y="872591"/>
                  </a:lnTo>
                  <a:lnTo>
                    <a:pt x="922515" y="890333"/>
                  </a:lnTo>
                  <a:lnTo>
                    <a:pt x="967524" y="901433"/>
                  </a:lnTo>
                  <a:lnTo>
                    <a:pt x="1014984" y="905256"/>
                  </a:lnTo>
                  <a:lnTo>
                    <a:pt x="1062431" y="901433"/>
                  </a:lnTo>
                  <a:lnTo>
                    <a:pt x="1107440" y="890333"/>
                  </a:lnTo>
                  <a:lnTo>
                    <a:pt x="1149426" y="872591"/>
                  </a:lnTo>
                  <a:lnTo>
                    <a:pt x="1187767" y="848791"/>
                  </a:lnTo>
                  <a:lnTo>
                    <a:pt x="1221867" y="819531"/>
                  </a:lnTo>
                  <a:lnTo>
                    <a:pt x="1251115" y="785444"/>
                  </a:lnTo>
                  <a:lnTo>
                    <a:pt x="1274914" y="747102"/>
                  </a:lnTo>
                  <a:lnTo>
                    <a:pt x="1292656" y="705116"/>
                  </a:lnTo>
                  <a:lnTo>
                    <a:pt x="1303756" y="660107"/>
                  </a:lnTo>
                  <a:lnTo>
                    <a:pt x="1307592" y="612648"/>
                  </a:lnTo>
                  <a:close/>
                </a:path>
                <a:path w="2030095" h="905510">
                  <a:moveTo>
                    <a:pt x="2029968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029968" y="109728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icons/clipboar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4163" y="2143328"/>
              <a:ext cx="321868" cy="32186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601339" y="3018789"/>
            <a:ext cx="80708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05F6B"/>
                </a:solidFill>
                <a:latin typeface="Calibri"/>
                <a:cs typeface="Calibri"/>
              </a:rPr>
              <a:t>patients.csv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4075" y="3636086"/>
            <a:ext cx="12236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1,000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rows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×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7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cols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8646" y="4341393"/>
            <a:ext cx="121475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6055" marR="5080" indent="-173990">
              <a:lnSpc>
                <a:spcPct val="114300"/>
              </a:lnSpc>
              <a:spcBef>
                <a:spcPts val="95"/>
              </a:spcBef>
            </a:pP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Patient</a:t>
            </a:r>
            <a:r>
              <a:rPr dirty="0" sz="1050" spc="-3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visits</a:t>
            </a:r>
            <a:r>
              <a:rPr dirty="0" sz="1050" spc="-2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linked</a:t>
            </a:r>
            <a:r>
              <a:rPr dirty="0" sz="1050" spc="-4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5B6D73"/>
                </a:solidFill>
                <a:latin typeface="Calibri"/>
                <a:cs typeface="Calibri"/>
              </a:rPr>
              <a:t>to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hospital</a:t>
            </a:r>
            <a:r>
              <a:rPr dirty="0" sz="1050" spc="-3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D73"/>
                </a:solidFill>
                <a:latin typeface="Calibri"/>
                <a:cs typeface="Calibri"/>
              </a:rPr>
              <a:t>service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50865" y="1685289"/>
            <a:ext cx="2042795" cy="3578860"/>
            <a:chOff x="5150865" y="1685289"/>
            <a:chExt cx="2042795" cy="3578860"/>
          </a:xfrm>
        </p:grpSpPr>
        <p:sp>
          <p:nvSpPr>
            <p:cNvPr id="22" name="object 22"/>
            <p:cNvSpPr/>
            <p:nvPr/>
          </p:nvSpPr>
          <p:spPr>
            <a:xfrm>
              <a:off x="5157215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1956815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493008"/>
                  </a:lnTo>
                  <a:lnTo>
                    <a:pt x="5750" y="3521475"/>
                  </a:lnTo>
                  <a:lnTo>
                    <a:pt x="21431" y="3544728"/>
                  </a:lnTo>
                  <a:lnTo>
                    <a:pt x="44684" y="3560409"/>
                  </a:lnTo>
                  <a:lnTo>
                    <a:pt x="73151" y="3566160"/>
                  </a:lnTo>
                  <a:lnTo>
                    <a:pt x="1956815" y="3566160"/>
                  </a:lnTo>
                  <a:lnTo>
                    <a:pt x="1985283" y="3560409"/>
                  </a:lnTo>
                  <a:lnTo>
                    <a:pt x="2008536" y="3544728"/>
                  </a:lnTo>
                  <a:lnTo>
                    <a:pt x="2024217" y="3521475"/>
                  </a:lnTo>
                  <a:lnTo>
                    <a:pt x="2029967" y="3493008"/>
                  </a:lnTo>
                  <a:lnTo>
                    <a:pt x="2029967" y="73151"/>
                  </a:lnTo>
                  <a:lnTo>
                    <a:pt x="2024217" y="44684"/>
                  </a:lnTo>
                  <a:lnTo>
                    <a:pt x="2008536" y="21431"/>
                  </a:lnTo>
                  <a:lnTo>
                    <a:pt x="1985283" y="5750"/>
                  </a:lnTo>
                  <a:lnTo>
                    <a:pt x="1956815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157215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956815" y="0"/>
                  </a:lnTo>
                  <a:lnTo>
                    <a:pt x="1985283" y="5750"/>
                  </a:lnTo>
                  <a:lnTo>
                    <a:pt x="2008536" y="21431"/>
                  </a:lnTo>
                  <a:lnTo>
                    <a:pt x="2024217" y="44684"/>
                  </a:lnTo>
                  <a:lnTo>
                    <a:pt x="2029967" y="73151"/>
                  </a:lnTo>
                  <a:lnTo>
                    <a:pt x="2029967" y="3493008"/>
                  </a:lnTo>
                  <a:lnTo>
                    <a:pt x="2024217" y="3521475"/>
                  </a:lnTo>
                  <a:lnTo>
                    <a:pt x="2008536" y="3544728"/>
                  </a:lnTo>
                  <a:lnTo>
                    <a:pt x="1985283" y="3560409"/>
                  </a:lnTo>
                  <a:lnTo>
                    <a:pt x="1956815" y="3566160"/>
                  </a:lnTo>
                  <a:lnTo>
                    <a:pt x="73151" y="3566160"/>
                  </a:lnTo>
                  <a:lnTo>
                    <a:pt x="44684" y="3560409"/>
                  </a:lnTo>
                  <a:lnTo>
                    <a:pt x="21431" y="3544728"/>
                  </a:lnTo>
                  <a:lnTo>
                    <a:pt x="5750" y="3521475"/>
                  </a:lnTo>
                  <a:lnTo>
                    <a:pt x="0" y="34930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157216" y="1691639"/>
              <a:ext cx="2030095" cy="905510"/>
            </a:xfrm>
            <a:custGeom>
              <a:avLst/>
              <a:gdLst/>
              <a:ahLst/>
              <a:cxnLst/>
              <a:rect l="l" t="t" r="r" b="b"/>
              <a:pathLst>
                <a:path w="2030095" h="905510">
                  <a:moveTo>
                    <a:pt x="1307592" y="612648"/>
                  </a:moveTo>
                  <a:lnTo>
                    <a:pt x="1303756" y="565200"/>
                  </a:lnTo>
                  <a:lnTo>
                    <a:pt x="1292656" y="520192"/>
                  </a:lnTo>
                  <a:lnTo>
                    <a:pt x="1274914" y="478205"/>
                  </a:lnTo>
                  <a:lnTo>
                    <a:pt x="1251115" y="439864"/>
                  </a:lnTo>
                  <a:lnTo>
                    <a:pt x="1221867" y="405765"/>
                  </a:lnTo>
                  <a:lnTo>
                    <a:pt x="1187767" y="376516"/>
                  </a:lnTo>
                  <a:lnTo>
                    <a:pt x="1149426" y="352717"/>
                  </a:lnTo>
                  <a:lnTo>
                    <a:pt x="1107440" y="334975"/>
                  </a:lnTo>
                  <a:lnTo>
                    <a:pt x="1062431" y="323875"/>
                  </a:lnTo>
                  <a:lnTo>
                    <a:pt x="1014984" y="320040"/>
                  </a:lnTo>
                  <a:lnTo>
                    <a:pt x="967524" y="323875"/>
                  </a:lnTo>
                  <a:lnTo>
                    <a:pt x="922515" y="334975"/>
                  </a:lnTo>
                  <a:lnTo>
                    <a:pt x="880529" y="352717"/>
                  </a:lnTo>
                  <a:lnTo>
                    <a:pt x="842187" y="376516"/>
                  </a:lnTo>
                  <a:lnTo>
                    <a:pt x="808088" y="405765"/>
                  </a:lnTo>
                  <a:lnTo>
                    <a:pt x="778840" y="439864"/>
                  </a:lnTo>
                  <a:lnTo>
                    <a:pt x="755040" y="478205"/>
                  </a:lnTo>
                  <a:lnTo>
                    <a:pt x="737298" y="520192"/>
                  </a:lnTo>
                  <a:lnTo>
                    <a:pt x="726198" y="565200"/>
                  </a:lnTo>
                  <a:lnTo>
                    <a:pt x="722376" y="612648"/>
                  </a:lnTo>
                  <a:lnTo>
                    <a:pt x="726198" y="660107"/>
                  </a:lnTo>
                  <a:lnTo>
                    <a:pt x="737298" y="705116"/>
                  </a:lnTo>
                  <a:lnTo>
                    <a:pt x="755040" y="747102"/>
                  </a:lnTo>
                  <a:lnTo>
                    <a:pt x="778840" y="785444"/>
                  </a:lnTo>
                  <a:lnTo>
                    <a:pt x="808101" y="819531"/>
                  </a:lnTo>
                  <a:lnTo>
                    <a:pt x="842187" y="848791"/>
                  </a:lnTo>
                  <a:lnTo>
                    <a:pt x="880529" y="872591"/>
                  </a:lnTo>
                  <a:lnTo>
                    <a:pt x="922515" y="890333"/>
                  </a:lnTo>
                  <a:lnTo>
                    <a:pt x="967524" y="901433"/>
                  </a:lnTo>
                  <a:lnTo>
                    <a:pt x="1014984" y="905256"/>
                  </a:lnTo>
                  <a:lnTo>
                    <a:pt x="1062431" y="901433"/>
                  </a:lnTo>
                  <a:lnTo>
                    <a:pt x="1107440" y="890333"/>
                  </a:lnTo>
                  <a:lnTo>
                    <a:pt x="1149426" y="872591"/>
                  </a:lnTo>
                  <a:lnTo>
                    <a:pt x="1187767" y="848791"/>
                  </a:lnTo>
                  <a:lnTo>
                    <a:pt x="1221867" y="819531"/>
                  </a:lnTo>
                  <a:lnTo>
                    <a:pt x="1251115" y="785444"/>
                  </a:lnTo>
                  <a:lnTo>
                    <a:pt x="1274914" y="747102"/>
                  </a:lnTo>
                  <a:lnTo>
                    <a:pt x="1292656" y="705116"/>
                  </a:lnTo>
                  <a:lnTo>
                    <a:pt x="1303756" y="660107"/>
                  </a:lnTo>
                  <a:lnTo>
                    <a:pt x="1307592" y="612648"/>
                  </a:lnTo>
                  <a:close/>
                </a:path>
                <a:path w="2030095" h="905510">
                  <a:moveTo>
                    <a:pt x="2029968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029968" y="109728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icons/clipboar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1290" y="2143328"/>
              <a:ext cx="321868" cy="32186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08116" y="3018789"/>
            <a:ext cx="132969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05F6B"/>
                </a:solidFill>
                <a:latin typeface="Calibri"/>
                <a:cs typeface="Calibri"/>
              </a:rPr>
              <a:t>services_weekly.csv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81269" y="3636086"/>
            <a:ext cx="11842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208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rows</a:t>
            </a:r>
            <a:r>
              <a:rPr dirty="0" sz="1200" spc="-2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×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10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cols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41645" y="4341393"/>
            <a:ext cx="126301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1295" marR="5080" indent="-189230">
              <a:lnSpc>
                <a:spcPct val="114300"/>
              </a:lnSpc>
              <a:spcBef>
                <a:spcPts val="95"/>
              </a:spcBef>
            </a:pP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Weekly</a:t>
            </a:r>
            <a:r>
              <a:rPr dirty="0" sz="1050" spc="-3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bed</a:t>
            </a:r>
            <a:r>
              <a:rPr dirty="0" sz="1050" spc="-1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capacity</a:t>
            </a:r>
            <a:r>
              <a:rPr dirty="0" sz="1050" spc="-2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5B6D73"/>
                </a:solidFill>
                <a:latin typeface="Calibri"/>
                <a:cs typeface="Calibri"/>
              </a:rPr>
              <a:t>&amp;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 service</a:t>
            </a:r>
            <a:r>
              <a:rPr dirty="0" sz="1050" spc="-2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D73"/>
                </a:solidFill>
                <a:latin typeface="Calibri"/>
                <a:cs typeface="Calibri"/>
              </a:rPr>
              <a:t>demand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317993" y="1685289"/>
            <a:ext cx="2042795" cy="3578860"/>
            <a:chOff x="7317993" y="1685289"/>
            <a:chExt cx="2042795" cy="3578860"/>
          </a:xfrm>
        </p:grpSpPr>
        <p:sp>
          <p:nvSpPr>
            <p:cNvPr id="30" name="object 30"/>
            <p:cNvSpPr/>
            <p:nvPr/>
          </p:nvSpPr>
          <p:spPr>
            <a:xfrm>
              <a:off x="7324343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1956815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493008"/>
                  </a:lnTo>
                  <a:lnTo>
                    <a:pt x="5750" y="3521475"/>
                  </a:lnTo>
                  <a:lnTo>
                    <a:pt x="21431" y="3544728"/>
                  </a:lnTo>
                  <a:lnTo>
                    <a:pt x="44684" y="3560409"/>
                  </a:lnTo>
                  <a:lnTo>
                    <a:pt x="73151" y="3566160"/>
                  </a:lnTo>
                  <a:lnTo>
                    <a:pt x="1956815" y="3566160"/>
                  </a:lnTo>
                  <a:lnTo>
                    <a:pt x="1985283" y="3560409"/>
                  </a:lnTo>
                  <a:lnTo>
                    <a:pt x="2008536" y="3544728"/>
                  </a:lnTo>
                  <a:lnTo>
                    <a:pt x="2024217" y="3521475"/>
                  </a:lnTo>
                  <a:lnTo>
                    <a:pt x="2029967" y="3493008"/>
                  </a:lnTo>
                  <a:lnTo>
                    <a:pt x="2029967" y="73151"/>
                  </a:lnTo>
                  <a:lnTo>
                    <a:pt x="2024217" y="44684"/>
                  </a:lnTo>
                  <a:lnTo>
                    <a:pt x="2008536" y="21431"/>
                  </a:lnTo>
                  <a:lnTo>
                    <a:pt x="1985283" y="5750"/>
                  </a:lnTo>
                  <a:lnTo>
                    <a:pt x="1956815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324343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956815" y="0"/>
                  </a:lnTo>
                  <a:lnTo>
                    <a:pt x="1985283" y="5750"/>
                  </a:lnTo>
                  <a:lnTo>
                    <a:pt x="2008536" y="21431"/>
                  </a:lnTo>
                  <a:lnTo>
                    <a:pt x="2024217" y="44684"/>
                  </a:lnTo>
                  <a:lnTo>
                    <a:pt x="2029967" y="73151"/>
                  </a:lnTo>
                  <a:lnTo>
                    <a:pt x="2029967" y="3493008"/>
                  </a:lnTo>
                  <a:lnTo>
                    <a:pt x="2024217" y="3521475"/>
                  </a:lnTo>
                  <a:lnTo>
                    <a:pt x="2008536" y="3544728"/>
                  </a:lnTo>
                  <a:lnTo>
                    <a:pt x="1985283" y="3560409"/>
                  </a:lnTo>
                  <a:lnTo>
                    <a:pt x="1956815" y="3566160"/>
                  </a:lnTo>
                  <a:lnTo>
                    <a:pt x="73151" y="3566160"/>
                  </a:lnTo>
                  <a:lnTo>
                    <a:pt x="44684" y="3560409"/>
                  </a:lnTo>
                  <a:lnTo>
                    <a:pt x="21431" y="3544728"/>
                  </a:lnTo>
                  <a:lnTo>
                    <a:pt x="5750" y="3521475"/>
                  </a:lnTo>
                  <a:lnTo>
                    <a:pt x="0" y="34930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324343" y="1691639"/>
              <a:ext cx="2030095" cy="905510"/>
            </a:xfrm>
            <a:custGeom>
              <a:avLst/>
              <a:gdLst/>
              <a:ahLst/>
              <a:cxnLst/>
              <a:rect l="l" t="t" r="r" b="b"/>
              <a:pathLst>
                <a:path w="2030095" h="905510">
                  <a:moveTo>
                    <a:pt x="1307592" y="612648"/>
                  </a:moveTo>
                  <a:lnTo>
                    <a:pt x="1303756" y="565200"/>
                  </a:lnTo>
                  <a:lnTo>
                    <a:pt x="1292656" y="520192"/>
                  </a:lnTo>
                  <a:lnTo>
                    <a:pt x="1274914" y="478205"/>
                  </a:lnTo>
                  <a:lnTo>
                    <a:pt x="1251115" y="439864"/>
                  </a:lnTo>
                  <a:lnTo>
                    <a:pt x="1221867" y="405765"/>
                  </a:lnTo>
                  <a:lnTo>
                    <a:pt x="1187767" y="376516"/>
                  </a:lnTo>
                  <a:lnTo>
                    <a:pt x="1149426" y="352717"/>
                  </a:lnTo>
                  <a:lnTo>
                    <a:pt x="1107440" y="334975"/>
                  </a:lnTo>
                  <a:lnTo>
                    <a:pt x="1062431" y="323875"/>
                  </a:lnTo>
                  <a:lnTo>
                    <a:pt x="1014984" y="320040"/>
                  </a:lnTo>
                  <a:lnTo>
                    <a:pt x="967524" y="323875"/>
                  </a:lnTo>
                  <a:lnTo>
                    <a:pt x="922515" y="334975"/>
                  </a:lnTo>
                  <a:lnTo>
                    <a:pt x="880529" y="352717"/>
                  </a:lnTo>
                  <a:lnTo>
                    <a:pt x="842187" y="376516"/>
                  </a:lnTo>
                  <a:lnTo>
                    <a:pt x="808101" y="405765"/>
                  </a:lnTo>
                  <a:lnTo>
                    <a:pt x="778840" y="439864"/>
                  </a:lnTo>
                  <a:lnTo>
                    <a:pt x="755040" y="478205"/>
                  </a:lnTo>
                  <a:lnTo>
                    <a:pt x="737298" y="520192"/>
                  </a:lnTo>
                  <a:lnTo>
                    <a:pt x="726198" y="565200"/>
                  </a:lnTo>
                  <a:lnTo>
                    <a:pt x="722376" y="612648"/>
                  </a:lnTo>
                  <a:lnTo>
                    <a:pt x="726198" y="660107"/>
                  </a:lnTo>
                  <a:lnTo>
                    <a:pt x="737298" y="705116"/>
                  </a:lnTo>
                  <a:lnTo>
                    <a:pt x="755040" y="747102"/>
                  </a:lnTo>
                  <a:lnTo>
                    <a:pt x="778840" y="785444"/>
                  </a:lnTo>
                  <a:lnTo>
                    <a:pt x="808088" y="819531"/>
                  </a:lnTo>
                  <a:lnTo>
                    <a:pt x="842187" y="848791"/>
                  </a:lnTo>
                  <a:lnTo>
                    <a:pt x="880529" y="872591"/>
                  </a:lnTo>
                  <a:lnTo>
                    <a:pt x="922515" y="890333"/>
                  </a:lnTo>
                  <a:lnTo>
                    <a:pt x="967524" y="901433"/>
                  </a:lnTo>
                  <a:lnTo>
                    <a:pt x="1014984" y="905256"/>
                  </a:lnTo>
                  <a:lnTo>
                    <a:pt x="1062431" y="901433"/>
                  </a:lnTo>
                  <a:lnTo>
                    <a:pt x="1107440" y="890333"/>
                  </a:lnTo>
                  <a:lnTo>
                    <a:pt x="1149426" y="872591"/>
                  </a:lnTo>
                  <a:lnTo>
                    <a:pt x="1187767" y="848791"/>
                  </a:lnTo>
                  <a:lnTo>
                    <a:pt x="1221867" y="819531"/>
                  </a:lnTo>
                  <a:lnTo>
                    <a:pt x="1251115" y="785444"/>
                  </a:lnTo>
                  <a:lnTo>
                    <a:pt x="1274914" y="747102"/>
                  </a:lnTo>
                  <a:lnTo>
                    <a:pt x="1292656" y="705116"/>
                  </a:lnTo>
                  <a:lnTo>
                    <a:pt x="1303756" y="660107"/>
                  </a:lnTo>
                  <a:lnTo>
                    <a:pt x="1307592" y="612648"/>
                  </a:lnTo>
                  <a:close/>
                </a:path>
                <a:path w="2030095" h="905510">
                  <a:moveTo>
                    <a:pt x="2029968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029968" y="109728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icons/clipboar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8418" y="2143328"/>
              <a:ext cx="321868" cy="32186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8064245" y="3018789"/>
            <a:ext cx="55308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20" b="1">
                <a:solidFill>
                  <a:srgbClr val="005F6B"/>
                </a:solidFill>
                <a:latin typeface="Calibri"/>
                <a:cs typeface="Calibri"/>
              </a:rPr>
              <a:t>staff.csv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86878" y="3636086"/>
            <a:ext cx="11061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110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rows</a:t>
            </a:r>
            <a:r>
              <a:rPr dirty="0" sz="1200" spc="-2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×</a:t>
            </a:r>
            <a:r>
              <a:rPr dirty="0" sz="1200" spc="-10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4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cols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60969" y="4341393"/>
            <a:ext cx="115760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3365" marR="5080" indent="-241300">
              <a:lnSpc>
                <a:spcPct val="114300"/>
              </a:lnSpc>
              <a:spcBef>
                <a:spcPts val="95"/>
              </a:spcBef>
            </a:pP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Staff</a:t>
            </a:r>
            <a:r>
              <a:rPr dirty="0" sz="1050" spc="-1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roster</a:t>
            </a:r>
            <a:r>
              <a:rPr dirty="0" sz="1050" spc="-1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by</a:t>
            </a:r>
            <a:r>
              <a:rPr dirty="0" sz="1050" spc="-2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role</a:t>
            </a:r>
            <a:r>
              <a:rPr dirty="0" sz="1050" spc="-30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5B6D73"/>
                </a:solidFill>
                <a:latin typeface="Calibri"/>
                <a:cs typeface="Calibri"/>
              </a:rPr>
              <a:t>&amp;</a:t>
            </a:r>
            <a:r>
              <a:rPr dirty="0" sz="1050" spc="-10">
                <a:solidFill>
                  <a:srgbClr val="5B6D73"/>
                </a:solidFill>
                <a:latin typeface="Calibri"/>
                <a:cs typeface="Calibri"/>
              </a:rPr>
              <a:t> department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485121" y="1685289"/>
            <a:ext cx="2042795" cy="3578860"/>
            <a:chOff x="9485121" y="1685289"/>
            <a:chExt cx="2042795" cy="3578860"/>
          </a:xfrm>
        </p:grpSpPr>
        <p:sp>
          <p:nvSpPr>
            <p:cNvPr id="38" name="object 38"/>
            <p:cNvSpPr/>
            <p:nvPr/>
          </p:nvSpPr>
          <p:spPr>
            <a:xfrm>
              <a:off x="9491471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1956816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493008"/>
                  </a:lnTo>
                  <a:lnTo>
                    <a:pt x="5750" y="3521475"/>
                  </a:lnTo>
                  <a:lnTo>
                    <a:pt x="21431" y="3544728"/>
                  </a:lnTo>
                  <a:lnTo>
                    <a:pt x="44684" y="3560409"/>
                  </a:lnTo>
                  <a:lnTo>
                    <a:pt x="73151" y="3566160"/>
                  </a:lnTo>
                  <a:lnTo>
                    <a:pt x="1956816" y="3566160"/>
                  </a:lnTo>
                  <a:lnTo>
                    <a:pt x="1985283" y="3560409"/>
                  </a:lnTo>
                  <a:lnTo>
                    <a:pt x="2008536" y="3544728"/>
                  </a:lnTo>
                  <a:lnTo>
                    <a:pt x="2024217" y="3521475"/>
                  </a:lnTo>
                  <a:lnTo>
                    <a:pt x="2029968" y="3493008"/>
                  </a:lnTo>
                  <a:lnTo>
                    <a:pt x="2029968" y="73151"/>
                  </a:lnTo>
                  <a:lnTo>
                    <a:pt x="2024217" y="44684"/>
                  </a:lnTo>
                  <a:lnTo>
                    <a:pt x="2008536" y="21431"/>
                  </a:lnTo>
                  <a:lnTo>
                    <a:pt x="1985283" y="5750"/>
                  </a:lnTo>
                  <a:lnTo>
                    <a:pt x="1956816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491471" y="1691639"/>
              <a:ext cx="2030095" cy="3566160"/>
            </a:xfrm>
            <a:custGeom>
              <a:avLst/>
              <a:gdLst/>
              <a:ahLst/>
              <a:cxnLst/>
              <a:rect l="l" t="t" r="r" b="b"/>
              <a:pathLst>
                <a:path w="2030095" h="35661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956816" y="0"/>
                  </a:lnTo>
                  <a:lnTo>
                    <a:pt x="1985283" y="5750"/>
                  </a:lnTo>
                  <a:lnTo>
                    <a:pt x="2008536" y="21431"/>
                  </a:lnTo>
                  <a:lnTo>
                    <a:pt x="2024217" y="44684"/>
                  </a:lnTo>
                  <a:lnTo>
                    <a:pt x="2029968" y="73151"/>
                  </a:lnTo>
                  <a:lnTo>
                    <a:pt x="2029968" y="3493008"/>
                  </a:lnTo>
                  <a:lnTo>
                    <a:pt x="2024217" y="3521475"/>
                  </a:lnTo>
                  <a:lnTo>
                    <a:pt x="2008536" y="3544728"/>
                  </a:lnTo>
                  <a:lnTo>
                    <a:pt x="1985283" y="3560409"/>
                  </a:lnTo>
                  <a:lnTo>
                    <a:pt x="1956816" y="3566160"/>
                  </a:lnTo>
                  <a:lnTo>
                    <a:pt x="73151" y="3566160"/>
                  </a:lnTo>
                  <a:lnTo>
                    <a:pt x="44684" y="3560409"/>
                  </a:lnTo>
                  <a:lnTo>
                    <a:pt x="21431" y="3544728"/>
                  </a:lnTo>
                  <a:lnTo>
                    <a:pt x="5750" y="3521475"/>
                  </a:lnTo>
                  <a:lnTo>
                    <a:pt x="0" y="349300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491472" y="1691639"/>
              <a:ext cx="2030095" cy="905510"/>
            </a:xfrm>
            <a:custGeom>
              <a:avLst/>
              <a:gdLst/>
              <a:ahLst/>
              <a:cxnLst/>
              <a:rect l="l" t="t" r="r" b="b"/>
              <a:pathLst>
                <a:path w="2030095" h="905510">
                  <a:moveTo>
                    <a:pt x="1307592" y="612648"/>
                  </a:moveTo>
                  <a:lnTo>
                    <a:pt x="1303756" y="565200"/>
                  </a:lnTo>
                  <a:lnTo>
                    <a:pt x="1292656" y="520192"/>
                  </a:lnTo>
                  <a:lnTo>
                    <a:pt x="1274914" y="478205"/>
                  </a:lnTo>
                  <a:lnTo>
                    <a:pt x="1251115" y="439864"/>
                  </a:lnTo>
                  <a:lnTo>
                    <a:pt x="1221867" y="405765"/>
                  </a:lnTo>
                  <a:lnTo>
                    <a:pt x="1187767" y="376516"/>
                  </a:lnTo>
                  <a:lnTo>
                    <a:pt x="1149426" y="352717"/>
                  </a:lnTo>
                  <a:lnTo>
                    <a:pt x="1107440" y="334975"/>
                  </a:lnTo>
                  <a:lnTo>
                    <a:pt x="1062431" y="323875"/>
                  </a:lnTo>
                  <a:lnTo>
                    <a:pt x="1014984" y="320040"/>
                  </a:lnTo>
                  <a:lnTo>
                    <a:pt x="967524" y="323875"/>
                  </a:lnTo>
                  <a:lnTo>
                    <a:pt x="922515" y="334975"/>
                  </a:lnTo>
                  <a:lnTo>
                    <a:pt x="880529" y="352717"/>
                  </a:lnTo>
                  <a:lnTo>
                    <a:pt x="842187" y="376516"/>
                  </a:lnTo>
                  <a:lnTo>
                    <a:pt x="808101" y="405765"/>
                  </a:lnTo>
                  <a:lnTo>
                    <a:pt x="778840" y="439864"/>
                  </a:lnTo>
                  <a:lnTo>
                    <a:pt x="755040" y="478205"/>
                  </a:lnTo>
                  <a:lnTo>
                    <a:pt x="737298" y="520192"/>
                  </a:lnTo>
                  <a:lnTo>
                    <a:pt x="726198" y="565200"/>
                  </a:lnTo>
                  <a:lnTo>
                    <a:pt x="722376" y="612648"/>
                  </a:lnTo>
                  <a:lnTo>
                    <a:pt x="726198" y="660107"/>
                  </a:lnTo>
                  <a:lnTo>
                    <a:pt x="737298" y="705116"/>
                  </a:lnTo>
                  <a:lnTo>
                    <a:pt x="755040" y="747102"/>
                  </a:lnTo>
                  <a:lnTo>
                    <a:pt x="778840" y="785444"/>
                  </a:lnTo>
                  <a:lnTo>
                    <a:pt x="808088" y="819531"/>
                  </a:lnTo>
                  <a:lnTo>
                    <a:pt x="842187" y="848791"/>
                  </a:lnTo>
                  <a:lnTo>
                    <a:pt x="880529" y="872591"/>
                  </a:lnTo>
                  <a:lnTo>
                    <a:pt x="922515" y="890333"/>
                  </a:lnTo>
                  <a:lnTo>
                    <a:pt x="967524" y="901433"/>
                  </a:lnTo>
                  <a:lnTo>
                    <a:pt x="1014984" y="905256"/>
                  </a:lnTo>
                  <a:lnTo>
                    <a:pt x="1062431" y="901433"/>
                  </a:lnTo>
                  <a:lnTo>
                    <a:pt x="1107440" y="890333"/>
                  </a:lnTo>
                  <a:lnTo>
                    <a:pt x="1149426" y="872591"/>
                  </a:lnTo>
                  <a:lnTo>
                    <a:pt x="1187767" y="848791"/>
                  </a:lnTo>
                  <a:lnTo>
                    <a:pt x="1221867" y="819531"/>
                  </a:lnTo>
                  <a:lnTo>
                    <a:pt x="1251115" y="785444"/>
                  </a:lnTo>
                  <a:lnTo>
                    <a:pt x="1274914" y="747102"/>
                  </a:lnTo>
                  <a:lnTo>
                    <a:pt x="1292656" y="705116"/>
                  </a:lnTo>
                  <a:lnTo>
                    <a:pt x="1303756" y="660107"/>
                  </a:lnTo>
                  <a:lnTo>
                    <a:pt x="1307592" y="612648"/>
                  </a:lnTo>
                  <a:close/>
                </a:path>
                <a:path w="2030095" h="905510">
                  <a:moveTo>
                    <a:pt x="2029968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029968" y="109728"/>
                  </a:lnTo>
                  <a:lnTo>
                    <a:pt x="2029968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icons/clipboar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5546" y="2143328"/>
              <a:ext cx="321868" cy="321868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9894823" y="3018789"/>
            <a:ext cx="122491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 b="1">
                <a:solidFill>
                  <a:srgbClr val="005F6B"/>
                </a:solidFill>
                <a:latin typeface="Calibri"/>
                <a:cs typeface="Calibri"/>
              </a:rPr>
              <a:t>staff_schedule.csv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43" name="object 43"/>
          <p:cNvSpPr txBox="1"/>
          <p:nvPr/>
        </p:nvSpPr>
        <p:spPr>
          <a:xfrm>
            <a:off x="9896347" y="3636086"/>
            <a:ext cx="12236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6,552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rows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×</a:t>
            </a:r>
            <a:r>
              <a:rPr dirty="0" sz="1200" spc="-15" b="1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63139"/>
                </a:solidFill>
                <a:latin typeface="Calibri"/>
                <a:cs typeface="Calibri"/>
              </a:rPr>
              <a:t>6</a:t>
            </a:r>
            <a:r>
              <a:rPr dirty="0" sz="1200" spc="-20" b="1">
                <a:solidFill>
                  <a:srgbClr val="163139"/>
                </a:solidFill>
                <a:latin typeface="Calibri"/>
                <a:cs typeface="Calibri"/>
              </a:rPr>
              <a:t> cols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750043" y="4455414"/>
            <a:ext cx="15151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Weekly</a:t>
            </a:r>
            <a:r>
              <a:rPr dirty="0" sz="1050" spc="-3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5B6D73"/>
                </a:solidFill>
                <a:latin typeface="Calibri"/>
                <a:cs typeface="Calibri"/>
              </a:rPr>
              <a:t>attendance</a:t>
            </a:r>
            <a:r>
              <a:rPr dirty="0" sz="1050" spc="-25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5B6D73"/>
                </a:solidFill>
                <a:latin typeface="Calibri"/>
                <a:cs typeface="Calibri"/>
              </a:rPr>
              <a:t>records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020695" y="5598972"/>
            <a:ext cx="60299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5</a:t>
            </a:r>
            <a:r>
              <a:rPr dirty="0" sz="1250" spc="-3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raw</a:t>
            </a:r>
            <a:r>
              <a:rPr dirty="0" sz="1250" spc="-3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source</a:t>
            </a:r>
            <a:r>
              <a:rPr dirty="0" sz="1250" spc="-1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files</a:t>
            </a:r>
            <a:r>
              <a:rPr dirty="0" sz="1250" spc="-2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—</a:t>
            </a:r>
            <a:r>
              <a:rPr dirty="0" sz="1250" spc="-3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combining</a:t>
            </a:r>
            <a:r>
              <a:rPr dirty="0" sz="1250" spc="-15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5B6D73"/>
                </a:solidFill>
                <a:latin typeface="Calibri"/>
                <a:cs typeface="Calibri"/>
              </a:rPr>
              <a:t>patient-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level</a:t>
            </a:r>
            <a:r>
              <a:rPr dirty="0" sz="1250" spc="-1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records</a:t>
            </a:r>
            <a:r>
              <a:rPr dirty="0" sz="1250" spc="-35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with</a:t>
            </a:r>
            <a:r>
              <a:rPr dirty="0" sz="1250" spc="-4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5B6D73"/>
                </a:solidFill>
                <a:latin typeface="Calibri"/>
                <a:cs typeface="Calibri"/>
              </a:rPr>
              <a:t>operational</a:t>
            </a:r>
            <a:r>
              <a:rPr dirty="0" sz="1250" spc="-25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5B6D73"/>
                </a:solidFill>
                <a:latin typeface="Calibri"/>
                <a:cs typeface="Calibri"/>
              </a:rPr>
              <a:t>(capacity,</a:t>
            </a:r>
            <a:r>
              <a:rPr dirty="0" sz="1250" spc="-20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5B6D73"/>
                </a:solidFill>
                <a:latin typeface="Calibri"/>
                <a:cs typeface="Calibri"/>
              </a:rPr>
              <a:t>staffing)</a:t>
            </a:r>
            <a:r>
              <a:rPr dirty="0" sz="1250" spc="-35" i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50" spc="-20" i="1">
                <a:solidFill>
                  <a:srgbClr val="5B6D73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11480"/>
            <a:ext cx="658495" cy="658495"/>
            <a:chOff x="457200" y="411480"/>
            <a:chExt cx="658495" cy="658495"/>
          </a:xfrm>
        </p:grpSpPr>
        <p:sp>
          <p:nvSpPr>
            <p:cNvPr id="3" name="object 3"/>
            <p:cNvSpPr/>
            <p:nvPr/>
          </p:nvSpPr>
          <p:spPr>
            <a:xfrm>
              <a:off x="457200" y="41148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329184" y="0"/>
                  </a:moveTo>
                  <a:lnTo>
                    <a:pt x="280540" y="3567"/>
                  </a:lnTo>
                  <a:lnTo>
                    <a:pt x="234112" y="13932"/>
                  </a:lnTo>
                  <a:lnTo>
                    <a:pt x="190409" y="30585"/>
                  </a:lnTo>
                  <a:lnTo>
                    <a:pt x="149941" y="53018"/>
                  </a:lnTo>
                  <a:lnTo>
                    <a:pt x="113216" y="80722"/>
                  </a:lnTo>
                  <a:lnTo>
                    <a:pt x="80744" y="113190"/>
                  </a:lnTo>
                  <a:lnTo>
                    <a:pt x="53034" y="149913"/>
                  </a:lnTo>
                  <a:lnTo>
                    <a:pt x="30595" y="190382"/>
                  </a:lnTo>
                  <a:lnTo>
                    <a:pt x="13937" y="234089"/>
                  </a:lnTo>
                  <a:lnTo>
                    <a:pt x="3569" y="280525"/>
                  </a:lnTo>
                  <a:lnTo>
                    <a:pt x="0" y="329184"/>
                  </a:lnTo>
                  <a:lnTo>
                    <a:pt x="3569" y="377842"/>
                  </a:lnTo>
                  <a:lnTo>
                    <a:pt x="13937" y="424278"/>
                  </a:lnTo>
                  <a:lnTo>
                    <a:pt x="30595" y="467985"/>
                  </a:lnTo>
                  <a:lnTo>
                    <a:pt x="53034" y="508454"/>
                  </a:lnTo>
                  <a:lnTo>
                    <a:pt x="80744" y="545177"/>
                  </a:lnTo>
                  <a:lnTo>
                    <a:pt x="113216" y="577645"/>
                  </a:lnTo>
                  <a:lnTo>
                    <a:pt x="149941" y="605349"/>
                  </a:lnTo>
                  <a:lnTo>
                    <a:pt x="190409" y="627782"/>
                  </a:lnTo>
                  <a:lnTo>
                    <a:pt x="234112" y="644435"/>
                  </a:lnTo>
                  <a:lnTo>
                    <a:pt x="280540" y="654800"/>
                  </a:lnTo>
                  <a:lnTo>
                    <a:pt x="329184" y="658368"/>
                  </a:lnTo>
                  <a:lnTo>
                    <a:pt x="377827" y="654800"/>
                  </a:lnTo>
                  <a:lnTo>
                    <a:pt x="424255" y="644435"/>
                  </a:lnTo>
                  <a:lnTo>
                    <a:pt x="467958" y="627782"/>
                  </a:lnTo>
                  <a:lnTo>
                    <a:pt x="508426" y="605349"/>
                  </a:lnTo>
                  <a:lnTo>
                    <a:pt x="545151" y="577645"/>
                  </a:lnTo>
                  <a:lnTo>
                    <a:pt x="577623" y="545177"/>
                  </a:lnTo>
                  <a:lnTo>
                    <a:pt x="605333" y="508454"/>
                  </a:lnTo>
                  <a:lnTo>
                    <a:pt x="627772" y="467985"/>
                  </a:lnTo>
                  <a:lnTo>
                    <a:pt x="644430" y="424278"/>
                  </a:lnTo>
                  <a:lnTo>
                    <a:pt x="654798" y="377842"/>
                  </a:lnTo>
                  <a:lnTo>
                    <a:pt x="658368" y="329184"/>
                  </a:lnTo>
                  <a:lnTo>
                    <a:pt x="654798" y="280525"/>
                  </a:lnTo>
                  <a:lnTo>
                    <a:pt x="644430" y="234089"/>
                  </a:lnTo>
                  <a:lnTo>
                    <a:pt x="627772" y="190382"/>
                  </a:lnTo>
                  <a:lnTo>
                    <a:pt x="605333" y="149913"/>
                  </a:lnTo>
                  <a:lnTo>
                    <a:pt x="577623" y="113190"/>
                  </a:lnTo>
                  <a:lnTo>
                    <a:pt x="545151" y="80722"/>
                  </a:lnTo>
                  <a:lnTo>
                    <a:pt x="508426" y="53018"/>
                  </a:lnTo>
                  <a:lnTo>
                    <a:pt x="467958" y="30585"/>
                  </a:lnTo>
                  <a:lnTo>
                    <a:pt x="424255" y="13932"/>
                  </a:lnTo>
                  <a:lnTo>
                    <a:pt x="377827" y="3567"/>
                  </a:lnTo>
                  <a:lnTo>
                    <a:pt x="329184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icons/broom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043" y="556387"/>
              <a:ext cx="368681" cy="36868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59153" y="379767"/>
            <a:ext cx="5111115" cy="69278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2700" b="1">
                <a:solidFill>
                  <a:srgbClr val="163139"/>
                </a:solidFill>
                <a:latin typeface="Cambria"/>
                <a:cs typeface="Cambria"/>
              </a:rPr>
              <a:t>Data</a:t>
            </a:r>
            <a:r>
              <a:rPr dirty="0" sz="2700" spc="-65" b="1">
                <a:solidFill>
                  <a:srgbClr val="163139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163139"/>
                </a:solidFill>
                <a:latin typeface="Cambria"/>
                <a:cs typeface="Cambria"/>
              </a:rPr>
              <a:t>Cleaning</a:t>
            </a:r>
            <a:r>
              <a:rPr dirty="0" sz="2700" spc="-45" b="1">
                <a:solidFill>
                  <a:srgbClr val="163139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163139"/>
                </a:solidFill>
                <a:latin typeface="Cambria"/>
                <a:cs typeface="Cambria"/>
              </a:rPr>
              <a:t>—</a:t>
            </a:r>
            <a:r>
              <a:rPr dirty="0" sz="2700" spc="-60" b="1">
                <a:solidFill>
                  <a:srgbClr val="163139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163139"/>
                </a:solidFill>
                <a:latin typeface="Cambria"/>
                <a:cs typeface="Cambria"/>
              </a:rPr>
              <a:t>Before</a:t>
            </a:r>
            <a:r>
              <a:rPr dirty="0" sz="2700" spc="-50" b="1">
                <a:solidFill>
                  <a:srgbClr val="163139"/>
                </a:solidFill>
                <a:latin typeface="Cambria"/>
                <a:cs typeface="Cambria"/>
              </a:rPr>
              <a:t> </a:t>
            </a:r>
            <a:r>
              <a:rPr dirty="0" sz="2700" b="1">
                <a:solidFill>
                  <a:srgbClr val="163139"/>
                </a:solidFill>
                <a:latin typeface="Cambria"/>
                <a:cs typeface="Cambria"/>
              </a:rPr>
              <a:t>vs.</a:t>
            </a:r>
            <a:r>
              <a:rPr dirty="0" sz="2700" spc="-70" b="1">
                <a:solidFill>
                  <a:srgbClr val="163139"/>
                </a:solidFill>
                <a:latin typeface="Cambria"/>
                <a:cs typeface="Cambria"/>
              </a:rPr>
              <a:t> </a:t>
            </a:r>
            <a:r>
              <a:rPr dirty="0" sz="2700" spc="-10" b="1">
                <a:solidFill>
                  <a:srgbClr val="163139"/>
                </a:solidFill>
                <a:latin typeface="Cambria"/>
                <a:cs typeface="Cambria"/>
              </a:rPr>
              <a:t>After</a:t>
            </a:r>
            <a:endParaRPr sz="27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6610" y="1685289"/>
            <a:ext cx="5087620" cy="3944620"/>
            <a:chOff x="816610" y="1685289"/>
            <a:chExt cx="5087620" cy="3944620"/>
          </a:xfrm>
        </p:grpSpPr>
        <p:sp>
          <p:nvSpPr>
            <p:cNvPr id="7" name="object 7"/>
            <p:cNvSpPr/>
            <p:nvPr/>
          </p:nvSpPr>
          <p:spPr>
            <a:xfrm>
              <a:off x="822960" y="1691639"/>
              <a:ext cx="5074920" cy="3931920"/>
            </a:xfrm>
            <a:custGeom>
              <a:avLst/>
              <a:gdLst/>
              <a:ahLst/>
              <a:cxnLst/>
              <a:rect l="l" t="t" r="r" b="b"/>
              <a:pathLst>
                <a:path w="5074920" h="3931920">
                  <a:moveTo>
                    <a:pt x="5001768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3858768"/>
                  </a:lnTo>
                  <a:lnTo>
                    <a:pt x="5746" y="3887246"/>
                  </a:lnTo>
                  <a:lnTo>
                    <a:pt x="21418" y="3910498"/>
                  </a:lnTo>
                  <a:lnTo>
                    <a:pt x="44662" y="3926172"/>
                  </a:lnTo>
                  <a:lnTo>
                    <a:pt x="73126" y="3931920"/>
                  </a:lnTo>
                  <a:lnTo>
                    <a:pt x="5001768" y="3931920"/>
                  </a:lnTo>
                  <a:lnTo>
                    <a:pt x="5030235" y="3926172"/>
                  </a:lnTo>
                  <a:lnTo>
                    <a:pt x="5053488" y="3910498"/>
                  </a:lnTo>
                  <a:lnTo>
                    <a:pt x="5069169" y="3887246"/>
                  </a:lnTo>
                  <a:lnTo>
                    <a:pt x="5074920" y="3858768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FA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1691639"/>
              <a:ext cx="5074920" cy="3931920"/>
            </a:xfrm>
            <a:custGeom>
              <a:avLst/>
              <a:gdLst/>
              <a:ahLst/>
              <a:cxnLst/>
              <a:rect l="l" t="t" r="r" b="b"/>
              <a:pathLst>
                <a:path w="5074920" h="3931920">
                  <a:moveTo>
                    <a:pt x="0" y="73151"/>
                  </a:moveTo>
                  <a:lnTo>
                    <a:pt x="5746" y="44684"/>
                  </a:lnTo>
                  <a:lnTo>
                    <a:pt x="21418" y="21431"/>
                  </a:lnTo>
                  <a:lnTo>
                    <a:pt x="44662" y="5750"/>
                  </a:lnTo>
                  <a:lnTo>
                    <a:pt x="73126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1"/>
                  </a:lnTo>
                  <a:lnTo>
                    <a:pt x="5074920" y="3858768"/>
                  </a:lnTo>
                  <a:lnTo>
                    <a:pt x="5069169" y="3887246"/>
                  </a:lnTo>
                  <a:lnTo>
                    <a:pt x="5053488" y="3910498"/>
                  </a:lnTo>
                  <a:lnTo>
                    <a:pt x="5030235" y="3926172"/>
                  </a:lnTo>
                  <a:lnTo>
                    <a:pt x="5001768" y="3931920"/>
                  </a:lnTo>
                  <a:lnTo>
                    <a:pt x="73126" y="3931920"/>
                  </a:lnTo>
                  <a:lnTo>
                    <a:pt x="44662" y="3926172"/>
                  </a:lnTo>
                  <a:lnTo>
                    <a:pt x="21418" y="3910498"/>
                  </a:lnTo>
                  <a:lnTo>
                    <a:pt x="5746" y="3887246"/>
                  </a:lnTo>
                  <a:lnTo>
                    <a:pt x="0" y="385876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EFD7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76324" y="1971497"/>
            <a:ext cx="157226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75" b="1">
                <a:solidFill>
                  <a:srgbClr val="B4433B"/>
                </a:solidFill>
                <a:latin typeface="Calibri"/>
                <a:cs typeface="Calibri"/>
              </a:rPr>
              <a:t>BEFORE</a:t>
            </a:r>
            <a:r>
              <a:rPr dirty="0" sz="1400" spc="185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400" spc="65" b="1">
                <a:solidFill>
                  <a:srgbClr val="B4433B"/>
                </a:solidFill>
                <a:latin typeface="Calibri"/>
                <a:cs typeface="Calibri"/>
              </a:rPr>
              <a:t>CLEANING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6324" y="2529967"/>
            <a:ext cx="10902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163139"/>
                </a:solidFill>
                <a:latin typeface="Calibri"/>
                <a:cs typeface="Calibri"/>
              </a:rPr>
              <a:t>Hospital</a:t>
            </a:r>
            <a:r>
              <a:rPr dirty="0" sz="130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9410" y="2529967"/>
            <a:ext cx="6045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984</a:t>
            </a:r>
            <a:r>
              <a:rPr dirty="0" sz="1300" spc="5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×</a:t>
            </a:r>
            <a:r>
              <a:rPr dirty="0" sz="1300" spc="-10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B4433B"/>
                </a:solidFill>
                <a:latin typeface="Calibri"/>
                <a:cs typeface="Calibri"/>
              </a:rPr>
              <a:t>15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6324" y="3060318"/>
            <a:ext cx="5702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163139"/>
                </a:solidFill>
                <a:latin typeface="Calibri"/>
                <a:cs typeface="Calibri"/>
              </a:rPr>
              <a:t>patients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6739" y="3060318"/>
            <a:ext cx="6470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1,000 ×</a:t>
            </a:r>
            <a:r>
              <a:rPr dirty="0" sz="1300" spc="-10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B4433B"/>
                </a:solidFill>
                <a:latin typeface="Calibri"/>
                <a:cs typeface="Calibri"/>
              </a:rPr>
              <a:t>7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6324" y="3590366"/>
            <a:ext cx="11106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163139"/>
                </a:solidFill>
                <a:latin typeface="Calibri"/>
                <a:cs typeface="Calibri"/>
              </a:rPr>
              <a:t>services_weekly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9410" y="3590366"/>
            <a:ext cx="6045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208</a:t>
            </a:r>
            <a:r>
              <a:rPr dirty="0" sz="1300" spc="5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×</a:t>
            </a:r>
            <a:r>
              <a:rPr dirty="0" sz="1300" spc="-10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spc="-25" b="1">
                <a:solidFill>
                  <a:srgbClr val="B4433B"/>
                </a:solidFill>
                <a:latin typeface="Calibri"/>
                <a:cs typeface="Calibri"/>
              </a:rPr>
              <a:t>10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6324" y="4121277"/>
            <a:ext cx="3181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163139"/>
                </a:solidFill>
                <a:latin typeface="Calibri"/>
                <a:cs typeface="Calibri"/>
              </a:rPr>
              <a:t>staff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23230" y="4121277"/>
            <a:ext cx="520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110</a:t>
            </a:r>
            <a:r>
              <a:rPr dirty="0" sz="1300" spc="5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×</a:t>
            </a:r>
            <a:r>
              <a:rPr dirty="0" sz="1300" spc="-10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B4433B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6324" y="4651628"/>
            <a:ext cx="996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163139"/>
                </a:solidFill>
                <a:latin typeface="Calibri"/>
                <a:cs typeface="Calibri"/>
              </a:rPr>
              <a:t>staff_schedule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96739" y="4651628"/>
            <a:ext cx="6470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B4433B"/>
                </a:solidFill>
                <a:latin typeface="Calibri"/>
                <a:cs typeface="Calibri"/>
              </a:rPr>
              <a:t>6,552 ×</a:t>
            </a:r>
            <a:r>
              <a:rPr dirty="0" sz="1300" spc="-10" b="1">
                <a:solidFill>
                  <a:srgbClr val="B4433B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B4433B"/>
                </a:solidFill>
                <a:latin typeface="Calibri"/>
                <a:cs typeface="Calibri"/>
              </a:rPr>
              <a:t>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6324" y="5198440"/>
            <a:ext cx="385826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5</a:t>
            </a:r>
            <a:r>
              <a:rPr dirty="0" sz="1100" spc="5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separate</a:t>
            </a:r>
            <a:r>
              <a:rPr dirty="0" sz="1100" spc="-30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files</a:t>
            </a:r>
            <a:r>
              <a:rPr dirty="0" sz="1100" spc="-20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•</a:t>
            </a:r>
            <a:r>
              <a:rPr dirty="0" sz="1100" spc="5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inconsistent</a:t>
            </a:r>
            <a:r>
              <a:rPr dirty="0" sz="1100" spc="-35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column</a:t>
            </a:r>
            <a:r>
              <a:rPr dirty="0" sz="1100" spc="-10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names</a:t>
            </a:r>
            <a:r>
              <a:rPr dirty="0" sz="1100" spc="-10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•</a:t>
            </a:r>
            <a:r>
              <a:rPr dirty="0" sz="1100" spc="5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895454"/>
                </a:solidFill>
                <a:latin typeface="Calibri"/>
                <a:cs typeface="Calibri"/>
              </a:rPr>
              <a:t>text-</a:t>
            </a:r>
            <a:r>
              <a:rPr dirty="0" sz="1100" spc="-10" i="1">
                <a:solidFill>
                  <a:srgbClr val="895454"/>
                </a:solidFill>
                <a:latin typeface="Calibri"/>
                <a:cs typeface="Calibri"/>
              </a:rPr>
              <a:t>formatted</a:t>
            </a:r>
            <a:r>
              <a:rPr dirty="0" sz="1100" spc="-55" i="1">
                <a:solidFill>
                  <a:srgbClr val="895454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895454"/>
                </a:solidFill>
                <a:latin typeface="Calibri"/>
                <a:cs typeface="Calibri"/>
              </a:rPr>
              <a:t>dates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11036" y="3380054"/>
            <a:ext cx="32512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-50" b="1">
                <a:solidFill>
                  <a:srgbClr val="5B6D73"/>
                </a:solidFill>
                <a:latin typeface="Calibri"/>
                <a:cs typeface="Calibri"/>
              </a:rPr>
              <a:t>→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40170" y="1685289"/>
            <a:ext cx="5087620" cy="3944620"/>
            <a:chOff x="6440170" y="1685289"/>
            <a:chExt cx="5087620" cy="3944620"/>
          </a:xfrm>
        </p:grpSpPr>
        <p:sp>
          <p:nvSpPr>
            <p:cNvPr id="23" name="object 23"/>
            <p:cNvSpPr/>
            <p:nvPr/>
          </p:nvSpPr>
          <p:spPr>
            <a:xfrm>
              <a:off x="6446520" y="1691639"/>
              <a:ext cx="5074920" cy="3931920"/>
            </a:xfrm>
            <a:custGeom>
              <a:avLst/>
              <a:gdLst/>
              <a:ahLst/>
              <a:cxnLst/>
              <a:rect l="l" t="t" r="r" b="b"/>
              <a:pathLst>
                <a:path w="5074920" h="3931920">
                  <a:moveTo>
                    <a:pt x="50017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858768"/>
                  </a:lnTo>
                  <a:lnTo>
                    <a:pt x="5750" y="3887246"/>
                  </a:lnTo>
                  <a:lnTo>
                    <a:pt x="21431" y="3910498"/>
                  </a:lnTo>
                  <a:lnTo>
                    <a:pt x="44684" y="3926172"/>
                  </a:lnTo>
                  <a:lnTo>
                    <a:pt x="73151" y="3931920"/>
                  </a:lnTo>
                  <a:lnTo>
                    <a:pt x="5001768" y="3931920"/>
                  </a:lnTo>
                  <a:lnTo>
                    <a:pt x="5030235" y="3926172"/>
                  </a:lnTo>
                  <a:lnTo>
                    <a:pt x="5053488" y="3910498"/>
                  </a:lnTo>
                  <a:lnTo>
                    <a:pt x="5069169" y="3887246"/>
                  </a:lnTo>
                  <a:lnTo>
                    <a:pt x="5074920" y="3858768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EAFA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46520" y="1691639"/>
              <a:ext cx="5074920" cy="3931920"/>
            </a:xfrm>
            <a:custGeom>
              <a:avLst/>
              <a:gdLst/>
              <a:ahLst/>
              <a:cxnLst/>
              <a:rect l="l" t="t" r="r" b="b"/>
              <a:pathLst>
                <a:path w="5074920" h="39319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001768" y="0"/>
                  </a:lnTo>
                  <a:lnTo>
                    <a:pt x="5030235" y="5750"/>
                  </a:lnTo>
                  <a:lnTo>
                    <a:pt x="5053488" y="21431"/>
                  </a:lnTo>
                  <a:lnTo>
                    <a:pt x="5069169" y="44684"/>
                  </a:lnTo>
                  <a:lnTo>
                    <a:pt x="5074920" y="73151"/>
                  </a:lnTo>
                  <a:lnTo>
                    <a:pt x="5074920" y="3858768"/>
                  </a:lnTo>
                  <a:lnTo>
                    <a:pt x="5069169" y="3887246"/>
                  </a:lnTo>
                  <a:lnTo>
                    <a:pt x="5053488" y="3910498"/>
                  </a:lnTo>
                  <a:lnTo>
                    <a:pt x="5030235" y="3926172"/>
                  </a:lnTo>
                  <a:lnTo>
                    <a:pt x="5001768" y="3931920"/>
                  </a:lnTo>
                  <a:lnTo>
                    <a:pt x="73151" y="3931920"/>
                  </a:lnTo>
                  <a:lnTo>
                    <a:pt x="44684" y="3926172"/>
                  </a:lnTo>
                  <a:lnTo>
                    <a:pt x="21431" y="3910498"/>
                  </a:lnTo>
                  <a:lnTo>
                    <a:pt x="5750" y="3887246"/>
                  </a:lnTo>
                  <a:lnTo>
                    <a:pt x="0" y="385876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CDEE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800468" y="1971497"/>
            <a:ext cx="251269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70" b="1">
                <a:solidFill>
                  <a:srgbClr val="005F6B"/>
                </a:solidFill>
                <a:latin typeface="Calibri"/>
                <a:cs typeface="Calibri"/>
              </a:rPr>
              <a:t>AFTER</a:t>
            </a:r>
            <a:r>
              <a:rPr dirty="0" sz="1400" spc="18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400" spc="75" b="1">
                <a:solidFill>
                  <a:srgbClr val="005F6B"/>
                </a:solidFill>
                <a:latin typeface="Calibri"/>
                <a:cs typeface="Calibri"/>
              </a:rPr>
              <a:t>CLEANING</a:t>
            </a:r>
            <a:r>
              <a:rPr dirty="0" sz="1400" spc="2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5F6B"/>
                </a:solidFill>
                <a:latin typeface="Calibri"/>
                <a:cs typeface="Calibri"/>
              </a:rPr>
              <a:t>&amp;</a:t>
            </a:r>
            <a:r>
              <a:rPr dirty="0" sz="1400" spc="19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400" spc="65" b="1">
                <a:solidFill>
                  <a:srgbClr val="005F6B"/>
                </a:solidFill>
                <a:latin typeface="Calibri"/>
                <a:cs typeface="Calibri"/>
              </a:rPr>
              <a:t>MERGING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26" name="object 26"/>
          <p:cNvSpPr txBox="1"/>
          <p:nvPr/>
        </p:nvSpPr>
        <p:spPr>
          <a:xfrm>
            <a:off x="8079105" y="2692730"/>
            <a:ext cx="1811655" cy="1015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6415"/>
              </a:lnSpc>
              <a:spcBef>
                <a:spcPts val="100"/>
              </a:spcBef>
            </a:pPr>
            <a:r>
              <a:rPr dirty="0" sz="5400" spc="-10" b="1">
                <a:solidFill>
                  <a:srgbClr val="00A895"/>
                </a:solidFill>
                <a:latin typeface="Cambria"/>
                <a:cs typeface="Cambria"/>
              </a:rPr>
              <a:t>1,000</a:t>
            </a:r>
            <a:endParaRPr sz="5400">
              <a:latin typeface="Cambria"/>
              <a:cs typeface="Cambria"/>
            </a:endParaRPr>
          </a:p>
          <a:p>
            <a:pPr algn="ctr" marR="17145">
              <a:lnSpc>
                <a:spcPts val="1375"/>
              </a:lnSpc>
            </a:pPr>
            <a:r>
              <a:rPr dirty="0" sz="1200" b="1">
                <a:solidFill>
                  <a:srgbClr val="5B6D73"/>
                </a:solidFill>
                <a:latin typeface="Calibri"/>
                <a:cs typeface="Calibri"/>
              </a:rPr>
              <a:t>R</a:t>
            </a:r>
            <a:r>
              <a:rPr dirty="0" sz="1200" spc="-75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B6D73"/>
                </a:solidFill>
                <a:latin typeface="Calibri"/>
                <a:cs typeface="Calibri"/>
              </a:rPr>
              <a:t>O</a:t>
            </a:r>
            <a:r>
              <a:rPr dirty="0" sz="1200" spc="-70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B6D73"/>
                </a:solidFill>
                <a:latin typeface="Calibri"/>
                <a:cs typeface="Calibri"/>
              </a:rPr>
              <a:t>W</a:t>
            </a:r>
            <a:r>
              <a:rPr dirty="0" sz="1200" spc="-70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B6D73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54973" y="3786100"/>
            <a:ext cx="833119" cy="101917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ctr" marL="27940">
              <a:lnSpc>
                <a:spcPct val="100000"/>
              </a:lnSpc>
              <a:spcBef>
                <a:spcPts val="965"/>
              </a:spcBef>
            </a:pPr>
            <a:r>
              <a:rPr dirty="0" sz="4400" spc="-25" b="1">
                <a:solidFill>
                  <a:srgbClr val="018090"/>
                </a:solidFill>
                <a:latin typeface="Cambria"/>
                <a:cs typeface="Cambria"/>
              </a:rPr>
              <a:t>20</a:t>
            </a:r>
            <a:endParaRPr sz="44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1200" spc="-10" b="1">
                <a:solidFill>
                  <a:srgbClr val="5B6D73"/>
                </a:solidFill>
                <a:latin typeface="Calibri"/>
                <a:cs typeface="Calibri"/>
              </a:rPr>
              <a:t>C</a:t>
            </a:r>
            <a:r>
              <a:rPr dirty="0" sz="1200" spc="-70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B6D73"/>
                </a:solidFill>
                <a:latin typeface="Calibri"/>
                <a:cs typeface="Calibri"/>
              </a:rPr>
              <a:t>O</a:t>
            </a:r>
            <a:r>
              <a:rPr dirty="0" sz="1200" spc="-60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B6D73"/>
                </a:solidFill>
                <a:latin typeface="Calibri"/>
                <a:cs typeface="Calibri"/>
              </a:rPr>
              <a:t>L</a:t>
            </a:r>
            <a:r>
              <a:rPr dirty="0" sz="1200" spc="-70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5B6D73"/>
                </a:solidFill>
                <a:latin typeface="Calibri"/>
                <a:cs typeface="Calibri"/>
              </a:rPr>
              <a:t>U</a:t>
            </a:r>
            <a:r>
              <a:rPr dirty="0" sz="1200" spc="-75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5B6D73"/>
                </a:solidFill>
                <a:latin typeface="Calibri"/>
                <a:cs typeface="Calibri"/>
              </a:rPr>
              <a:t>M</a:t>
            </a:r>
            <a:r>
              <a:rPr dirty="0" sz="1200" spc="-70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5B6D73"/>
                </a:solidFill>
                <a:latin typeface="Calibri"/>
                <a:cs typeface="Calibri"/>
              </a:rPr>
              <a:t>N</a:t>
            </a:r>
            <a:r>
              <a:rPr dirty="0" sz="1200" spc="-65" b="1">
                <a:solidFill>
                  <a:srgbClr val="5B6D73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5B6D73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58608" y="5198440"/>
            <a:ext cx="365125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i="1">
                <a:solidFill>
                  <a:srgbClr val="005F6B"/>
                </a:solidFill>
                <a:latin typeface="Calibri"/>
                <a:cs typeface="Calibri"/>
              </a:rPr>
              <a:t>One unified,</a:t>
            </a:r>
            <a:r>
              <a:rPr dirty="0" sz="1100" spc="-5" i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005F6B"/>
                </a:solidFill>
                <a:latin typeface="Calibri"/>
                <a:cs typeface="Calibri"/>
              </a:rPr>
              <a:t>analysis-</a:t>
            </a:r>
            <a:r>
              <a:rPr dirty="0" sz="1100" i="1">
                <a:solidFill>
                  <a:srgbClr val="005F6B"/>
                </a:solidFill>
                <a:latin typeface="Calibri"/>
                <a:cs typeface="Calibri"/>
              </a:rPr>
              <a:t>ready</a:t>
            </a:r>
            <a:r>
              <a:rPr dirty="0" sz="1100" spc="-40" i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5F6B"/>
                </a:solidFill>
                <a:latin typeface="Calibri"/>
                <a:cs typeface="Calibri"/>
              </a:rPr>
              <a:t>dataset</a:t>
            </a:r>
            <a:r>
              <a:rPr dirty="0" sz="1100" spc="-25" i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5F6B"/>
                </a:solidFill>
                <a:latin typeface="Calibri"/>
                <a:cs typeface="Calibri"/>
              </a:rPr>
              <a:t>— zero</a:t>
            </a:r>
            <a:r>
              <a:rPr dirty="0" sz="1100" spc="-15" i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5F6B"/>
                </a:solidFill>
                <a:latin typeface="Calibri"/>
                <a:cs typeface="Calibri"/>
              </a:rPr>
              <a:t>nulls,</a:t>
            </a:r>
            <a:r>
              <a:rPr dirty="0" sz="1100" spc="-5" i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5F6B"/>
                </a:solidFill>
                <a:latin typeface="Calibri"/>
                <a:cs typeface="Calibri"/>
              </a:rPr>
              <a:t>zero</a:t>
            </a:r>
            <a:r>
              <a:rPr dirty="0" sz="1100" spc="-10" i="1">
                <a:solidFill>
                  <a:srgbClr val="005F6B"/>
                </a:solidFill>
                <a:latin typeface="Calibri"/>
                <a:cs typeface="Calibri"/>
              </a:rPr>
              <a:t> duplicates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clipboar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21907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M</a:t>
            </a:r>
            <a:r>
              <a:rPr dirty="0" sz="1300" spc="3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42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4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N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G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Hospital</a:t>
            </a:r>
            <a:r>
              <a:rPr dirty="0" spc="-45"/>
              <a:t> </a:t>
            </a:r>
            <a:r>
              <a:rPr dirty="0"/>
              <a:t>KPIs</a:t>
            </a:r>
            <a:r>
              <a:rPr dirty="0" spc="-65"/>
              <a:t> </a:t>
            </a:r>
            <a:r>
              <a:rPr dirty="0" spc="-10"/>
              <a:t>Engineered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16610" y="1731010"/>
            <a:ext cx="3350260" cy="1612900"/>
            <a:chOff x="816610" y="1731010"/>
            <a:chExt cx="3350260" cy="1612900"/>
          </a:xfrm>
        </p:grpSpPr>
        <p:sp>
          <p:nvSpPr>
            <p:cNvPr id="6" name="object 6"/>
            <p:cNvSpPr/>
            <p:nvPr/>
          </p:nvSpPr>
          <p:spPr>
            <a:xfrm>
              <a:off x="822960" y="1737360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60" h="1600200">
                  <a:moveTo>
                    <a:pt x="3264407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527048"/>
                  </a:lnTo>
                  <a:lnTo>
                    <a:pt x="5748" y="1555515"/>
                  </a:lnTo>
                  <a:lnTo>
                    <a:pt x="21426" y="1578768"/>
                  </a:lnTo>
                  <a:lnTo>
                    <a:pt x="44678" y="1594449"/>
                  </a:lnTo>
                  <a:lnTo>
                    <a:pt x="73152" y="1600200"/>
                  </a:lnTo>
                  <a:lnTo>
                    <a:pt x="3264407" y="1600200"/>
                  </a:lnTo>
                  <a:lnTo>
                    <a:pt x="3292875" y="1594449"/>
                  </a:lnTo>
                  <a:lnTo>
                    <a:pt x="3316128" y="1578768"/>
                  </a:lnTo>
                  <a:lnTo>
                    <a:pt x="3331809" y="1555515"/>
                  </a:lnTo>
                  <a:lnTo>
                    <a:pt x="3337560" y="1527048"/>
                  </a:lnTo>
                  <a:lnTo>
                    <a:pt x="3337560" y="73151"/>
                  </a:lnTo>
                  <a:lnTo>
                    <a:pt x="3331809" y="44684"/>
                  </a:lnTo>
                  <a:lnTo>
                    <a:pt x="3316128" y="21431"/>
                  </a:lnTo>
                  <a:lnTo>
                    <a:pt x="3292875" y="5750"/>
                  </a:lnTo>
                  <a:lnTo>
                    <a:pt x="3264407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2960" y="1737360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60" h="160020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3264407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60" y="73151"/>
                  </a:lnTo>
                  <a:lnTo>
                    <a:pt x="3337560" y="1527048"/>
                  </a:lnTo>
                  <a:lnTo>
                    <a:pt x="3331809" y="1555515"/>
                  </a:lnTo>
                  <a:lnTo>
                    <a:pt x="3316128" y="1578768"/>
                  </a:lnTo>
                  <a:lnTo>
                    <a:pt x="3292875" y="1594449"/>
                  </a:lnTo>
                  <a:lnTo>
                    <a:pt x="3264407" y="1600200"/>
                  </a:lnTo>
                  <a:lnTo>
                    <a:pt x="73152" y="1600200"/>
                  </a:lnTo>
                  <a:lnTo>
                    <a:pt x="44678" y="1594449"/>
                  </a:lnTo>
                  <a:lnTo>
                    <a:pt x="21426" y="1578768"/>
                  </a:lnTo>
                  <a:lnTo>
                    <a:pt x="5748" y="1555515"/>
                  </a:lnTo>
                  <a:lnTo>
                    <a:pt x="0" y="152704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51560" y="1965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icons/chartlin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717" y="2079117"/>
              <a:ext cx="276606" cy="27660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770633" y="2090369"/>
            <a:ext cx="122364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5" b="1">
                <a:solidFill>
                  <a:srgbClr val="005F6B"/>
                </a:solidFill>
                <a:latin typeface="Calibri"/>
                <a:cs typeface="Calibri"/>
              </a:rPr>
              <a:t>Total</a:t>
            </a:r>
            <a:r>
              <a:rPr dirty="0" sz="13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5F6B"/>
                </a:solidFill>
                <a:latin typeface="Calibri"/>
                <a:cs typeface="Calibri"/>
              </a:rPr>
              <a:t>Admissions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0604" y="2816428"/>
            <a:ext cx="13582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Distinct</a:t>
            </a:r>
            <a:r>
              <a:rPr dirty="0" sz="1200" spc="-6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200" spc="-6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63139"/>
                </a:solidFill>
                <a:latin typeface="Calibri"/>
                <a:cs typeface="Calibri"/>
              </a:rPr>
              <a:t>count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82770" y="1731010"/>
            <a:ext cx="3350260" cy="1612900"/>
            <a:chOff x="4382770" y="1731010"/>
            <a:chExt cx="3350260" cy="1612900"/>
          </a:xfrm>
        </p:grpSpPr>
        <p:sp>
          <p:nvSpPr>
            <p:cNvPr id="13" name="object 13"/>
            <p:cNvSpPr/>
            <p:nvPr/>
          </p:nvSpPr>
          <p:spPr>
            <a:xfrm>
              <a:off x="4389120" y="1737360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326440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527048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3264407" y="1600200"/>
                  </a:lnTo>
                  <a:lnTo>
                    <a:pt x="3292875" y="1594449"/>
                  </a:lnTo>
                  <a:lnTo>
                    <a:pt x="3316128" y="1578768"/>
                  </a:lnTo>
                  <a:lnTo>
                    <a:pt x="3331809" y="1555515"/>
                  </a:lnTo>
                  <a:lnTo>
                    <a:pt x="3337559" y="1527048"/>
                  </a:lnTo>
                  <a:lnTo>
                    <a:pt x="3337559" y="73151"/>
                  </a:lnTo>
                  <a:lnTo>
                    <a:pt x="3331809" y="44684"/>
                  </a:lnTo>
                  <a:lnTo>
                    <a:pt x="3316128" y="21431"/>
                  </a:lnTo>
                  <a:lnTo>
                    <a:pt x="3292875" y="5750"/>
                  </a:lnTo>
                  <a:lnTo>
                    <a:pt x="3264407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89120" y="1737360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64407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59" y="73151"/>
                  </a:lnTo>
                  <a:lnTo>
                    <a:pt x="3337559" y="1527048"/>
                  </a:lnTo>
                  <a:lnTo>
                    <a:pt x="3331809" y="1555515"/>
                  </a:lnTo>
                  <a:lnTo>
                    <a:pt x="3316128" y="1578768"/>
                  </a:lnTo>
                  <a:lnTo>
                    <a:pt x="3292875" y="1594449"/>
                  </a:lnTo>
                  <a:lnTo>
                    <a:pt x="3264407" y="1600200"/>
                  </a:lnTo>
                  <a:lnTo>
                    <a:pt x="73151" y="1600200"/>
                  </a:lnTo>
                  <a:lnTo>
                    <a:pt x="44684" y="1594449"/>
                  </a:lnTo>
                  <a:lnTo>
                    <a:pt x="21431" y="1578768"/>
                  </a:lnTo>
                  <a:lnTo>
                    <a:pt x="5750" y="1555515"/>
                  </a:lnTo>
                  <a:lnTo>
                    <a:pt x="0" y="152704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17720" y="1965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icons/chartlin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0877" y="2079117"/>
              <a:ext cx="276605" cy="27660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337175" y="2090369"/>
            <a:ext cx="137477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005F6B"/>
                </a:solidFill>
                <a:latin typeface="Calibri"/>
                <a:cs typeface="Calibri"/>
              </a:rPr>
              <a:t>Avg.</a:t>
            </a:r>
            <a:r>
              <a:rPr dirty="0" sz="13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5F6B"/>
                </a:solidFill>
                <a:latin typeface="Calibri"/>
                <a:cs typeface="Calibri"/>
              </a:rPr>
              <a:t>Length</a:t>
            </a:r>
            <a:r>
              <a:rPr dirty="0" sz="1350" spc="-4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05F6B"/>
                </a:solidFill>
                <a:latin typeface="Calibri"/>
                <a:cs typeface="Calibri"/>
              </a:rPr>
              <a:t>of</a:t>
            </a:r>
            <a:r>
              <a:rPr dirty="0" sz="1350" spc="-20" b="1">
                <a:solidFill>
                  <a:srgbClr val="005F6B"/>
                </a:solidFill>
                <a:latin typeface="Calibri"/>
                <a:cs typeface="Calibri"/>
              </a:rPr>
              <a:t> Stay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97095" y="2816428"/>
            <a:ext cx="609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37.7</a:t>
            </a:r>
            <a:r>
              <a:rPr dirty="0" sz="120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63139"/>
                </a:solidFill>
                <a:latin typeface="Calibri"/>
                <a:cs typeface="Calibri"/>
              </a:rPr>
              <a:t>days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48930" y="1731010"/>
            <a:ext cx="3350260" cy="1612900"/>
            <a:chOff x="7948930" y="1731010"/>
            <a:chExt cx="3350260" cy="1612900"/>
          </a:xfrm>
        </p:grpSpPr>
        <p:sp>
          <p:nvSpPr>
            <p:cNvPr id="20" name="object 20"/>
            <p:cNvSpPr/>
            <p:nvPr/>
          </p:nvSpPr>
          <p:spPr>
            <a:xfrm>
              <a:off x="7955280" y="1737360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326440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527048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3264408" y="1600200"/>
                  </a:lnTo>
                  <a:lnTo>
                    <a:pt x="3292875" y="1594449"/>
                  </a:lnTo>
                  <a:lnTo>
                    <a:pt x="3316128" y="1578768"/>
                  </a:lnTo>
                  <a:lnTo>
                    <a:pt x="3331809" y="1555515"/>
                  </a:lnTo>
                  <a:lnTo>
                    <a:pt x="3337560" y="1527048"/>
                  </a:lnTo>
                  <a:lnTo>
                    <a:pt x="3337560" y="73151"/>
                  </a:lnTo>
                  <a:lnTo>
                    <a:pt x="3331809" y="44684"/>
                  </a:lnTo>
                  <a:lnTo>
                    <a:pt x="3316128" y="21431"/>
                  </a:lnTo>
                  <a:lnTo>
                    <a:pt x="3292875" y="5750"/>
                  </a:lnTo>
                  <a:lnTo>
                    <a:pt x="3264408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955280" y="1737360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64408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60" y="73151"/>
                  </a:lnTo>
                  <a:lnTo>
                    <a:pt x="3337560" y="1527048"/>
                  </a:lnTo>
                  <a:lnTo>
                    <a:pt x="3331809" y="1555515"/>
                  </a:lnTo>
                  <a:lnTo>
                    <a:pt x="3316128" y="1578768"/>
                  </a:lnTo>
                  <a:lnTo>
                    <a:pt x="3292875" y="1594449"/>
                  </a:lnTo>
                  <a:lnTo>
                    <a:pt x="3264408" y="1600200"/>
                  </a:lnTo>
                  <a:lnTo>
                    <a:pt x="73151" y="1600200"/>
                  </a:lnTo>
                  <a:lnTo>
                    <a:pt x="44684" y="1594449"/>
                  </a:lnTo>
                  <a:lnTo>
                    <a:pt x="21431" y="1578768"/>
                  </a:lnTo>
                  <a:lnTo>
                    <a:pt x="5750" y="1555515"/>
                  </a:lnTo>
                  <a:lnTo>
                    <a:pt x="0" y="152704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183880" y="1965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icons/chartlin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7037" y="2079117"/>
              <a:ext cx="276605" cy="27660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903969" y="2090369"/>
            <a:ext cx="143637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5F6B"/>
                </a:solidFill>
                <a:latin typeface="Calibri"/>
                <a:cs typeface="Calibri"/>
              </a:rPr>
              <a:t>Bed</a:t>
            </a:r>
            <a:r>
              <a:rPr dirty="0" sz="13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spc="-10" b="1">
                <a:solidFill>
                  <a:srgbClr val="005F6B"/>
                </a:solidFill>
                <a:latin typeface="Calibri"/>
                <a:cs typeface="Calibri"/>
              </a:rPr>
              <a:t>Utilization</a:t>
            </a:r>
            <a:r>
              <a:rPr dirty="0" sz="13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5F6B"/>
                </a:solidFill>
                <a:latin typeface="Calibri"/>
                <a:cs typeface="Calibri"/>
              </a:rPr>
              <a:t>Rate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63890" y="2816428"/>
            <a:ext cx="9372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91.95%</a:t>
            </a:r>
            <a:r>
              <a:rPr dirty="0" sz="120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3139"/>
                </a:solidFill>
                <a:latin typeface="Calibri"/>
                <a:cs typeface="Calibri"/>
              </a:rPr>
              <a:t>overall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16610" y="3605529"/>
            <a:ext cx="3350260" cy="1612900"/>
            <a:chOff x="816610" y="3605529"/>
            <a:chExt cx="3350260" cy="1612900"/>
          </a:xfrm>
        </p:grpSpPr>
        <p:sp>
          <p:nvSpPr>
            <p:cNvPr id="27" name="object 27"/>
            <p:cNvSpPr/>
            <p:nvPr/>
          </p:nvSpPr>
          <p:spPr>
            <a:xfrm>
              <a:off x="822960" y="3611879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60" h="1600200">
                  <a:moveTo>
                    <a:pt x="3264407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527048"/>
                  </a:lnTo>
                  <a:lnTo>
                    <a:pt x="5748" y="1555515"/>
                  </a:lnTo>
                  <a:lnTo>
                    <a:pt x="21426" y="1578768"/>
                  </a:lnTo>
                  <a:lnTo>
                    <a:pt x="44678" y="1594449"/>
                  </a:lnTo>
                  <a:lnTo>
                    <a:pt x="73152" y="1600200"/>
                  </a:lnTo>
                  <a:lnTo>
                    <a:pt x="3264407" y="1600200"/>
                  </a:lnTo>
                  <a:lnTo>
                    <a:pt x="3292875" y="1594449"/>
                  </a:lnTo>
                  <a:lnTo>
                    <a:pt x="3316128" y="1578768"/>
                  </a:lnTo>
                  <a:lnTo>
                    <a:pt x="3331809" y="1555515"/>
                  </a:lnTo>
                  <a:lnTo>
                    <a:pt x="3337560" y="1527048"/>
                  </a:lnTo>
                  <a:lnTo>
                    <a:pt x="3337560" y="73152"/>
                  </a:lnTo>
                  <a:lnTo>
                    <a:pt x="3331809" y="44684"/>
                  </a:lnTo>
                  <a:lnTo>
                    <a:pt x="3316128" y="21431"/>
                  </a:lnTo>
                  <a:lnTo>
                    <a:pt x="3292875" y="5750"/>
                  </a:lnTo>
                  <a:lnTo>
                    <a:pt x="3264407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22960" y="3611879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60" h="160020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3264407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60" y="73152"/>
                  </a:lnTo>
                  <a:lnTo>
                    <a:pt x="3337560" y="1527048"/>
                  </a:lnTo>
                  <a:lnTo>
                    <a:pt x="3331809" y="1555515"/>
                  </a:lnTo>
                  <a:lnTo>
                    <a:pt x="3316128" y="1578768"/>
                  </a:lnTo>
                  <a:lnTo>
                    <a:pt x="3292875" y="1594449"/>
                  </a:lnTo>
                  <a:lnTo>
                    <a:pt x="3264407" y="1600200"/>
                  </a:lnTo>
                  <a:lnTo>
                    <a:pt x="73152" y="1600200"/>
                  </a:lnTo>
                  <a:lnTo>
                    <a:pt x="44678" y="1594449"/>
                  </a:lnTo>
                  <a:lnTo>
                    <a:pt x="21426" y="1578768"/>
                  </a:lnTo>
                  <a:lnTo>
                    <a:pt x="5748" y="1555515"/>
                  </a:lnTo>
                  <a:lnTo>
                    <a:pt x="0" y="152704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51560" y="38404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icons/chartlin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717" y="3953636"/>
              <a:ext cx="276606" cy="276606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770633" y="3965828"/>
            <a:ext cx="11607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5F6B"/>
                </a:solidFill>
                <a:latin typeface="Calibri"/>
                <a:cs typeface="Calibri"/>
              </a:rPr>
              <a:t>Occupancy</a:t>
            </a:r>
            <a:r>
              <a:rPr dirty="0" sz="1350" spc="-7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5F6B"/>
                </a:solidFill>
                <a:latin typeface="Calibri"/>
                <a:cs typeface="Calibri"/>
              </a:rPr>
              <a:t>Rate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30604" y="4691888"/>
            <a:ext cx="16402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63139"/>
                </a:solidFill>
                <a:latin typeface="Calibri"/>
                <a:cs typeface="Calibri"/>
              </a:rPr>
              <a:t>Admitted </a:t>
            </a: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÷</a:t>
            </a:r>
            <a:r>
              <a:rPr dirty="0" sz="1200" spc="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3139"/>
                </a:solidFill>
                <a:latin typeface="Calibri"/>
                <a:cs typeface="Calibri"/>
              </a:rPr>
              <a:t>Available</a:t>
            </a:r>
            <a:r>
              <a:rPr dirty="0" sz="120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63139"/>
                </a:solidFill>
                <a:latin typeface="Calibri"/>
                <a:cs typeface="Calibri"/>
              </a:rPr>
              <a:t>beds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382770" y="3605529"/>
            <a:ext cx="3350260" cy="1612900"/>
            <a:chOff x="4382770" y="3605529"/>
            <a:chExt cx="3350260" cy="1612900"/>
          </a:xfrm>
        </p:grpSpPr>
        <p:sp>
          <p:nvSpPr>
            <p:cNvPr id="34" name="object 34"/>
            <p:cNvSpPr/>
            <p:nvPr/>
          </p:nvSpPr>
          <p:spPr>
            <a:xfrm>
              <a:off x="4389120" y="3611879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326440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527048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3264407" y="1600200"/>
                  </a:lnTo>
                  <a:lnTo>
                    <a:pt x="3292875" y="1594449"/>
                  </a:lnTo>
                  <a:lnTo>
                    <a:pt x="3316128" y="1578768"/>
                  </a:lnTo>
                  <a:lnTo>
                    <a:pt x="3331809" y="1555515"/>
                  </a:lnTo>
                  <a:lnTo>
                    <a:pt x="3337559" y="1527048"/>
                  </a:lnTo>
                  <a:lnTo>
                    <a:pt x="3337559" y="73152"/>
                  </a:lnTo>
                  <a:lnTo>
                    <a:pt x="3331809" y="44684"/>
                  </a:lnTo>
                  <a:lnTo>
                    <a:pt x="3316128" y="21431"/>
                  </a:lnTo>
                  <a:lnTo>
                    <a:pt x="3292875" y="5750"/>
                  </a:lnTo>
                  <a:lnTo>
                    <a:pt x="3264407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389120" y="3611879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64407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59" y="73152"/>
                  </a:lnTo>
                  <a:lnTo>
                    <a:pt x="3337559" y="1527048"/>
                  </a:lnTo>
                  <a:lnTo>
                    <a:pt x="3331809" y="1555515"/>
                  </a:lnTo>
                  <a:lnTo>
                    <a:pt x="3316128" y="1578768"/>
                  </a:lnTo>
                  <a:lnTo>
                    <a:pt x="3292875" y="1594449"/>
                  </a:lnTo>
                  <a:lnTo>
                    <a:pt x="3264407" y="1600200"/>
                  </a:lnTo>
                  <a:lnTo>
                    <a:pt x="73151" y="1600200"/>
                  </a:lnTo>
                  <a:lnTo>
                    <a:pt x="44684" y="1594449"/>
                  </a:lnTo>
                  <a:lnTo>
                    <a:pt x="21431" y="1578768"/>
                  </a:lnTo>
                  <a:lnTo>
                    <a:pt x="5750" y="1555515"/>
                  </a:lnTo>
                  <a:lnTo>
                    <a:pt x="0" y="152704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17720" y="38404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icons/chartlin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0877" y="3953636"/>
              <a:ext cx="276605" cy="2766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337175" y="3965828"/>
            <a:ext cx="12915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5F6B"/>
                </a:solidFill>
                <a:latin typeface="Calibri"/>
                <a:cs typeface="Calibri"/>
              </a:rPr>
              <a:t>Readmission</a:t>
            </a:r>
            <a:r>
              <a:rPr dirty="0" sz="1350" spc="-6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5F6B"/>
                </a:solidFill>
                <a:latin typeface="Calibri"/>
                <a:cs typeface="Calibri"/>
              </a:rPr>
              <a:t>Rate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97095" y="4691888"/>
            <a:ext cx="1728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63139"/>
                </a:solidFill>
                <a:latin typeface="Calibri"/>
                <a:cs typeface="Calibri"/>
              </a:rPr>
              <a:t>Repeat-</a:t>
            </a: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visit</a:t>
            </a:r>
            <a:r>
              <a:rPr dirty="0" sz="120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patients</a:t>
            </a:r>
            <a:r>
              <a:rPr dirty="0" sz="120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÷</a:t>
            </a:r>
            <a:r>
              <a:rPr dirty="0" sz="120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948930" y="3605529"/>
            <a:ext cx="3350260" cy="1612900"/>
            <a:chOff x="7948930" y="3605529"/>
            <a:chExt cx="3350260" cy="1612900"/>
          </a:xfrm>
        </p:grpSpPr>
        <p:sp>
          <p:nvSpPr>
            <p:cNvPr id="41" name="object 41"/>
            <p:cNvSpPr/>
            <p:nvPr/>
          </p:nvSpPr>
          <p:spPr>
            <a:xfrm>
              <a:off x="7955280" y="3611879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326440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527048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3264408" y="1600200"/>
                  </a:lnTo>
                  <a:lnTo>
                    <a:pt x="3292875" y="1594449"/>
                  </a:lnTo>
                  <a:lnTo>
                    <a:pt x="3316128" y="1578768"/>
                  </a:lnTo>
                  <a:lnTo>
                    <a:pt x="3331809" y="1555515"/>
                  </a:lnTo>
                  <a:lnTo>
                    <a:pt x="3337560" y="1527048"/>
                  </a:lnTo>
                  <a:lnTo>
                    <a:pt x="3337560" y="73152"/>
                  </a:lnTo>
                  <a:lnTo>
                    <a:pt x="3331809" y="44684"/>
                  </a:lnTo>
                  <a:lnTo>
                    <a:pt x="3316128" y="21431"/>
                  </a:lnTo>
                  <a:lnTo>
                    <a:pt x="3292875" y="5750"/>
                  </a:lnTo>
                  <a:lnTo>
                    <a:pt x="3264408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955280" y="3611879"/>
              <a:ext cx="3337560" cy="1600200"/>
            </a:xfrm>
            <a:custGeom>
              <a:avLst/>
              <a:gdLst/>
              <a:ahLst/>
              <a:cxnLst/>
              <a:rect l="l" t="t" r="r" b="b"/>
              <a:pathLst>
                <a:path w="3337559" h="16002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64408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60" y="73152"/>
                  </a:lnTo>
                  <a:lnTo>
                    <a:pt x="3337560" y="1527048"/>
                  </a:lnTo>
                  <a:lnTo>
                    <a:pt x="3331809" y="1555515"/>
                  </a:lnTo>
                  <a:lnTo>
                    <a:pt x="3316128" y="1578768"/>
                  </a:lnTo>
                  <a:lnTo>
                    <a:pt x="3292875" y="1594449"/>
                  </a:lnTo>
                  <a:lnTo>
                    <a:pt x="3264408" y="1600200"/>
                  </a:lnTo>
                  <a:lnTo>
                    <a:pt x="73151" y="1600200"/>
                  </a:lnTo>
                  <a:lnTo>
                    <a:pt x="44684" y="1594449"/>
                  </a:lnTo>
                  <a:lnTo>
                    <a:pt x="21431" y="1578768"/>
                  </a:lnTo>
                  <a:lnTo>
                    <a:pt x="5750" y="1555515"/>
                  </a:lnTo>
                  <a:lnTo>
                    <a:pt x="0" y="152704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183880" y="384047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20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icons/chartlin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7037" y="3953636"/>
              <a:ext cx="276605" cy="276606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8903969" y="3965828"/>
            <a:ext cx="129222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 b="1">
                <a:solidFill>
                  <a:srgbClr val="005F6B"/>
                </a:solidFill>
                <a:latin typeface="Calibri"/>
                <a:cs typeface="Calibri"/>
              </a:rPr>
              <a:t>Service-</a:t>
            </a:r>
            <a:r>
              <a:rPr dirty="0" sz="1350" b="1">
                <a:solidFill>
                  <a:srgbClr val="005F6B"/>
                </a:solidFill>
                <a:latin typeface="Calibri"/>
                <a:cs typeface="Calibri"/>
              </a:rPr>
              <a:t>Level</a:t>
            </a:r>
            <a:r>
              <a:rPr dirty="0" sz="13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5F6B"/>
                </a:solidFill>
                <a:latin typeface="Calibri"/>
                <a:cs typeface="Calibri"/>
              </a:rPr>
              <a:t>KPIs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46" name="object 46"/>
          <p:cNvSpPr txBox="1"/>
          <p:nvPr/>
        </p:nvSpPr>
        <p:spPr>
          <a:xfrm>
            <a:off x="8263890" y="4691888"/>
            <a:ext cx="177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63139"/>
                </a:solidFill>
                <a:latin typeface="Calibri"/>
                <a:cs typeface="Calibri"/>
              </a:rPr>
              <a:t>Per-</a:t>
            </a:r>
            <a:r>
              <a:rPr dirty="0" sz="1200">
                <a:solidFill>
                  <a:srgbClr val="163139"/>
                </a:solidFill>
                <a:latin typeface="Calibri"/>
                <a:cs typeface="Calibri"/>
              </a:rPr>
              <a:t>department</a:t>
            </a:r>
            <a:r>
              <a:rPr dirty="0" sz="120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63139"/>
                </a:solidFill>
                <a:latin typeface="Calibri"/>
                <a:cs typeface="Calibri"/>
              </a:rPr>
              <a:t>comparison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b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26873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3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·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1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4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Patient</a:t>
            </a:r>
            <a:r>
              <a:rPr dirty="0" spc="-110"/>
              <a:t> </a:t>
            </a:r>
            <a:r>
              <a:rPr dirty="0" spc="-10"/>
              <a:t>Analytics</a:t>
            </a:r>
            <a:r>
              <a:rPr dirty="0" spc="-85"/>
              <a:t> </a:t>
            </a:r>
            <a:r>
              <a:rPr dirty="0" spc="-10"/>
              <a:t>Dashboard</a:t>
            </a:r>
          </a:p>
        </p:txBody>
      </p:sp>
      <p:pic>
        <p:nvPicPr>
          <p:cNvPr id="5" name="object 5" descr="images/m5_tableau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025" y="1709520"/>
            <a:ext cx="5201111" cy="275625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16610" y="4960746"/>
            <a:ext cx="10756900" cy="881380"/>
            <a:chOff x="816610" y="4960746"/>
            <a:chExt cx="10756900" cy="881380"/>
          </a:xfrm>
        </p:grpSpPr>
        <p:sp>
          <p:nvSpPr>
            <p:cNvPr id="7" name="object 7"/>
            <p:cNvSpPr/>
            <p:nvPr/>
          </p:nvSpPr>
          <p:spPr>
            <a:xfrm>
              <a:off x="822960" y="4967096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1068933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813752"/>
                  </a:lnTo>
                  <a:lnTo>
                    <a:pt x="4311" y="835108"/>
                  </a:lnTo>
                  <a:lnTo>
                    <a:pt x="16068" y="852547"/>
                  </a:lnTo>
                  <a:lnTo>
                    <a:pt x="33507" y="864305"/>
                  </a:lnTo>
                  <a:lnTo>
                    <a:pt x="54864" y="868616"/>
                  </a:lnTo>
                  <a:lnTo>
                    <a:pt x="10689336" y="868616"/>
                  </a:lnTo>
                  <a:lnTo>
                    <a:pt x="10710713" y="864305"/>
                  </a:lnTo>
                  <a:lnTo>
                    <a:pt x="10728150" y="852547"/>
                  </a:lnTo>
                  <a:lnTo>
                    <a:pt x="10739895" y="835108"/>
                  </a:lnTo>
                  <a:lnTo>
                    <a:pt x="10744200" y="813752"/>
                  </a:lnTo>
                  <a:lnTo>
                    <a:pt x="10744200" y="54863"/>
                  </a:lnTo>
                  <a:lnTo>
                    <a:pt x="10739895" y="33486"/>
                  </a:lnTo>
                  <a:lnTo>
                    <a:pt x="10728150" y="16049"/>
                  </a:lnTo>
                  <a:lnTo>
                    <a:pt x="10710713" y="4304"/>
                  </a:lnTo>
                  <a:lnTo>
                    <a:pt x="10689336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4967096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0689336" y="0"/>
                  </a:lnTo>
                  <a:lnTo>
                    <a:pt x="10710713" y="4304"/>
                  </a:lnTo>
                  <a:lnTo>
                    <a:pt x="10728150" y="16049"/>
                  </a:lnTo>
                  <a:lnTo>
                    <a:pt x="10739895" y="33486"/>
                  </a:lnTo>
                  <a:lnTo>
                    <a:pt x="10744200" y="54863"/>
                  </a:lnTo>
                  <a:lnTo>
                    <a:pt x="10744200" y="813752"/>
                  </a:lnTo>
                  <a:lnTo>
                    <a:pt x="10739895" y="835108"/>
                  </a:lnTo>
                  <a:lnTo>
                    <a:pt x="10728150" y="852547"/>
                  </a:lnTo>
                  <a:lnTo>
                    <a:pt x="10710713" y="864305"/>
                  </a:lnTo>
                  <a:lnTo>
                    <a:pt x="10689336" y="868616"/>
                  </a:lnTo>
                  <a:lnTo>
                    <a:pt x="54864" y="868616"/>
                  </a:lnTo>
                  <a:lnTo>
                    <a:pt x="33507" y="864305"/>
                  </a:lnTo>
                  <a:lnTo>
                    <a:pt x="16068" y="852547"/>
                  </a:lnTo>
                  <a:lnTo>
                    <a:pt x="4311" y="835108"/>
                  </a:lnTo>
                  <a:lnTo>
                    <a:pt x="0" y="81375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31465" y="5099761"/>
            <a:ext cx="10727690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1785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000" spc="36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000" spc="60" b="1">
                <a:solidFill>
                  <a:srgbClr val="00A895"/>
                </a:solidFill>
                <a:latin typeface="Calibri"/>
                <a:cs typeface="Calibri"/>
              </a:rPr>
              <a:t>INSIGHT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Calibri"/>
              <a:cs typeface="Calibri"/>
            </a:endParaRPr>
          </a:p>
          <a:p>
            <a:pPr marL="311785">
              <a:lnSpc>
                <a:spcPct val="100000"/>
              </a:lnSpc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984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patients,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37.7-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day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average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length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stay,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Cancer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/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Heart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Attack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identified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as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 costliest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conditions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treat.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51982" y="1739900"/>
            <a:ext cx="5750560" cy="276085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nurs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26873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3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·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2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4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Staff</a:t>
            </a:r>
            <a:r>
              <a:rPr dirty="0" spc="-80"/>
              <a:t> </a:t>
            </a:r>
            <a:r>
              <a:rPr dirty="0"/>
              <a:t>Management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/>
              <a:t>Service</a:t>
            </a:r>
            <a:r>
              <a:rPr dirty="0" spc="-70"/>
              <a:t> </a:t>
            </a:r>
            <a:r>
              <a:rPr dirty="0" spc="-10"/>
              <a:t>Analytics</a:t>
            </a:r>
          </a:p>
        </p:txBody>
      </p:sp>
      <p:pic>
        <p:nvPicPr>
          <p:cNvPr id="5" name="object 5" descr="images/m6_tableau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776" y="1376003"/>
            <a:ext cx="5636833" cy="300944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16610" y="4960746"/>
            <a:ext cx="10756900" cy="881380"/>
            <a:chOff x="816610" y="4960746"/>
            <a:chExt cx="10756900" cy="881380"/>
          </a:xfrm>
        </p:grpSpPr>
        <p:sp>
          <p:nvSpPr>
            <p:cNvPr id="7" name="object 7"/>
            <p:cNvSpPr/>
            <p:nvPr/>
          </p:nvSpPr>
          <p:spPr>
            <a:xfrm>
              <a:off x="822960" y="4967096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1068933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813752"/>
                  </a:lnTo>
                  <a:lnTo>
                    <a:pt x="4311" y="835108"/>
                  </a:lnTo>
                  <a:lnTo>
                    <a:pt x="16068" y="852547"/>
                  </a:lnTo>
                  <a:lnTo>
                    <a:pt x="33507" y="864305"/>
                  </a:lnTo>
                  <a:lnTo>
                    <a:pt x="54864" y="868616"/>
                  </a:lnTo>
                  <a:lnTo>
                    <a:pt x="10689336" y="868616"/>
                  </a:lnTo>
                  <a:lnTo>
                    <a:pt x="10710713" y="864305"/>
                  </a:lnTo>
                  <a:lnTo>
                    <a:pt x="10728150" y="852547"/>
                  </a:lnTo>
                  <a:lnTo>
                    <a:pt x="10739895" y="835108"/>
                  </a:lnTo>
                  <a:lnTo>
                    <a:pt x="10744200" y="813752"/>
                  </a:lnTo>
                  <a:lnTo>
                    <a:pt x="10744200" y="54863"/>
                  </a:lnTo>
                  <a:lnTo>
                    <a:pt x="10739895" y="33486"/>
                  </a:lnTo>
                  <a:lnTo>
                    <a:pt x="10728150" y="16049"/>
                  </a:lnTo>
                  <a:lnTo>
                    <a:pt x="10710713" y="4304"/>
                  </a:lnTo>
                  <a:lnTo>
                    <a:pt x="10689336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4967096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0689336" y="0"/>
                  </a:lnTo>
                  <a:lnTo>
                    <a:pt x="10710713" y="4304"/>
                  </a:lnTo>
                  <a:lnTo>
                    <a:pt x="10728150" y="16049"/>
                  </a:lnTo>
                  <a:lnTo>
                    <a:pt x="10739895" y="33486"/>
                  </a:lnTo>
                  <a:lnTo>
                    <a:pt x="10744200" y="54863"/>
                  </a:lnTo>
                  <a:lnTo>
                    <a:pt x="10744200" y="813752"/>
                  </a:lnTo>
                  <a:lnTo>
                    <a:pt x="10739895" y="835108"/>
                  </a:lnTo>
                  <a:lnTo>
                    <a:pt x="10728150" y="852547"/>
                  </a:lnTo>
                  <a:lnTo>
                    <a:pt x="10710713" y="864305"/>
                  </a:lnTo>
                  <a:lnTo>
                    <a:pt x="10689336" y="868616"/>
                  </a:lnTo>
                  <a:lnTo>
                    <a:pt x="54864" y="868616"/>
                  </a:lnTo>
                  <a:lnTo>
                    <a:pt x="33507" y="864305"/>
                  </a:lnTo>
                  <a:lnTo>
                    <a:pt x="16068" y="852547"/>
                  </a:lnTo>
                  <a:lnTo>
                    <a:pt x="4311" y="835108"/>
                  </a:lnTo>
                  <a:lnTo>
                    <a:pt x="0" y="81375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31465" y="5099761"/>
            <a:ext cx="10727690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1785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000" spc="36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000" spc="60" b="1">
                <a:solidFill>
                  <a:srgbClr val="00A895"/>
                </a:solidFill>
                <a:latin typeface="Calibri"/>
                <a:cs typeface="Calibri"/>
              </a:rPr>
              <a:t>INSIGHT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Calibri"/>
              <a:cs typeface="Calibri"/>
            </a:endParaRPr>
          </a:p>
          <a:p>
            <a:pPr marL="311785">
              <a:lnSpc>
                <a:spcPct val="100000"/>
              </a:lnSpc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110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staff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members</a:t>
            </a:r>
            <a:r>
              <a:rPr dirty="0" sz="11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tracked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across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4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departments,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with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service-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level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satisfaction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demand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patterns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compared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side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side.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800" y="1679320"/>
            <a:ext cx="5120640" cy="285292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money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26873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3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·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3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4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dirty="0" spc="-150"/>
              <a:t> </a:t>
            </a:r>
            <a:r>
              <a:rPr dirty="0" spc="-10"/>
              <a:t>Overview</a:t>
            </a:r>
          </a:p>
        </p:txBody>
      </p:sp>
      <p:pic>
        <p:nvPicPr>
          <p:cNvPr id="5" name="object 5" descr="images/m7_tableau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112" y="1284350"/>
            <a:ext cx="5273673" cy="323156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16610" y="4960746"/>
            <a:ext cx="10756900" cy="881380"/>
            <a:chOff x="816610" y="4960746"/>
            <a:chExt cx="10756900" cy="881380"/>
          </a:xfrm>
        </p:grpSpPr>
        <p:sp>
          <p:nvSpPr>
            <p:cNvPr id="7" name="object 7"/>
            <p:cNvSpPr/>
            <p:nvPr/>
          </p:nvSpPr>
          <p:spPr>
            <a:xfrm>
              <a:off x="822960" y="4967096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1068933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813752"/>
                  </a:lnTo>
                  <a:lnTo>
                    <a:pt x="4311" y="835108"/>
                  </a:lnTo>
                  <a:lnTo>
                    <a:pt x="16068" y="852547"/>
                  </a:lnTo>
                  <a:lnTo>
                    <a:pt x="33507" y="864305"/>
                  </a:lnTo>
                  <a:lnTo>
                    <a:pt x="54864" y="868616"/>
                  </a:lnTo>
                  <a:lnTo>
                    <a:pt x="10689336" y="868616"/>
                  </a:lnTo>
                  <a:lnTo>
                    <a:pt x="10710713" y="864305"/>
                  </a:lnTo>
                  <a:lnTo>
                    <a:pt x="10728150" y="852547"/>
                  </a:lnTo>
                  <a:lnTo>
                    <a:pt x="10739895" y="835108"/>
                  </a:lnTo>
                  <a:lnTo>
                    <a:pt x="10744200" y="813752"/>
                  </a:lnTo>
                  <a:lnTo>
                    <a:pt x="10744200" y="54863"/>
                  </a:lnTo>
                  <a:lnTo>
                    <a:pt x="10739895" y="33486"/>
                  </a:lnTo>
                  <a:lnTo>
                    <a:pt x="10728150" y="16049"/>
                  </a:lnTo>
                  <a:lnTo>
                    <a:pt x="10710713" y="4304"/>
                  </a:lnTo>
                  <a:lnTo>
                    <a:pt x="10689336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4967096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0689336" y="0"/>
                  </a:lnTo>
                  <a:lnTo>
                    <a:pt x="10710713" y="4304"/>
                  </a:lnTo>
                  <a:lnTo>
                    <a:pt x="10728150" y="16049"/>
                  </a:lnTo>
                  <a:lnTo>
                    <a:pt x="10739895" y="33486"/>
                  </a:lnTo>
                  <a:lnTo>
                    <a:pt x="10744200" y="54863"/>
                  </a:lnTo>
                  <a:lnTo>
                    <a:pt x="10744200" y="813752"/>
                  </a:lnTo>
                  <a:lnTo>
                    <a:pt x="10739895" y="835108"/>
                  </a:lnTo>
                  <a:lnTo>
                    <a:pt x="10728150" y="852547"/>
                  </a:lnTo>
                  <a:lnTo>
                    <a:pt x="10710713" y="864305"/>
                  </a:lnTo>
                  <a:lnTo>
                    <a:pt x="10689336" y="868616"/>
                  </a:lnTo>
                  <a:lnTo>
                    <a:pt x="54864" y="868616"/>
                  </a:lnTo>
                  <a:lnTo>
                    <a:pt x="33507" y="864305"/>
                  </a:lnTo>
                  <a:lnTo>
                    <a:pt x="16068" y="852547"/>
                  </a:lnTo>
                  <a:lnTo>
                    <a:pt x="4311" y="835108"/>
                  </a:lnTo>
                  <a:lnTo>
                    <a:pt x="0" y="81375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31465" y="5099761"/>
            <a:ext cx="10727690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1785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000" spc="36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000" spc="60" b="1">
                <a:solidFill>
                  <a:srgbClr val="00A895"/>
                </a:solidFill>
                <a:latin typeface="Calibri"/>
                <a:cs typeface="Calibri"/>
              </a:rPr>
              <a:t>INSIGHT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Calibri"/>
              <a:cs typeface="Calibri"/>
            </a:endParaRPr>
          </a:p>
          <a:p>
            <a:pPr marL="311785">
              <a:lnSpc>
                <a:spcPct val="100000"/>
              </a:lnSpc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₹8.2M+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in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healthcare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cost,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with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Emergency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running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100%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bed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utilization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tightest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capacity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any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department.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1652016"/>
            <a:ext cx="5588254" cy="296760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nurs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53667" y="470661"/>
            <a:ext cx="26866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T</a:t>
            </a:r>
            <a:r>
              <a:rPr dirty="0" sz="1300" spc="38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·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r>
              <a:rPr dirty="0" sz="1300" spc="42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53667" y="829436"/>
            <a:ext cx="3297554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</a:t>
            </a:r>
            <a:r>
              <a:rPr dirty="0" spc="-85"/>
              <a:t> </a:t>
            </a:r>
            <a:r>
              <a:rPr dirty="0" spc="-10"/>
              <a:t>performance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50850" y="5426709"/>
            <a:ext cx="10756900" cy="881380"/>
            <a:chOff x="450850" y="5426709"/>
            <a:chExt cx="10756900" cy="881380"/>
          </a:xfrm>
        </p:grpSpPr>
        <p:sp>
          <p:nvSpPr>
            <p:cNvPr id="6" name="object 6"/>
            <p:cNvSpPr/>
            <p:nvPr/>
          </p:nvSpPr>
          <p:spPr>
            <a:xfrm>
              <a:off x="457200" y="5433059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10689336" y="0"/>
                  </a:moveTo>
                  <a:lnTo>
                    <a:pt x="54864" y="0"/>
                  </a:lnTo>
                  <a:lnTo>
                    <a:pt x="33507" y="4302"/>
                  </a:lnTo>
                  <a:lnTo>
                    <a:pt x="16068" y="16033"/>
                  </a:lnTo>
                  <a:lnTo>
                    <a:pt x="4311" y="33432"/>
                  </a:lnTo>
                  <a:lnTo>
                    <a:pt x="0" y="54736"/>
                  </a:lnTo>
                  <a:lnTo>
                    <a:pt x="0" y="813752"/>
                  </a:lnTo>
                  <a:lnTo>
                    <a:pt x="4311" y="835108"/>
                  </a:lnTo>
                  <a:lnTo>
                    <a:pt x="16068" y="852547"/>
                  </a:lnTo>
                  <a:lnTo>
                    <a:pt x="33507" y="864305"/>
                  </a:lnTo>
                  <a:lnTo>
                    <a:pt x="54864" y="868616"/>
                  </a:lnTo>
                  <a:lnTo>
                    <a:pt x="10689336" y="868616"/>
                  </a:lnTo>
                  <a:lnTo>
                    <a:pt x="10710713" y="864305"/>
                  </a:lnTo>
                  <a:lnTo>
                    <a:pt x="10728150" y="852547"/>
                  </a:lnTo>
                  <a:lnTo>
                    <a:pt x="10739895" y="835108"/>
                  </a:lnTo>
                  <a:lnTo>
                    <a:pt x="10744200" y="813752"/>
                  </a:lnTo>
                  <a:lnTo>
                    <a:pt x="10744200" y="54736"/>
                  </a:lnTo>
                  <a:lnTo>
                    <a:pt x="10739895" y="33432"/>
                  </a:lnTo>
                  <a:lnTo>
                    <a:pt x="10728150" y="16033"/>
                  </a:lnTo>
                  <a:lnTo>
                    <a:pt x="10710713" y="4302"/>
                  </a:lnTo>
                  <a:lnTo>
                    <a:pt x="10689336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5433059"/>
              <a:ext cx="10744200" cy="868680"/>
            </a:xfrm>
            <a:custGeom>
              <a:avLst/>
              <a:gdLst/>
              <a:ahLst/>
              <a:cxnLst/>
              <a:rect l="l" t="t" r="r" b="b"/>
              <a:pathLst>
                <a:path w="10744200" h="868679">
                  <a:moveTo>
                    <a:pt x="0" y="54736"/>
                  </a:moveTo>
                  <a:lnTo>
                    <a:pt x="4311" y="33432"/>
                  </a:lnTo>
                  <a:lnTo>
                    <a:pt x="16068" y="16033"/>
                  </a:lnTo>
                  <a:lnTo>
                    <a:pt x="33507" y="4302"/>
                  </a:lnTo>
                  <a:lnTo>
                    <a:pt x="54864" y="0"/>
                  </a:lnTo>
                  <a:lnTo>
                    <a:pt x="10689336" y="0"/>
                  </a:lnTo>
                  <a:lnTo>
                    <a:pt x="10710713" y="4302"/>
                  </a:lnTo>
                  <a:lnTo>
                    <a:pt x="10728150" y="16033"/>
                  </a:lnTo>
                  <a:lnTo>
                    <a:pt x="10739895" y="33432"/>
                  </a:lnTo>
                  <a:lnTo>
                    <a:pt x="10744200" y="54736"/>
                  </a:lnTo>
                  <a:lnTo>
                    <a:pt x="10744200" y="813752"/>
                  </a:lnTo>
                  <a:lnTo>
                    <a:pt x="10739895" y="835108"/>
                  </a:lnTo>
                  <a:lnTo>
                    <a:pt x="10728150" y="852547"/>
                  </a:lnTo>
                  <a:lnTo>
                    <a:pt x="10710713" y="864305"/>
                  </a:lnTo>
                  <a:lnTo>
                    <a:pt x="10689336" y="868616"/>
                  </a:lnTo>
                  <a:lnTo>
                    <a:pt x="54864" y="868616"/>
                  </a:lnTo>
                  <a:lnTo>
                    <a:pt x="33507" y="864305"/>
                  </a:lnTo>
                  <a:lnTo>
                    <a:pt x="16068" y="852547"/>
                  </a:lnTo>
                  <a:lnTo>
                    <a:pt x="4311" y="835108"/>
                  </a:lnTo>
                  <a:lnTo>
                    <a:pt x="0" y="813752"/>
                  </a:lnTo>
                  <a:lnTo>
                    <a:pt x="0" y="54736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65705" y="5565749"/>
            <a:ext cx="10727690" cy="542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115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000" spc="36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000" spc="60" b="1">
                <a:solidFill>
                  <a:srgbClr val="00A895"/>
                </a:solidFill>
                <a:latin typeface="Calibri"/>
                <a:cs typeface="Calibri"/>
              </a:rPr>
              <a:t>INSIGHT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Calibri"/>
              <a:cs typeface="Calibri"/>
            </a:endParaRPr>
          </a:p>
          <a:p>
            <a:pPr marL="31115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110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staff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members</a:t>
            </a:r>
            <a:r>
              <a:rPr dirty="0" sz="11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tracked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across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4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departments,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with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service-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level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satisfaction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demand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patterns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compared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side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side.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0465" y="1503425"/>
            <a:ext cx="5589523" cy="324192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125" y="1490472"/>
            <a:ext cx="5751957" cy="32548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head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387222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1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3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r>
              <a:rPr dirty="0" sz="1300" spc="44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—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W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0A895"/>
                </a:solidFill>
                <a:latin typeface="Calibri"/>
                <a:cs typeface="Calibri"/>
              </a:rPr>
              <a:t>M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2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G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Hospital</a:t>
            </a:r>
            <a:r>
              <a:rPr dirty="0" spc="-75"/>
              <a:t> </a:t>
            </a:r>
            <a:r>
              <a:rPr dirty="0" spc="-10"/>
              <a:t>Analytics</a:t>
            </a:r>
            <a:r>
              <a:rPr dirty="0" spc="-80"/>
              <a:t> </a:t>
            </a:r>
            <a:r>
              <a:rPr dirty="0" spc="-10"/>
              <a:t>Dashboard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543608"/>
            <a:ext cx="992886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100"/>
              </a:lnSpc>
              <a:spcBef>
                <a:spcPts val="100"/>
              </a:spcBef>
            </a:pP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Gives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clinicians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administrators</a:t>
            </a:r>
            <a:r>
              <a:rPr dirty="0" sz="1450" spc="-6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one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view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who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is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being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treated,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for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what,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at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what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cost.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Five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KPI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scorecards</a:t>
            </a:r>
            <a:r>
              <a:rPr dirty="0" sz="1450" spc="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Total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Patients,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Avg.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Length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Stay,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Satisfaction,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Total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Cost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Admissions</a:t>
            </a:r>
            <a:r>
              <a:rPr dirty="0" sz="14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anchor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page,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backed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condition,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geography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and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insurance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breakdowns,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all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 filterable</a:t>
            </a:r>
            <a:r>
              <a:rPr dirty="0" sz="14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month,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gender,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condition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state.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6610" y="2538729"/>
            <a:ext cx="5087620" cy="3639820"/>
            <a:chOff x="816610" y="2538729"/>
            <a:chExt cx="5087620" cy="3639820"/>
          </a:xfrm>
        </p:grpSpPr>
        <p:sp>
          <p:nvSpPr>
            <p:cNvPr id="7" name="object 7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13" y="0"/>
                  </a:lnTo>
                  <a:lnTo>
                    <a:pt x="66458" y="8558"/>
                  </a:lnTo>
                  <a:lnTo>
                    <a:pt x="31870" y="31892"/>
                  </a:lnTo>
                  <a:lnTo>
                    <a:pt x="8551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1" y="3560661"/>
                  </a:lnTo>
                  <a:lnTo>
                    <a:pt x="31870" y="3595249"/>
                  </a:lnTo>
                  <a:lnTo>
                    <a:pt x="66458" y="3618568"/>
                  </a:lnTo>
                  <a:lnTo>
                    <a:pt x="108813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1" y="66490"/>
                  </a:lnTo>
                  <a:lnTo>
                    <a:pt x="31870" y="31892"/>
                  </a:lnTo>
                  <a:lnTo>
                    <a:pt x="66458" y="8558"/>
                  </a:lnTo>
                  <a:lnTo>
                    <a:pt x="108813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13" y="3627120"/>
                  </a:lnTo>
                  <a:lnTo>
                    <a:pt x="66458" y="3618568"/>
                  </a:lnTo>
                  <a:lnTo>
                    <a:pt x="31870" y="3595249"/>
                  </a:lnTo>
                  <a:lnTo>
                    <a:pt x="8551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30604" y="2760421"/>
            <a:ext cx="148844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350" spc="2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50" b="1">
                <a:solidFill>
                  <a:srgbClr val="00A895"/>
                </a:solidFill>
                <a:latin typeface="Calibri"/>
                <a:cs typeface="Calibri"/>
              </a:rPr>
              <a:t>VISUALS</a:t>
            </a:r>
            <a:r>
              <a:rPr dirty="0" sz="1350" spc="21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A895"/>
                </a:solidFill>
                <a:latin typeface="Calibri"/>
                <a:cs typeface="Calibri"/>
              </a:rPr>
              <a:t>USED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604" y="3155111"/>
            <a:ext cx="4429760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236220" indent="-203200">
              <a:lnSpc>
                <a:spcPct val="1113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Admission</a:t>
            </a:r>
            <a:r>
              <a:rPr dirty="0" sz="1150" spc="-4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Condition</a:t>
            </a:r>
            <a:r>
              <a:rPr dirty="0" sz="1150" spc="-5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vertical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bar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volume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per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medical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condition.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Top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Conditions</a:t>
            </a:r>
            <a:r>
              <a:rPr dirty="0" sz="1150" spc="-4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Total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Cost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horizontal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highlight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table;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Cancer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Heart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Attack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rank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highest.</a:t>
            </a:r>
            <a:endParaRPr sz="1150">
              <a:latin typeface="Calibri"/>
              <a:cs typeface="Calibri"/>
            </a:endParaRPr>
          </a:p>
          <a:p>
            <a:pPr marL="215265" marR="24765" indent="-203200">
              <a:lnSpc>
                <a:spcPct val="112200"/>
              </a:lnSpc>
              <a:spcBef>
                <a:spcPts val="49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Patients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State</a:t>
            </a:r>
            <a:r>
              <a:rPr dirty="0" sz="11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filled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choropleth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map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150" spc="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geography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across India.</a:t>
            </a:r>
            <a:endParaRPr sz="1150">
              <a:latin typeface="Calibri"/>
              <a:cs typeface="Calibri"/>
            </a:endParaRPr>
          </a:p>
          <a:p>
            <a:pPr marL="215265" marR="172085" indent="-203200">
              <a:lnSpc>
                <a:spcPct val="112200"/>
              </a:lnSpc>
              <a:spcBef>
                <a:spcPts val="495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Gender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Insurance</a:t>
            </a:r>
            <a:r>
              <a:rPr dirty="0" sz="1150" spc="-4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Claimed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dual-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axis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bar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+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line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chart,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split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year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(2022–2025).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Monthly</a:t>
            </a:r>
            <a:r>
              <a:rPr dirty="0" sz="1150" spc="-5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Admission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Gender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small-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multiple</a:t>
            </a:r>
            <a:r>
              <a:rPr dirty="0" sz="11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line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charts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comparing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55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seasonal</a:t>
            </a:r>
            <a:r>
              <a:rPr dirty="0" sz="11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patterns.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5850" y="2538729"/>
            <a:ext cx="5087620" cy="3639820"/>
            <a:chOff x="6165850" y="2538729"/>
            <a:chExt cx="5087620" cy="3639820"/>
          </a:xfrm>
        </p:grpSpPr>
        <p:sp>
          <p:nvSpPr>
            <p:cNvPr id="12" name="object 12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38" y="0"/>
                  </a:lnTo>
                  <a:lnTo>
                    <a:pt x="66490" y="8558"/>
                  </a:lnTo>
                  <a:lnTo>
                    <a:pt x="31892" y="31892"/>
                  </a:lnTo>
                  <a:lnTo>
                    <a:pt x="8558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8" y="3560661"/>
                  </a:lnTo>
                  <a:lnTo>
                    <a:pt x="31892" y="3595249"/>
                  </a:lnTo>
                  <a:lnTo>
                    <a:pt x="66490" y="3618568"/>
                  </a:lnTo>
                  <a:lnTo>
                    <a:pt x="108838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8" y="66490"/>
                  </a:lnTo>
                  <a:lnTo>
                    <a:pt x="31892" y="31892"/>
                  </a:lnTo>
                  <a:lnTo>
                    <a:pt x="66490" y="8558"/>
                  </a:lnTo>
                  <a:lnTo>
                    <a:pt x="108838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38" y="3627120"/>
                  </a:lnTo>
                  <a:lnTo>
                    <a:pt x="66490" y="3618568"/>
                  </a:lnTo>
                  <a:lnTo>
                    <a:pt x="31892" y="3595249"/>
                  </a:lnTo>
                  <a:lnTo>
                    <a:pt x="8558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80428" y="2760421"/>
            <a:ext cx="176212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TOOLS</a:t>
            </a:r>
            <a:r>
              <a:rPr dirty="0" sz="1350" spc="250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&amp;</a:t>
            </a:r>
            <a:r>
              <a:rPr dirty="0" sz="1350" spc="235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spc="45" b="1">
                <a:solidFill>
                  <a:srgbClr val="018090"/>
                </a:solidFill>
                <a:latin typeface="Calibri"/>
                <a:cs typeface="Calibri"/>
              </a:rPr>
              <a:t>TECHNIQUES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r>
              <a:rPr dirty="0" spc="-25"/>
              <a:t>12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80428" y="3155111"/>
            <a:ext cx="4331970" cy="1329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90170" indent="-203200">
              <a:lnSpc>
                <a:spcPct val="1113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Tableau</a:t>
            </a:r>
            <a:r>
              <a:rPr dirty="0" sz="1150" spc="-5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calculated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fields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used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derive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Cost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Length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of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Stay.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Tableau</a:t>
            </a:r>
            <a:r>
              <a:rPr dirty="0" sz="1150" spc="-4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built-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in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geocoding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powers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Patients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State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map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with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no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external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shapefiles.</a:t>
            </a:r>
            <a:endParaRPr sz="1150">
              <a:latin typeface="Calibri"/>
              <a:cs typeface="Calibri"/>
            </a:endParaRPr>
          </a:p>
          <a:p>
            <a:pPr marL="215265" marR="53975" indent="-203200">
              <a:lnSpc>
                <a:spcPct val="112200"/>
              </a:lnSpc>
              <a:spcBef>
                <a:spcPts val="49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Interactive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filters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Month,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Gender,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Condition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State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slice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every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on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page.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head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387222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2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3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r>
              <a:rPr dirty="0" sz="1300" spc="44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—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W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0A895"/>
                </a:solidFill>
                <a:latin typeface="Calibri"/>
                <a:cs typeface="Calibri"/>
              </a:rPr>
              <a:t>M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2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G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Service</a:t>
            </a:r>
            <a:r>
              <a:rPr dirty="0" spc="-114"/>
              <a:t> </a:t>
            </a:r>
            <a:r>
              <a:rPr dirty="0" spc="-10"/>
              <a:t>Performance</a:t>
            </a:r>
            <a:r>
              <a:rPr dirty="0" spc="-100"/>
              <a:t> </a:t>
            </a:r>
            <a:r>
              <a:rPr dirty="0" spc="-10"/>
              <a:t>Dashboard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543608"/>
            <a:ext cx="1006729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100"/>
              </a:lnSpc>
              <a:spcBef>
                <a:spcPts val="100"/>
              </a:spcBef>
            </a:pP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Tracks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demand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against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capacity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for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each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department</a:t>
            </a:r>
            <a:r>
              <a:rPr dirty="0" sz="14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Emergency,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General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Medicine,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ICU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Surgery.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Weekly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request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trends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sit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alongside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satisfaction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staffing-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morale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comparisons,</a:t>
            </a:r>
            <a:r>
              <a:rPr dirty="0" sz="1450" spc="-6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so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operations</a:t>
            </a:r>
            <a:r>
              <a:rPr dirty="0" sz="1450" spc="-6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leads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can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see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where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requests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are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outpacing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admissions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and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whether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busier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services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are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also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less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satisfying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ones.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6610" y="2538729"/>
            <a:ext cx="5087620" cy="3639820"/>
            <a:chOff x="816610" y="2538729"/>
            <a:chExt cx="5087620" cy="3639820"/>
          </a:xfrm>
        </p:grpSpPr>
        <p:sp>
          <p:nvSpPr>
            <p:cNvPr id="7" name="object 7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13" y="0"/>
                  </a:lnTo>
                  <a:lnTo>
                    <a:pt x="66458" y="8558"/>
                  </a:lnTo>
                  <a:lnTo>
                    <a:pt x="31870" y="31892"/>
                  </a:lnTo>
                  <a:lnTo>
                    <a:pt x="8551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1" y="3560661"/>
                  </a:lnTo>
                  <a:lnTo>
                    <a:pt x="31870" y="3595249"/>
                  </a:lnTo>
                  <a:lnTo>
                    <a:pt x="66458" y="3618568"/>
                  </a:lnTo>
                  <a:lnTo>
                    <a:pt x="108813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1" y="66490"/>
                  </a:lnTo>
                  <a:lnTo>
                    <a:pt x="31870" y="31892"/>
                  </a:lnTo>
                  <a:lnTo>
                    <a:pt x="66458" y="8558"/>
                  </a:lnTo>
                  <a:lnTo>
                    <a:pt x="108813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13" y="3627120"/>
                  </a:lnTo>
                  <a:lnTo>
                    <a:pt x="66458" y="3618568"/>
                  </a:lnTo>
                  <a:lnTo>
                    <a:pt x="31870" y="3595249"/>
                  </a:lnTo>
                  <a:lnTo>
                    <a:pt x="8551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30604" y="2760421"/>
            <a:ext cx="148844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350" spc="2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50" b="1">
                <a:solidFill>
                  <a:srgbClr val="00A895"/>
                </a:solidFill>
                <a:latin typeface="Calibri"/>
                <a:cs typeface="Calibri"/>
              </a:rPr>
              <a:t>VISUALS</a:t>
            </a:r>
            <a:r>
              <a:rPr dirty="0" sz="1350" spc="21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A895"/>
                </a:solidFill>
                <a:latin typeface="Calibri"/>
                <a:cs typeface="Calibri"/>
              </a:rPr>
              <a:t>USED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604" y="3155111"/>
            <a:ext cx="4486275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5080" indent="-203200">
              <a:lnSpc>
                <a:spcPct val="1113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Patient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Requests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Week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&amp;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Service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multi-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line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tracking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weekly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demand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per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department.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Patient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Satisfaction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Service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combo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bar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+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line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comparing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satisfaction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against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volume.</a:t>
            </a:r>
            <a:endParaRPr sz="1150">
              <a:latin typeface="Calibri"/>
              <a:cs typeface="Calibri"/>
            </a:endParaRPr>
          </a:p>
          <a:p>
            <a:pPr marL="215265" marR="140335" indent="-203200">
              <a:lnSpc>
                <a:spcPct val="112200"/>
              </a:lnSpc>
              <a:spcBef>
                <a:spcPts val="49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Average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Staff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Service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scatter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plot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staff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morale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versus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patient satisfaction.</a:t>
            </a:r>
            <a:endParaRPr sz="1150">
              <a:latin typeface="Calibri"/>
              <a:cs typeface="Calibri"/>
            </a:endParaRPr>
          </a:p>
          <a:p>
            <a:pPr marL="215265" marR="49530" indent="-203200">
              <a:lnSpc>
                <a:spcPct val="112200"/>
              </a:lnSpc>
              <a:spcBef>
                <a:spcPts val="495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Monthly</a:t>
            </a:r>
            <a:r>
              <a:rPr dirty="0" sz="1150" spc="-5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Service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Volume</a:t>
            </a:r>
            <a:r>
              <a:rPr dirty="0" sz="1150" spc="-5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treemap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sizing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each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department's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share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of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monthly</a:t>
            </a:r>
            <a:r>
              <a:rPr dirty="0" sz="11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activity.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Staff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Roster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</a:t>
            </a:r>
            <a:r>
              <a:rPr dirty="0" sz="1150" spc="-4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detailed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matrix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names,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services,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months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55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role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counts.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5850" y="2538729"/>
            <a:ext cx="5087620" cy="3639820"/>
            <a:chOff x="6165850" y="2538729"/>
            <a:chExt cx="5087620" cy="3639820"/>
          </a:xfrm>
        </p:grpSpPr>
        <p:sp>
          <p:nvSpPr>
            <p:cNvPr id="12" name="object 12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38" y="0"/>
                  </a:lnTo>
                  <a:lnTo>
                    <a:pt x="66490" y="8558"/>
                  </a:lnTo>
                  <a:lnTo>
                    <a:pt x="31892" y="31892"/>
                  </a:lnTo>
                  <a:lnTo>
                    <a:pt x="8558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8" y="3560661"/>
                  </a:lnTo>
                  <a:lnTo>
                    <a:pt x="31892" y="3595249"/>
                  </a:lnTo>
                  <a:lnTo>
                    <a:pt x="66490" y="3618568"/>
                  </a:lnTo>
                  <a:lnTo>
                    <a:pt x="108838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8" y="66490"/>
                  </a:lnTo>
                  <a:lnTo>
                    <a:pt x="31892" y="31892"/>
                  </a:lnTo>
                  <a:lnTo>
                    <a:pt x="66490" y="8558"/>
                  </a:lnTo>
                  <a:lnTo>
                    <a:pt x="108838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38" y="3627120"/>
                  </a:lnTo>
                  <a:lnTo>
                    <a:pt x="66490" y="3618568"/>
                  </a:lnTo>
                  <a:lnTo>
                    <a:pt x="31892" y="3595249"/>
                  </a:lnTo>
                  <a:lnTo>
                    <a:pt x="8558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80428" y="2760421"/>
            <a:ext cx="176212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TOOLS</a:t>
            </a:r>
            <a:r>
              <a:rPr dirty="0" sz="1350" spc="250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&amp;</a:t>
            </a:r>
            <a:r>
              <a:rPr dirty="0" sz="1350" spc="235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spc="45" b="1">
                <a:solidFill>
                  <a:srgbClr val="018090"/>
                </a:solidFill>
                <a:latin typeface="Calibri"/>
                <a:cs typeface="Calibri"/>
              </a:rPr>
              <a:t>TECHNIQUES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r>
              <a:rPr dirty="0" spc="-25"/>
              <a:t>13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80428" y="3155111"/>
            <a:ext cx="4431030" cy="1329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109855" indent="-203200">
              <a:lnSpc>
                <a:spcPct val="1113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Power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BI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scatter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visuals</a:t>
            </a:r>
            <a:r>
              <a:rPr dirty="0" sz="11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used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explore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morale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vs.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satisfaction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by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department.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Power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BI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matrix/table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gives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drill-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down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view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behind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summary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charts.</a:t>
            </a:r>
            <a:endParaRPr sz="1150">
              <a:latin typeface="Calibri"/>
              <a:cs typeface="Calibri"/>
            </a:endParaRPr>
          </a:p>
          <a:p>
            <a:pPr marL="215265" marR="5080" indent="-203200">
              <a:lnSpc>
                <a:spcPct val="112200"/>
              </a:lnSpc>
              <a:spcBef>
                <a:spcPts val="49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Slicers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Condition,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Service,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Doctors,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State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Event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filter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the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page.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head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387222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3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3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r>
              <a:rPr dirty="0" sz="1300" spc="44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—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W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0A895"/>
                </a:solidFill>
                <a:latin typeface="Calibri"/>
                <a:cs typeface="Calibri"/>
              </a:rPr>
              <a:t>M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2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G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Staff</a:t>
            </a:r>
            <a:r>
              <a:rPr dirty="0" spc="-110"/>
              <a:t> </a:t>
            </a:r>
            <a:r>
              <a:rPr dirty="0"/>
              <a:t>Management</a:t>
            </a:r>
            <a:r>
              <a:rPr dirty="0" spc="-95"/>
              <a:t> </a:t>
            </a:r>
            <a:r>
              <a:rPr dirty="0" spc="-10"/>
              <a:t>Dashboard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543608"/>
            <a:ext cx="1008824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100"/>
              </a:lnSpc>
              <a:spcBef>
                <a:spcPts val="100"/>
              </a:spcBef>
            </a:pP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Focuses</a:t>
            </a:r>
            <a:r>
              <a:rPr dirty="0" sz="1450" spc="-6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on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workforce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scale,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scheduling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wellbeing.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Five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scorecards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Total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Staff,</a:t>
            </a:r>
            <a:r>
              <a:rPr dirty="0" sz="1450" spc="-6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Rate,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Satisfaction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Rate,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Staff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Rate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Staff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Morale</a:t>
            </a:r>
            <a:r>
              <a:rPr dirty="0" sz="14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summarize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workforce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at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glance,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 backed</a:t>
            </a:r>
            <a:r>
              <a:rPr dirty="0" sz="14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4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outlier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detection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role/service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breakdowns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so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under-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or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over-stretched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teams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stand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out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immediately.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6610" y="2538729"/>
            <a:ext cx="5087620" cy="3639820"/>
            <a:chOff x="816610" y="2538729"/>
            <a:chExt cx="5087620" cy="3639820"/>
          </a:xfrm>
        </p:grpSpPr>
        <p:sp>
          <p:nvSpPr>
            <p:cNvPr id="7" name="object 7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13" y="0"/>
                  </a:lnTo>
                  <a:lnTo>
                    <a:pt x="66458" y="8558"/>
                  </a:lnTo>
                  <a:lnTo>
                    <a:pt x="31870" y="31892"/>
                  </a:lnTo>
                  <a:lnTo>
                    <a:pt x="8551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1" y="3560661"/>
                  </a:lnTo>
                  <a:lnTo>
                    <a:pt x="31870" y="3595249"/>
                  </a:lnTo>
                  <a:lnTo>
                    <a:pt x="66458" y="3618568"/>
                  </a:lnTo>
                  <a:lnTo>
                    <a:pt x="108813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1" y="66490"/>
                  </a:lnTo>
                  <a:lnTo>
                    <a:pt x="31870" y="31892"/>
                  </a:lnTo>
                  <a:lnTo>
                    <a:pt x="66458" y="8558"/>
                  </a:lnTo>
                  <a:lnTo>
                    <a:pt x="108813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13" y="3627120"/>
                  </a:lnTo>
                  <a:lnTo>
                    <a:pt x="66458" y="3618568"/>
                  </a:lnTo>
                  <a:lnTo>
                    <a:pt x="31870" y="3595249"/>
                  </a:lnTo>
                  <a:lnTo>
                    <a:pt x="8551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30604" y="2760421"/>
            <a:ext cx="148844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350" spc="2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50" b="1">
                <a:solidFill>
                  <a:srgbClr val="00A895"/>
                </a:solidFill>
                <a:latin typeface="Calibri"/>
                <a:cs typeface="Calibri"/>
              </a:rPr>
              <a:t>VISUALS</a:t>
            </a:r>
            <a:r>
              <a:rPr dirty="0" sz="1350" spc="21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A895"/>
                </a:solidFill>
                <a:latin typeface="Calibri"/>
                <a:cs typeface="Calibri"/>
              </a:rPr>
              <a:t>USED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604" y="3155111"/>
            <a:ext cx="4389120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311150" indent="-203200">
              <a:lnSpc>
                <a:spcPct val="1113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Outliers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Events</a:t>
            </a:r>
            <a:r>
              <a:rPr dirty="0" sz="11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box-and-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whisker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plot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flagging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unusual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ages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against</a:t>
            </a:r>
            <a:r>
              <a:rPr dirty="0" sz="11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event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counts.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Staff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Role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combo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bar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+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line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tracking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doctor/nurse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counts,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2022–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2025.</a:t>
            </a:r>
            <a:endParaRPr sz="1150">
              <a:latin typeface="Calibri"/>
              <a:cs typeface="Calibri"/>
            </a:endParaRPr>
          </a:p>
          <a:p>
            <a:pPr marL="215265" marR="317500" indent="-203200">
              <a:lnSpc>
                <a:spcPct val="112200"/>
              </a:lnSpc>
              <a:spcBef>
                <a:spcPts val="49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Year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Service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packed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bubble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comparing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yearly</a:t>
            </a:r>
            <a:r>
              <a:rPr dirty="0" sz="1150" spc="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activity volume.</a:t>
            </a:r>
            <a:endParaRPr sz="1150">
              <a:latin typeface="Calibri"/>
              <a:cs typeface="Calibri"/>
            </a:endParaRPr>
          </a:p>
          <a:p>
            <a:pPr marL="215265" marR="170180" indent="-203200">
              <a:lnSpc>
                <a:spcPct val="112200"/>
              </a:lnSpc>
              <a:spcBef>
                <a:spcPts val="495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Monthly</a:t>
            </a:r>
            <a:r>
              <a:rPr dirty="0" sz="1150" spc="-6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Service 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dot-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matrix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cross-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tab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month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against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year,</a:t>
            </a:r>
            <a:r>
              <a:rPr dirty="0" sz="1150" spc="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per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department.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Yearly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Admission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dual-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axis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line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plotting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age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against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cost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55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over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time.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5850" y="2538729"/>
            <a:ext cx="5087620" cy="3639820"/>
            <a:chOff x="6165850" y="2538729"/>
            <a:chExt cx="5087620" cy="3639820"/>
          </a:xfrm>
        </p:grpSpPr>
        <p:sp>
          <p:nvSpPr>
            <p:cNvPr id="12" name="object 12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38" y="0"/>
                  </a:lnTo>
                  <a:lnTo>
                    <a:pt x="66490" y="8558"/>
                  </a:lnTo>
                  <a:lnTo>
                    <a:pt x="31892" y="31892"/>
                  </a:lnTo>
                  <a:lnTo>
                    <a:pt x="8558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8" y="3560661"/>
                  </a:lnTo>
                  <a:lnTo>
                    <a:pt x="31892" y="3595249"/>
                  </a:lnTo>
                  <a:lnTo>
                    <a:pt x="66490" y="3618568"/>
                  </a:lnTo>
                  <a:lnTo>
                    <a:pt x="108838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8" y="66490"/>
                  </a:lnTo>
                  <a:lnTo>
                    <a:pt x="31892" y="31892"/>
                  </a:lnTo>
                  <a:lnTo>
                    <a:pt x="66490" y="8558"/>
                  </a:lnTo>
                  <a:lnTo>
                    <a:pt x="108838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38" y="3627120"/>
                  </a:lnTo>
                  <a:lnTo>
                    <a:pt x="66490" y="3618568"/>
                  </a:lnTo>
                  <a:lnTo>
                    <a:pt x="31892" y="3595249"/>
                  </a:lnTo>
                  <a:lnTo>
                    <a:pt x="8558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80428" y="2760421"/>
            <a:ext cx="176212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TOOLS</a:t>
            </a:r>
            <a:r>
              <a:rPr dirty="0" sz="1350" spc="250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&amp;</a:t>
            </a:r>
            <a:r>
              <a:rPr dirty="0" sz="1350" spc="235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spc="45" b="1">
                <a:solidFill>
                  <a:srgbClr val="018090"/>
                </a:solidFill>
                <a:latin typeface="Calibri"/>
                <a:cs typeface="Calibri"/>
              </a:rPr>
              <a:t>TECHNIQUES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r>
              <a:rPr dirty="0" spc="-25"/>
              <a:t>14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80428" y="3155111"/>
            <a:ext cx="4303395" cy="113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5080" indent="-203200">
              <a:lnSpc>
                <a:spcPct val="1113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Tableau</a:t>
            </a:r>
            <a:r>
              <a:rPr dirty="0" sz="1150" spc="-4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box-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and-whisker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plots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used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</a:t>
            </a:r>
            <a:r>
              <a:rPr dirty="0" sz="1150" spc="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detect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outlier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ages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tied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to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unusual</a:t>
            </a:r>
            <a:r>
              <a:rPr dirty="0" sz="11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event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counts.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Tableau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packed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bubble</a:t>
            </a:r>
            <a:r>
              <a:rPr dirty="0" sz="1150" spc="-4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charts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compare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year-by-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service</a:t>
            </a:r>
            <a:r>
              <a:rPr dirty="0" sz="1150" spc="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activity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volume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at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glance.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Filters</a:t>
            </a:r>
            <a:r>
              <a:rPr dirty="0" sz="1150" spc="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Admission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Year, Service</a:t>
            </a:r>
            <a:r>
              <a:rPr dirty="0" sz="1150" spc="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Length-of-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Stay</a:t>
            </a:r>
            <a:r>
              <a:rPr dirty="0" sz="1150" spc="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range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slider.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cons/heade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43" y="556387"/>
            <a:ext cx="368681" cy="36868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9153" y="398475"/>
            <a:ext cx="387222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S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H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B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D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r>
              <a:rPr dirty="0" sz="1300" spc="41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O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3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r>
              <a:rPr dirty="0" sz="1300" spc="44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—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W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F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0A895"/>
                </a:solidFill>
                <a:latin typeface="Calibri"/>
                <a:cs typeface="Calibri"/>
              </a:rPr>
              <a:t>M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2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G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E</a:t>
            </a:r>
            <a:r>
              <a:rPr dirty="0" sz="1300" spc="409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Financial</a:t>
            </a:r>
            <a:r>
              <a:rPr dirty="0" spc="-140"/>
              <a:t> </a:t>
            </a:r>
            <a:r>
              <a:rPr dirty="0" spc="-10"/>
              <a:t>Overview</a:t>
            </a:r>
            <a:r>
              <a:rPr dirty="0" spc="-120"/>
              <a:t> </a:t>
            </a:r>
            <a:r>
              <a:rPr dirty="0" spc="-10"/>
              <a:t>Dashboard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1700" y="1543608"/>
            <a:ext cx="1004379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100"/>
              </a:lnSpc>
              <a:spcBef>
                <a:spcPts val="100"/>
              </a:spcBef>
            </a:pP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Gives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finance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view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of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same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patient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population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healthcare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cost,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insurance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claims,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average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operation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cost</a:t>
            </a:r>
            <a:r>
              <a:rPr dirty="0" sz="14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discharge rate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—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broken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down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by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condition,</a:t>
            </a:r>
            <a:r>
              <a:rPr dirty="0" sz="1450" spc="-4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state,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gender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year,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so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cost-control</a:t>
            </a:r>
            <a:r>
              <a:rPr dirty="0" sz="1450" spc="-6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efforts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can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be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targeted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at</a:t>
            </a:r>
            <a:r>
              <a:rPr dirty="0" sz="14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4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conditions</a:t>
            </a:r>
            <a:r>
              <a:rPr dirty="0" sz="1450" spc="-5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4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regions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driving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4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163139"/>
                </a:solidFill>
                <a:latin typeface="Calibri"/>
                <a:cs typeface="Calibri"/>
              </a:rPr>
              <a:t>most</a:t>
            </a:r>
            <a:r>
              <a:rPr dirty="0" sz="1450" spc="-5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163139"/>
                </a:solidFill>
                <a:latin typeface="Calibri"/>
                <a:cs typeface="Calibri"/>
              </a:rPr>
              <a:t>spend.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6610" y="2538729"/>
            <a:ext cx="5087620" cy="3639820"/>
            <a:chOff x="816610" y="2538729"/>
            <a:chExt cx="5087620" cy="3639820"/>
          </a:xfrm>
        </p:grpSpPr>
        <p:sp>
          <p:nvSpPr>
            <p:cNvPr id="7" name="object 7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13" y="0"/>
                  </a:lnTo>
                  <a:lnTo>
                    <a:pt x="66458" y="8558"/>
                  </a:lnTo>
                  <a:lnTo>
                    <a:pt x="31870" y="31892"/>
                  </a:lnTo>
                  <a:lnTo>
                    <a:pt x="8551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1" y="3560661"/>
                  </a:lnTo>
                  <a:lnTo>
                    <a:pt x="31870" y="3595249"/>
                  </a:lnTo>
                  <a:lnTo>
                    <a:pt x="66458" y="3618568"/>
                  </a:lnTo>
                  <a:lnTo>
                    <a:pt x="108813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1" y="66490"/>
                  </a:lnTo>
                  <a:lnTo>
                    <a:pt x="31870" y="31892"/>
                  </a:lnTo>
                  <a:lnTo>
                    <a:pt x="66458" y="8558"/>
                  </a:lnTo>
                  <a:lnTo>
                    <a:pt x="108813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13" y="3627120"/>
                  </a:lnTo>
                  <a:lnTo>
                    <a:pt x="66458" y="3618568"/>
                  </a:lnTo>
                  <a:lnTo>
                    <a:pt x="31870" y="3595249"/>
                  </a:lnTo>
                  <a:lnTo>
                    <a:pt x="8551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30604" y="2760421"/>
            <a:ext cx="1488440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0A895"/>
                </a:solidFill>
                <a:latin typeface="Calibri"/>
                <a:cs typeface="Calibri"/>
              </a:rPr>
              <a:t>KEY</a:t>
            </a:r>
            <a:r>
              <a:rPr dirty="0" sz="1350" spc="2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50" b="1">
                <a:solidFill>
                  <a:srgbClr val="00A895"/>
                </a:solidFill>
                <a:latin typeface="Calibri"/>
                <a:cs typeface="Calibri"/>
              </a:rPr>
              <a:t>VISUALS</a:t>
            </a:r>
            <a:r>
              <a:rPr dirty="0" sz="1350" spc="21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50" spc="-20" b="1">
                <a:solidFill>
                  <a:srgbClr val="00A895"/>
                </a:solidFill>
                <a:latin typeface="Calibri"/>
                <a:cs typeface="Calibri"/>
              </a:rPr>
              <a:t>USED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604" y="3155111"/>
            <a:ext cx="4442460" cy="178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265" marR="344170" indent="-203200">
              <a:lnSpc>
                <a:spcPct val="111300"/>
              </a:lnSpc>
              <a:spcBef>
                <a:spcPts val="10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Cost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Condition</a:t>
            </a:r>
            <a:r>
              <a:rPr dirty="0" sz="1150" spc="-5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stacked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area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tracking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cumulative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cost, 2022–2025.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Cost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State</a:t>
            </a:r>
            <a:r>
              <a:rPr dirty="0" sz="11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proportional-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symbol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bubble map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sized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by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70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treatment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cost.</a:t>
            </a:r>
            <a:endParaRPr sz="1150">
              <a:latin typeface="Calibri"/>
              <a:cs typeface="Calibri"/>
            </a:endParaRPr>
          </a:p>
          <a:p>
            <a:pPr marL="215265" marR="5080" indent="-203200">
              <a:lnSpc>
                <a:spcPct val="112200"/>
              </a:lnSpc>
              <a:spcBef>
                <a:spcPts val="49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Insurance</a:t>
            </a:r>
            <a:r>
              <a:rPr dirty="0" sz="1150" spc="-5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Gender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dual-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line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chart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comparing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claim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trends,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female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vs.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male.</a:t>
            </a:r>
            <a:endParaRPr sz="1150">
              <a:latin typeface="Calibri"/>
              <a:cs typeface="Calibri"/>
            </a:endParaRPr>
          </a:p>
          <a:p>
            <a:pPr marL="215265" marR="160655" indent="-203200">
              <a:lnSpc>
                <a:spcPct val="112200"/>
              </a:lnSpc>
              <a:spcBef>
                <a:spcPts val="495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Insurance</a:t>
            </a:r>
            <a:r>
              <a:rPr dirty="0" sz="1150" spc="-4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by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Year —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heat-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map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cross-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tab; Heart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Attack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and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Diabetes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claim</a:t>
            </a:r>
            <a:r>
              <a:rPr dirty="0" sz="1150" spc="-3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most.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5850" y="2538729"/>
            <a:ext cx="5087620" cy="3639820"/>
            <a:chOff x="6165850" y="2538729"/>
            <a:chExt cx="5087620" cy="3639820"/>
          </a:xfrm>
        </p:grpSpPr>
        <p:sp>
          <p:nvSpPr>
            <p:cNvPr id="12" name="object 12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4966081" y="0"/>
                  </a:moveTo>
                  <a:lnTo>
                    <a:pt x="108838" y="0"/>
                  </a:lnTo>
                  <a:lnTo>
                    <a:pt x="66490" y="8558"/>
                  </a:lnTo>
                  <a:lnTo>
                    <a:pt x="31892" y="31892"/>
                  </a:lnTo>
                  <a:lnTo>
                    <a:pt x="8558" y="66490"/>
                  </a:lnTo>
                  <a:lnTo>
                    <a:pt x="0" y="108839"/>
                  </a:lnTo>
                  <a:lnTo>
                    <a:pt x="0" y="3518306"/>
                  </a:lnTo>
                  <a:lnTo>
                    <a:pt x="8558" y="3560661"/>
                  </a:lnTo>
                  <a:lnTo>
                    <a:pt x="31892" y="3595249"/>
                  </a:lnTo>
                  <a:lnTo>
                    <a:pt x="66490" y="3618568"/>
                  </a:lnTo>
                  <a:lnTo>
                    <a:pt x="108838" y="3627120"/>
                  </a:lnTo>
                  <a:lnTo>
                    <a:pt x="4966081" y="3627120"/>
                  </a:lnTo>
                  <a:lnTo>
                    <a:pt x="5008429" y="3618568"/>
                  </a:lnTo>
                  <a:lnTo>
                    <a:pt x="5043027" y="3595249"/>
                  </a:lnTo>
                  <a:lnTo>
                    <a:pt x="5066361" y="3560661"/>
                  </a:lnTo>
                  <a:lnTo>
                    <a:pt x="5074920" y="3518306"/>
                  </a:lnTo>
                  <a:lnTo>
                    <a:pt x="5074920" y="108839"/>
                  </a:lnTo>
                  <a:lnTo>
                    <a:pt x="5066361" y="66490"/>
                  </a:lnTo>
                  <a:lnTo>
                    <a:pt x="5043027" y="31892"/>
                  </a:lnTo>
                  <a:lnTo>
                    <a:pt x="5008429" y="8558"/>
                  </a:lnTo>
                  <a:lnTo>
                    <a:pt x="4966081" y="0"/>
                  </a:lnTo>
                  <a:close/>
                </a:path>
              </a:pathLst>
            </a:custGeom>
            <a:solidFill>
              <a:srgbClr val="F4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72200" y="2545079"/>
              <a:ext cx="5074920" cy="3627120"/>
            </a:xfrm>
            <a:custGeom>
              <a:avLst/>
              <a:gdLst/>
              <a:ahLst/>
              <a:cxnLst/>
              <a:rect l="l" t="t" r="r" b="b"/>
              <a:pathLst>
                <a:path w="5074920" h="3627120">
                  <a:moveTo>
                    <a:pt x="0" y="108839"/>
                  </a:moveTo>
                  <a:lnTo>
                    <a:pt x="8558" y="66490"/>
                  </a:lnTo>
                  <a:lnTo>
                    <a:pt x="31892" y="31892"/>
                  </a:lnTo>
                  <a:lnTo>
                    <a:pt x="66490" y="8558"/>
                  </a:lnTo>
                  <a:lnTo>
                    <a:pt x="108838" y="0"/>
                  </a:lnTo>
                  <a:lnTo>
                    <a:pt x="4966081" y="0"/>
                  </a:lnTo>
                  <a:lnTo>
                    <a:pt x="5008429" y="8558"/>
                  </a:lnTo>
                  <a:lnTo>
                    <a:pt x="5043027" y="31892"/>
                  </a:lnTo>
                  <a:lnTo>
                    <a:pt x="5066361" y="66490"/>
                  </a:lnTo>
                  <a:lnTo>
                    <a:pt x="5074920" y="108839"/>
                  </a:lnTo>
                  <a:lnTo>
                    <a:pt x="5074920" y="3518306"/>
                  </a:lnTo>
                  <a:lnTo>
                    <a:pt x="5066361" y="3560661"/>
                  </a:lnTo>
                  <a:lnTo>
                    <a:pt x="5043027" y="3595249"/>
                  </a:lnTo>
                  <a:lnTo>
                    <a:pt x="5008429" y="3618568"/>
                  </a:lnTo>
                  <a:lnTo>
                    <a:pt x="4966081" y="3627120"/>
                  </a:lnTo>
                  <a:lnTo>
                    <a:pt x="108838" y="3627120"/>
                  </a:lnTo>
                  <a:lnTo>
                    <a:pt x="66490" y="3618568"/>
                  </a:lnTo>
                  <a:lnTo>
                    <a:pt x="31892" y="3595249"/>
                  </a:lnTo>
                  <a:lnTo>
                    <a:pt x="8558" y="3560661"/>
                  </a:lnTo>
                  <a:lnTo>
                    <a:pt x="0" y="3518306"/>
                  </a:lnTo>
                  <a:lnTo>
                    <a:pt x="0" y="108839"/>
                  </a:lnTo>
                  <a:close/>
                </a:path>
              </a:pathLst>
            </a:custGeom>
            <a:ln w="12700">
              <a:solidFill>
                <a:srgbClr val="E0ED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80428" y="2760421"/>
            <a:ext cx="176212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TOOLS</a:t>
            </a:r>
            <a:r>
              <a:rPr dirty="0" sz="1350" spc="250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b="1">
                <a:solidFill>
                  <a:srgbClr val="018090"/>
                </a:solidFill>
                <a:latin typeface="Calibri"/>
                <a:cs typeface="Calibri"/>
              </a:rPr>
              <a:t>&amp;</a:t>
            </a:r>
            <a:r>
              <a:rPr dirty="0" sz="1350" spc="235" b="1">
                <a:solidFill>
                  <a:srgbClr val="018090"/>
                </a:solidFill>
                <a:latin typeface="Calibri"/>
                <a:cs typeface="Calibri"/>
              </a:rPr>
              <a:t> </a:t>
            </a:r>
            <a:r>
              <a:rPr dirty="0" sz="1350" spc="45" b="1">
                <a:solidFill>
                  <a:srgbClr val="018090"/>
                </a:solidFill>
                <a:latin typeface="Calibri"/>
                <a:cs typeface="Calibri"/>
              </a:rPr>
              <a:t>TECHNIQUES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55"/>
              </a:lnSpc>
            </a:pPr>
            <a:r>
              <a:rPr dirty="0" spc="-25"/>
              <a:t>15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80428" y="3091103"/>
            <a:ext cx="4491990" cy="99949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Tableau</a:t>
            </a:r>
            <a:r>
              <a:rPr dirty="0" sz="1150" spc="-3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05F6B"/>
                </a:solidFill>
                <a:latin typeface="Calibri"/>
                <a:cs typeface="Calibri"/>
              </a:rPr>
              <a:t>proportional-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symbol</a:t>
            </a:r>
            <a:r>
              <a:rPr dirty="0" sz="1150" spc="-3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maps —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used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for</a:t>
            </a:r>
            <a:r>
              <a:rPr dirty="0" sz="1150" spc="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150" spc="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Cost by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State</a:t>
            </a:r>
            <a:r>
              <a:rPr dirty="0" sz="1150" spc="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visual.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Tableau</a:t>
            </a:r>
            <a:r>
              <a:rPr dirty="0" sz="1150" spc="-4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highlight</a:t>
            </a:r>
            <a:r>
              <a:rPr dirty="0" sz="1150" spc="-5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tables</a:t>
            </a:r>
            <a:r>
              <a:rPr dirty="0" sz="1150" spc="-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20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heat-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map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shading</a:t>
            </a:r>
            <a:r>
              <a:rPr dirty="0" sz="1150" spc="-2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surfaces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the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highest-</a:t>
            </a:r>
            <a:endParaRPr sz="1150">
              <a:latin typeface="Calibri"/>
              <a:cs typeface="Calibri"/>
            </a:endParaRPr>
          </a:p>
          <a:p>
            <a:pPr marL="215265">
              <a:lnSpc>
                <a:spcPct val="100000"/>
              </a:lnSpc>
              <a:spcBef>
                <a:spcPts val="165"/>
              </a:spcBef>
            </a:pP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claim</a:t>
            </a:r>
            <a:r>
              <a:rPr dirty="0" sz="1150" spc="-2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cells.</a:t>
            </a:r>
            <a:endParaRPr sz="1150">
              <a:latin typeface="Calibri"/>
              <a:cs typeface="Calibri"/>
            </a:endParaRPr>
          </a:p>
          <a:p>
            <a:pPr marL="215265" indent="-2025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15265" algn="l"/>
              </a:tabLst>
            </a:pP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Filters</a:t>
            </a:r>
            <a:r>
              <a:rPr dirty="0" sz="1150" spc="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05F6B"/>
                </a:solidFill>
                <a:latin typeface="Calibri"/>
                <a:cs typeface="Calibri"/>
              </a:rPr>
              <a:t>—</a:t>
            </a:r>
            <a:r>
              <a:rPr dirty="0" sz="1150" spc="-15" b="1">
                <a:solidFill>
                  <a:srgbClr val="005F6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Condition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 checklist,</a:t>
            </a:r>
            <a:r>
              <a:rPr dirty="0" sz="1150" spc="-3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Total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Cost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range</a:t>
            </a:r>
            <a:r>
              <a:rPr dirty="0" sz="1150" spc="-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63139"/>
                </a:solidFill>
                <a:latin typeface="Calibri"/>
                <a:cs typeface="Calibri"/>
              </a:rPr>
              <a:t>slider,</a:t>
            </a:r>
            <a:r>
              <a:rPr dirty="0" sz="1150" spc="-15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Admission</a:t>
            </a:r>
            <a:r>
              <a:rPr dirty="0" sz="1150" spc="-40">
                <a:solidFill>
                  <a:srgbClr val="163139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63139"/>
                </a:solidFill>
                <a:latin typeface="Calibri"/>
                <a:cs typeface="Calibri"/>
              </a:rPr>
              <a:t>Year.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153" y="398475"/>
            <a:ext cx="12884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W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R</a:t>
            </a:r>
            <a:r>
              <a:rPr dirty="0" sz="1300" spc="-9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A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r>
              <a:rPr dirty="0" sz="1300" spc="-100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I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N</a:t>
            </a:r>
            <a:r>
              <a:rPr dirty="0" sz="1300" spc="-9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A895"/>
                </a:solidFill>
                <a:latin typeface="Calibri"/>
                <a:cs typeface="Calibri"/>
              </a:rPr>
              <a:t>G</a:t>
            </a:r>
            <a:r>
              <a:rPr dirty="0" sz="1300" spc="40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A895"/>
                </a:solidFill>
                <a:latin typeface="Calibri"/>
                <a:cs typeface="Calibri"/>
              </a:rPr>
              <a:t>U</a:t>
            </a:r>
            <a:r>
              <a:rPr dirty="0" sz="1300" spc="-85" b="1">
                <a:solidFill>
                  <a:srgbClr val="00A895"/>
                </a:solidFill>
                <a:latin typeface="Calibri"/>
                <a:cs typeface="Calibri"/>
              </a:rPr>
              <a:t> </a:t>
            </a:r>
            <a:r>
              <a:rPr dirty="0" sz="1300" spc="-50" b="1">
                <a:solidFill>
                  <a:srgbClr val="00A895"/>
                </a:solidFill>
                <a:latin typeface="Calibri"/>
                <a:cs typeface="Calibri"/>
              </a:rPr>
              <a:t>P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120"/>
              <a:t> </a:t>
            </a:r>
            <a:r>
              <a:rPr dirty="0" spc="-60"/>
              <a:t>Takeaways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22960" y="1737360"/>
            <a:ext cx="5074920" cy="1600200"/>
            <a:chOff x="822960" y="1737360"/>
            <a:chExt cx="5074920" cy="1600200"/>
          </a:xfrm>
        </p:grpSpPr>
        <p:sp>
          <p:nvSpPr>
            <p:cNvPr id="5" name="object 5"/>
            <p:cNvSpPr/>
            <p:nvPr/>
          </p:nvSpPr>
          <p:spPr>
            <a:xfrm>
              <a:off x="822960" y="1737360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527048"/>
                  </a:lnTo>
                  <a:lnTo>
                    <a:pt x="5748" y="1555515"/>
                  </a:lnTo>
                  <a:lnTo>
                    <a:pt x="21424" y="1578768"/>
                  </a:lnTo>
                  <a:lnTo>
                    <a:pt x="44673" y="1594449"/>
                  </a:lnTo>
                  <a:lnTo>
                    <a:pt x="73139" y="1600200"/>
                  </a:lnTo>
                  <a:lnTo>
                    <a:pt x="5001768" y="1600200"/>
                  </a:lnTo>
                  <a:lnTo>
                    <a:pt x="5030235" y="1594449"/>
                  </a:lnTo>
                  <a:lnTo>
                    <a:pt x="5053488" y="1578768"/>
                  </a:lnTo>
                  <a:lnTo>
                    <a:pt x="5069169" y="1555515"/>
                  </a:lnTo>
                  <a:lnTo>
                    <a:pt x="5074920" y="1527048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51560" y="1965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icons/check_teal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4717" y="2079117"/>
              <a:ext cx="276606" cy="27660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770633" y="2036825"/>
            <a:ext cx="175450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5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datasets</a:t>
            </a:r>
            <a:r>
              <a:rPr dirty="0" sz="14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→ 1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 dataset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604" y="2697277"/>
            <a:ext cx="4451350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</a:pP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Consolidated</a:t>
            </a:r>
            <a:r>
              <a:rPr dirty="0" sz="11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fragmented</a:t>
            </a:r>
            <a:r>
              <a:rPr dirty="0" sz="11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hospital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dirty="0" sz="11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into a single,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 analysis-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ready</a:t>
            </a:r>
            <a:r>
              <a:rPr dirty="0" sz="11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1,000</a:t>
            </a:r>
            <a:r>
              <a:rPr dirty="0" sz="11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50">
                <a:solidFill>
                  <a:srgbClr val="FFFFFF"/>
                </a:solidFill>
                <a:latin typeface="Calibri"/>
                <a:cs typeface="Calibri"/>
              </a:rPr>
              <a:t>×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 table.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2200" y="1737360"/>
            <a:ext cx="5074920" cy="1600200"/>
            <a:chOff x="6172200" y="1737360"/>
            <a:chExt cx="5074920" cy="1600200"/>
          </a:xfrm>
        </p:grpSpPr>
        <p:sp>
          <p:nvSpPr>
            <p:cNvPr id="11" name="object 11"/>
            <p:cNvSpPr/>
            <p:nvPr/>
          </p:nvSpPr>
          <p:spPr>
            <a:xfrm>
              <a:off x="6172200" y="1737360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527048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5001768" y="1600200"/>
                  </a:lnTo>
                  <a:lnTo>
                    <a:pt x="5030235" y="1594449"/>
                  </a:lnTo>
                  <a:lnTo>
                    <a:pt x="5053488" y="1578768"/>
                  </a:lnTo>
                  <a:lnTo>
                    <a:pt x="5069169" y="1555515"/>
                  </a:lnTo>
                  <a:lnTo>
                    <a:pt x="5074920" y="1527048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00800" y="196596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icons/check_teal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3956" y="2079117"/>
              <a:ext cx="276605" cy="27660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20508" y="2036825"/>
            <a:ext cx="147701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6+</a:t>
            </a:r>
            <a:r>
              <a:rPr dirty="0" sz="14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KPIs</a:t>
            </a:r>
            <a:r>
              <a:rPr dirty="0" sz="14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engineered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0428" y="2697277"/>
            <a:ext cx="3985895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</a:pP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Admissions,</a:t>
            </a:r>
            <a:r>
              <a:rPr dirty="0" sz="11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LOS,</a:t>
            </a:r>
            <a:r>
              <a:rPr dirty="0" sz="11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Bed</a:t>
            </a:r>
            <a:r>
              <a:rPr dirty="0" sz="11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Utilization,</a:t>
            </a:r>
            <a:r>
              <a:rPr dirty="0" sz="11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Occupancy</a:t>
            </a:r>
            <a:r>
              <a:rPr dirty="0" sz="11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1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Readmission</a:t>
            </a:r>
            <a:r>
              <a:rPr dirty="0" sz="11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20">
                <a:solidFill>
                  <a:srgbClr val="FFFFFF"/>
                </a:solidFill>
                <a:latin typeface="Calibri"/>
                <a:cs typeface="Calibri"/>
              </a:rPr>
              <a:t>Rate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calculated</a:t>
            </a:r>
            <a:r>
              <a:rPr dirty="0" sz="11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1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validated.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2960" y="3566159"/>
            <a:ext cx="5074920" cy="1600200"/>
            <a:chOff x="822960" y="3566159"/>
            <a:chExt cx="5074920" cy="1600200"/>
          </a:xfrm>
        </p:grpSpPr>
        <p:sp>
          <p:nvSpPr>
            <p:cNvPr id="17" name="object 17"/>
            <p:cNvSpPr/>
            <p:nvPr/>
          </p:nvSpPr>
          <p:spPr>
            <a:xfrm>
              <a:off x="822960" y="356615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527047"/>
                  </a:lnTo>
                  <a:lnTo>
                    <a:pt x="5748" y="1555515"/>
                  </a:lnTo>
                  <a:lnTo>
                    <a:pt x="21424" y="1578768"/>
                  </a:lnTo>
                  <a:lnTo>
                    <a:pt x="44673" y="1594449"/>
                  </a:lnTo>
                  <a:lnTo>
                    <a:pt x="73139" y="1600200"/>
                  </a:lnTo>
                  <a:lnTo>
                    <a:pt x="5001768" y="1600200"/>
                  </a:lnTo>
                  <a:lnTo>
                    <a:pt x="5030235" y="1594449"/>
                  </a:lnTo>
                  <a:lnTo>
                    <a:pt x="5053488" y="1578768"/>
                  </a:lnTo>
                  <a:lnTo>
                    <a:pt x="5069169" y="1555515"/>
                  </a:lnTo>
                  <a:lnTo>
                    <a:pt x="5074920" y="1527047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51560" y="37947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59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icons/check_teal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4717" y="3907916"/>
              <a:ext cx="276606" cy="27660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770633" y="3865879"/>
            <a:ext cx="1805939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0" b="1">
                <a:solidFill>
                  <a:srgbClr val="FFFFFF"/>
                </a:solidFill>
                <a:latin typeface="Calibri"/>
                <a:cs typeface="Calibri"/>
              </a:rPr>
              <a:t>4-</a:t>
            </a: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page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dirty="0" sz="14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suite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0604" y="4652898"/>
            <a:ext cx="43478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Delivered</a:t>
            </a:r>
            <a:r>
              <a:rPr dirty="0" sz="11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independently</a:t>
            </a:r>
            <a:r>
              <a:rPr dirty="0" sz="11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1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dirty="0" sz="11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Tableau</a:t>
            </a:r>
            <a:r>
              <a:rPr dirty="0" sz="11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1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Power</a:t>
            </a:r>
            <a:r>
              <a:rPr dirty="0" sz="11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BI,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dirty="0" sz="11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filter-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linked.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2200" y="3566159"/>
            <a:ext cx="5074920" cy="1600200"/>
            <a:chOff x="6172200" y="3566159"/>
            <a:chExt cx="5074920" cy="1600200"/>
          </a:xfrm>
        </p:grpSpPr>
        <p:sp>
          <p:nvSpPr>
            <p:cNvPr id="23" name="object 23"/>
            <p:cNvSpPr/>
            <p:nvPr/>
          </p:nvSpPr>
          <p:spPr>
            <a:xfrm>
              <a:off x="6172200" y="3566159"/>
              <a:ext cx="5074920" cy="1600200"/>
            </a:xfrm>
            <a:custGeom>
              <a:avLst/>
              <a:gdLst/>
              <a:ahLst/>
              <a:cxnLst/>
              <a:rect l="l" t="t" r="r" b="b"/>
              <a:pathLst>
                <a:path w="5074920" h="1600200">
                  <a:moveTo>
                    <a:pt x="50017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527047"/>
                  </a:lnTo>
                  <a:lnTo>
                    <a:pt x="5750" y="1555515"/>
                  </a:lnTo>
                  <a:lnTo>
                    <a:pt x="21431" y="1578768"/>
                  </a:lnTo>
                  <a:lnTo>
                    <a:pt x="44684" y="1594449"/>
                  </a:lnTo>
                  <a:lnTo>
                    <a:pt x="73151" y="1600200"/>
                  </a:lnTo>
                  <a:lnTo>
                    <a:pt x="5001768" y="1600200"/>
                  </a:lnTo>
                  <a:lnTo>
                    <a:pt x="5030235" y="1594449"/>
                  </a:lnTo>
                  <a:lnTo>
                    <a:pt x="5053488" y="1578768"/>
                  </a:lnTo>
                  <a:lnTo>
                    <a:pt x="5069169" y="1555515"/>
                  </a:lnTo>
                  <a:lnTo>
                    <a:pt x="5074920" y="1527047"/>
                  </a:lnTo>
                  <a:lnTo>
                    <a:pt x="5074920" y="73151"/>
                  </a:lnTo>
                  <a:lnTo>
                    <a:pt x="5069169" y="44684"/>
                  </a:lnTo>
                  <a:lnTo>
                    <a:pt x="5053488" y="21431"/>
                  </a:lnTo>
                  <a:lnTo>
                    <a:pt x="5030235" y="5750"/>
                  </a:lnTo>
                  <a:lnTo>
                    <a:pt x="5001768" y="0"/>
                  </a:lnTo>
                  <a:close/>
                </a:path>
              </a:pathLst>
            </a:custGeom>
            <a:solidFill>
              <a:srgbClr val="00A8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400800" y="379475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icons/check_teal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3956" y="3907916"/>
              <a:ext cx="276605" cy="27660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120508" y="3865879"/>
            <a:ext cx="147256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Calibri"/>
                <a:cs typeface="Calibri"/>
              </a:rPr>
              <a:t>Actionable</a:t>
            </a:r>
            <a:r>
              <a:rPr dirty="0" sz="14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HOSPITAL</a:t>
            </a:r>
            <a:r>
              <a:rPr dirty="0" spc="-15"/>
              <a:t> </a:t>
            </a:r>
            <a:r>
              <a:rPr dirty="0" spc="-10"/>
              <a:t>OPERATION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PATIENT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1575795" y="6616013"/>
            <a:ext cx="14160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25">
                <a:solidFill>
                  <a:srgbClr val="5B6D73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80428" y="4526330"/>
            <a:ext cx="4251960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</a:pP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dirty="0" sz="11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drivers,</a:t>
            </a:r>
            <a:r>
              <a:rPr dirty="0" sz="11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capacity</a:t>
            </a:r>
            <a:r>
              <a:rPr dirty="0" sz="11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pressure</a:t>
            </a:r>
            <a:r>
              <a:rPr dirty="0" sz="11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dirty="0" sz="11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1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staffing</a:t>
            </a:r>
            <a:r>
              <a:rPr dirty="0" sz="11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patterns</a:t>
            </a:r>
            <a:r>
              <a:rPr dirty="0" sz="11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FFFFFF"/>
                </a:solidFill>
                <a:latin typeface="Calibri"/>
                <a:cs typeface="Calibri"/>
              </a:rPr>
              <a:t>surfaced</a:t>
            </a:r>
            <a:r>
              <a:rPr dirty="0" sz="11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dirty="0" sz="1150" spc="-10">
                <a:solidFill>
                  <a:srgbClr val="FFFFFF"/>
                </a:solidFill>
                <a:latin typeface="Calibri"/>
                <a:cs typeface="Calibri"/>
              </a:rPr>
              <a:t>administrators.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Meera Jasmine Shaik</dc:creator>
  <dcterms:created xsi:type="dcterms:W3CDTF">2026-09-17T17:29:33Z</dcterms:created>
  <dcterms:modified xsi:type="dcterms:W3CDTF">2026-09-17T17:29:33Z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2026-09-17T00:00:00Z</vt:filetime>
  </property>
  <property fmtid="{D5CDD505-2E9C-101B-9397-08002B2CF9AE}" pid="5" name="Producer">
    <vt:lpwstr>Microsoft® PowerPoint® 2021</vt:lpwstr>
  </property>
</Properties>
</file>