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857C"/>
    <a:srgbClr val="0B3C39"/>
    <a:srgbClr val="D9E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23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4F4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6" name="Image 0" descr="/home/claude/work/assets/icon_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540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 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" y="26517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MedTrack_DV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9EF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Operations &amp; Patient Analytics Dashboard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completed four-dashboard analytics suite, implemented in both Power BI and Tableau.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892040"/>
            <a:ext cx="5120640" cy="0"/>
          </a:xfrm>
          <a:prstGeom prst="line">
            <a:avLst/>
          </a:prstGeom>
          <a:noFill/>
          <a:ln w="12700">
            <a:solidFill>
              <a:srgbClr val="1E7A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5074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— Data Visualization (Batch 2)
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Pricilla G
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Artificial Intelligence &amp; Data Science, Arunachala College of Engineering for Women
GitHub Branch: Pricilla-G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data, turned into four live dashboards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takes hospital operations data through preparation, KPI engineering and dashboard development, presenting hospital performance through Power BI and Tableau. The project is organized into eight modules, each with a clear input and output, ending in a completed four-dashboard analytics suite.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468880"/>
            <a:ext cx="731520" cy="731520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7" name="Image 0" descr="/home/claude/work/assets/icon_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095" y="26590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Overview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hospital performance and major KPIs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22402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0540" y="2468880"/>
            <a:ext cx="731520" cy="731520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12" name="Image 1" descr="/home/claude/work/asset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2730" y="2659075"/>
            <a:ext cx="409135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Flow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patient stay and readmission analysis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22402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55180" y="2468880"/>
            <a:ext cx="731520" cy="731520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17" name="Image 2" descr="/home/claude/work/assets/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375" y="26590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Analytics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Department-level volume, performance and efficiency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52560" y="224028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76200" dist="25400" dir="5400000" algn="bl" rotWithShape="0">
              <a:srgbClr val="666666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9820" y="2468880"/>
            <a:ext cx="731520" cy="731520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22" name="Image 3" descr="/home/claude/work/assets/icon_b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015" y="2659075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32918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Utilization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35440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Bed, ward and patient-load analysis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75488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/>
        </p:spPr>
      </p:sp>
      <p:sp>
        <p:nvSpPr>
          <p:cNvPr id="27" name="Text 21"/>
          <p:cNvSpPr/>
          <p:nvPr/>
        </p:nvSpPr>
        <p:spPr>
          <a:xfrm>
            <a:off x="548640" y="4754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1554480" y="475488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/>
        </p:spPr>
      </p:sp>
      <p:sp>
        <p:nvSpPr>
          <p:cNvPr id="29" name="Text 23"/>
          <p:cNvSpPr/>
          <p:nvPr/>
        </p:nvSpPr>
        <p:spPr>
          <a:xfrm>
            <a:off x="1554480" y="475488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291840" y="47548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/>
        </p:spPr>
      </p:sp>
      <p:sp>
        <p:nvSpPr>
          <p:cNvPr id="31" name="Text 25"/>
          <p:cNvSpPr/>
          <p:nvPr/>
        </p:nvSpPr>
        <p:spPr>
          <a:xfrm>
            <a:off x="3291840" y="475488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212080" y="4754880"/>
            <a:ext cx="749808" cy="384048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/>
        </p:spPr>
      </p:sp>
      <p:sp>
        <p:nvSpPr>
          <p:cNvPr id="33" name="Text 27"/>
          <p:cNvSpPr/>
          <p:nvPr/>
        </p:nvSpPr>
        <p:spPr>
          <a:xfrm>
            <a:off x="5212080" y="47548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126480" y="475488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/>
        </p:spPr>
      </p:sp>
      <p:sp>
        <p:nvSpPr>
          <p:cNvPr id="35" name="Text 29"/>
          <p:cNvSpPr/>
          <p:nvPr/>
        </p:nvSpPr>
        <p:spPr>
          <a:xfrm>
            <a:off x="6126480" y="47548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7315200" y="475488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/>
        </p:spPr>
      </p:sp>
      <p:sp>
        <p:nvSpPr>
          <p:cNvPr id="37" name="Text 31"/>
          <p:cNvSpPr/>
          <p:nvPr/>
        </p:nvSpPr>
        <p:spPr>
          <a:xfrm>
            <a:off x="7315200" y="475488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412480" y="475488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D9EFEC"/>
          </a:solidFill>
          <a:ln/>
        </p:spPr>
      </p:sp>
      <p:sp>
        <p:nvSpPr>
          <p:cNvPr id="39" name="Text 33"/>
          <p:cNvSpPr/>
          <p:nvPr/>
        </p:nvSpPr>
        <p:spPr>
          <a:xfrm>
            <a:off x="8412480" y="47548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548640" y="544068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0B4F4C"/>
          </a:solidFill>
          <a:ln/>
        </p:spPr>
      </p:sp>
      <p:sp>
        <p:nvSpPr>
          <p:cNvPr id="41" name="Text 35"/>
          <p:cNvSpPr/>
          <p:nvPr/>
        </p:nvSpPr>
        <p:spPr>
          <a:xfrm>
            <a:off x="822960" y="5440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platforms, one analytical story: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suite was built and validated in both Power BI (MedTrack_DV.pbix) and Tableau (MedTrack_DV.twbx), covering the same four dashboard areas.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029200" cy="4892040"/>
          </a:xfrm>
          <a:prstGeom prst="roundRect">
            <a:avLst>
              <a:gd name="adj" fmla="val 1495"/>
            </a:avLst>
          </a:prstGeom>
          <a:solidFill>
            <a:srgbClr val="0B4F4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generate information from patient admissions, department activity, bed status and other operational activities. Viewed separately, these measures make it difficult to understand the overall operational situation.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154680"/>
            <a:ext cx="4114800" cy="0"/>
          </a:xfrm>
          <a:prstGeom prst="line">
            <a:avLst/>
          </a:prstGeom>
          <a:noFill/>
          <a:ln w="12700">
            <a:solidFill>
              <a:srgbClr val="1E7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37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brings the available measures into a single analytical environment, so hospital information can be viewed through KPIs, charts, filters and dashboard interactions — for administrators, healthcare managers, medical staff and policymakers.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335024"/>
            <a:ext cx="502920" cy="50292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11" name="Image 0" descr="/home/claude/work/assets/icon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919" y="1465783"/>
            <a:ext cx="241402" cy="2414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7960" y="128016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structured hospital dataset for analysis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0" y="2121408"/>
            <a:ext cx="502920" cy="50292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14" name="Image 1" descr="/home/claude/work/assets/icon_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919" y="2252167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37960" y="2066544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standardize the available data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852160" y="2907792"/>
            <a:ext cx="502920" cy="50292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17" name="Image 2" descr="/home/claude/work/assets/icon_cal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2919" y="3038551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85292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important hospital performance KPIs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852160" y="3694176"/>
            <a:ext cx="502920" cy="50292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20" name="Image 3" descr="/home/claude/work/assets/icon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2919" y="3824935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37960" y="3639312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dashboard layout before development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852160" y="4480560"/>
            <a:ext cx="502920" cy="50292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23" name="Image 4" descr="/home/claude/work/assets/icon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2919" y="4611319"/>
            <a:ext cx="241402" cy="24140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37960" y="442569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four dashboards covering hospital operations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852160" y="5266944"/>
            <a:ext cx="502920" cy="50292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26" name="Image 5" descr="/home/claude/work/assets/icon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2919" y="5397703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37960" y="521208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calculations, filters and dashboard behavior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modules, one connected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243584" cy="14173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D9EF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914400" y="1755648"/>
            <a:ext cx="512064" cy="512064"/>
          </a:xfrm>
          <a:prstGeom prst="ellipse">
            <a:avLst/>
          </a:prstGeom>
          <a:solidFill>
            <a:srgbClr val="12857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" y="237744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       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Integration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92224" y="29260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11096" y="2011680"/>
            <a:ext cx="1243584" cy="14630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D9EF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1755648"/>
            <a:ext cx="512064" cy="512064"/>
          </a:xfrm>
          <a:prstGeom prst="ellipse">
            <a:avLst/>
          </a:prstGeom>
          <a:solidFill>
            <a:srgbClr val="1E7A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6856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237744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54680" y="29260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73552" y="2011680"/>
            <a:ext cx="1243584" cy="14721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D9EF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3639312" y="1755648"/>
            <a:ext cx="512064" cy="512064"/>
          </a:xfrm>
          <a:prstGeom prst="ellipse">
            <a:avLst/>
          </a:prstGeom>
          <a:solidFill>
            <a:srgbClr val="12857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28416" y="237744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Hospital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KPI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17136" y="29260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36008" y="2011680"/>
            <a:ext cx="1243584" cy="14721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D9EF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Shape 18"/>
          <p:cNvSpPr/>
          <p:nvPr/>
        </p:nvSpPr>
        <p:spPr>
          <a:xfrm>
            <a:off x="5001768" y="1755648"/>
            <a:ext cx="512064" cy="512064"/>
          </a:xfrm>
          <a:prstGeom prst="ellipse">
            <a:avLst/>
          </a:prstGeom>
          <a:solidFill>
            <a:srgbClr val="1E7A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90872" y="237744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Planning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Storyboard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79592" y="29260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62472" y="2028703"/>
            <a:ext cx="1243584" cy="14721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D9EF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64224" y="1755648"/>
            <a:ext cx="512064" cy="512064"/>
          </a:xfrm>
          <a:prstGeom prst="ellipse">
            <a:avLst/>
          </a:prstGeom>
          <a:solidFill>
            <a:srgbClr val="12857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53328" y="237744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Hospital Overview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Patient Flow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42048" y="29260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60920" y="2011681"/>
            <a:ext cx="1243584" cy="14630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D9EF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26680" y="1755648"/>
            <a:ext cx="512064" cy="512064"/>
          </a:xfrm>
          <a:prstGeom prst="ellipse">
            <a:avLst/>
          </a:prstGeom>
          <a:solidFill>
            <a:srgbClr val="1E7A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26680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15784" y="237744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Resource Utilization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04504" y="29260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723376" y="2011680"/>
            <a:ext cx="1243584" cy="14630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D9EF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9136" y="1755648"/>
            <a:ext cx="512064" cy="512064"/>
          </a:xfrm>
          <a:prstGeom prst="ellipse">
            <a:avLst/>
          </a:prstGeom>
          <a:solidFill>
            <a:srgbClr val="12857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89136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78240" y="237744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966960" y="292608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85832" y="2011680"/>
            <a:ext cx="1243584" cy="14721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D9EF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51592" y="1755648"/>
            <a:ext cx="512064" cy="512064"/>
          </a:xfrm>
          <a:prstGeom prst="ellipse">
            <a:avLst/>
          </a:prstGeom>
          <a:solidFill>
            <a:srgbClr val="1E7A7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51592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140696" y="2377440"/>
            <a:ext cx="1133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Delivery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3400" y="4252057"/>
            <a:ext cx="10789920" cy="1417320"/>
          </a:xfrm>
          <a:prstGeom prst="roundRect">
            <a:avLst>
              <a:gd name="adj" fmla="val 5161"/>
            </a:avLst>
          </a:prstGeom>
          <a:solidFill>
            <a:srgbClr val="D9EFEC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" y="4256240"/>
            <a:ext cx="10149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a clear input and output: raw hospital records flow through cleaning and KPI engineering, into a storyboard-planned set of four dashboards, which are then integrated, tested and documented for GitHub delivery in both Power BI and Tableau.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2120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MERGED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883664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7556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(base table)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450592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3225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017520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88950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584448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4564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+ Bed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151376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023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718304"/>
            <a:ext cx="146304" cy="14630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5902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Employee, Doctor &amp; Staff Assignment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left-to-right on admission_id, patient_id, department_id, ward_id, bed_id and disease_id to build one integrated hospital record.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28016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FIELDS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0" y="18745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Length_of_Stay_Days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2167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discharge_date − admission_date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651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Patient_Age / Age_Group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17920" y="29443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(admission_date − date_of_birth) ÷ 365.25, binned into 6 groups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429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Admission_Month / Year / Quarter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17920" y="3721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dimensions parsed from admission_date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4206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Bed_Occupied_Flag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17920" y="4498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bed_status is occupied, booked or assigned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5074920"/>
            <a:ext cx="4846320" cy="0"/>
          </a:xfrm>
          <a:prstGeom prst="line">
            <a:avLst/>
          </a:prstGeom>
          <a:noFill/>
          <a:ln w="19050">
            <a:solidFill>
              <a:srgbClr val="D9EF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5193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RUN ON THE INTEGRATED FILE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54681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Duplicate-row and duplicate-admission-ID checks · missing-value report by column · overall dataset completeness percentage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— key formulas &amp; logic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rules applied in hospital_cleaning.ipynb to take raw records to a clean, analysis-ready dataset.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3474720" cy="73152"/>
          </a:xfrm>
          <a:prstGeom prst="rect">
            <a:avLst/>
          </a:prstGeom>
          <a:solidFill>
            <a:srgbClr val="12857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Missing Value %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304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(Missing Values ÷ Total Values) × 100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below 2% overall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737360"/>
            <a:ext cx="3474720" cy="73152"/>
          </a:xfrm>
          <a:prstGeom prst="rect">
            <a:avLst/>
          </a:prstGeom>
          <a:solidFill>
            <a:srgbClr val="12857C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Duplicate Removal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89120" y="2304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df.drop_duplicates()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8912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where all columns match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63840" y="17373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63840" y="1737360"/>
            <a:ext cx="3474720" cy="73152"/>
          </a:xfrm>
          <a:prstGeom prst="rect">
            <a:avLst/>
          </a:prstGeom>
          <a:solidFill>
            <a:srgbClr val="12857C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Length of Stay (days)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0" y="23042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Date − Admission Date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→ NaN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657600"/>
            <a:ext cx="3474720" cy="73152"/>
          </a:xfrm>
          <a:prstGeom prst="rect">
            <a:avLst/>
          </a:prstGeom>
          <a:solidFill>
            <a:srgbClr val="12857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Patient Age (years)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1520" y="4224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(Admission Date − Date of Birth) ÷ 365.25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152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if &lt; 0 or &gt; 120 → NaN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3657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06240" y="3657600"/>
            <a:ext cx="3474720" cy="73152"/>
          </a:xfrm>
          <a:prstGeom prst="rect">
            <a:avLst/>
          </a:prstGeom>
          <a:solidFill>
            <a:srgbClr val="12857C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Numeric Imputation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389120" y="4224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→ Column Median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38912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numeric column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63840" y="365760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3657600"/>
            <a:ext cx="3474720" cy="73152"/>
          </a:xfrm>
          <a:prstGeom prst="rect">
            <a:avLst/>
          </a:prstGeom>
          <a:solidFill>
            <a:srgbClr val="12857C"/>
          </a:solidFill>
          <a:ln/>
        </p:spPr>
      </p:sp>
      <p:sp>
        <p:nvSpPr>
          <p:cNvPr id="32" name="Text 30"/>
          <p:cNvSpPr/>
          <p:nvPr/>
        </p:nvSpPr>
        <p:spPr>
          <a:xfrm>
            <a:off x="804672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Categorical Imputation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046720" y="42245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→ "Unknown"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04672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text / category column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KPI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KPIs are calculated from the cleaned dataset in generate_hospital_kpis.py.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FE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Admissions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219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 admission_id)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6916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FEC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Length of Stay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22219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AVG(length_of_stay_days), days ≥ 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16916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FEC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22219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(Patients with &gt;1 admission ÷ Total Unique Patients) × 100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FE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 Utilization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(Occupied Bed Records ÷ Total Admission Records) × 100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3310128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FEC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Occupancy Rate</a:t>
            </a:r>
            <a:endParaRPr lang="en-US" sz="1300" dirty="0">
              <a:solidFill>
                <a:srgbClr val="0B3C3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89120" y="3840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(Occupied Bed Records ÷ Total Bed Records) × 100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3332502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D9EFE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Efficiency Score</a:t>
            </a:r>
            <a:endParaRPr lang="en-US" sz="1300" dirty="0">
              <a:solidFill>
                <a:srgbClr val="0B3C39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6720" y="38404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0.40 × Admission Efficiency + 0.30 × Bed Utilization + 0.30 × LOS Efficiency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does not specify a fixed efficiency formula, so a transparent, explainable composite score is used for Department Efficiency — higher score means better relative departmental efficiency (weights: 40% admissions scaled against the busiest department, 30% share of records linked to an occupied bed, 30% inverse of average length of stay).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Planning &amp; Storyboard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development, the storyboard defined structure, information placement and analytical flow for all four dashboards. Deliverable: dashboard_Storyboard.pdf.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2606040" cy="73152"/>
          </a:xfrm>
          <a:prstGeom prst="rect">
            <a:avLst/>
          </a:prstGeom>
          <a:solidFill>
            <a:srgbClr val="12857C"/>
          </a:solidFill>
          <a:ln/>
        </p:spPr>
      </p:sp>
      <p:sp>
        <p:nvSpPr>
          <p:cNvPr id="7" name="Shape 5"/>
          <p:cNvSpPr/>
          <p:nvPr/>
        </p:nvSpPr>
        <p:spPr>
          <a:xfrm>
            <a:off x="1467612" y="2286000"/>
            <a:ext cx="768096" cy="768096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8" name="Image 0" descr="/home/claude/work/assets/icon_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317" y="2485705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Overview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KPIs, admissions and overall performance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1965960"/>
            <a:ext cx="2606040" cy="73152"/>
          </a:xfrm>
          <a:prstGeom prst="rect">
            <a:avLst/>
          </a:prstGeom>
          <a:solidFill>
            <a:srgbClr val="12857C"/>
          </a:solidFill>
          <a:ln/>
        </p:spPr>
      </p:sp>
      <p:sp>
        <p:nvSpPr>
          <p:cNvPr id="13" name="Shape 10"/>
          <p:cNvSpPr/>
          <p:nvPr/>
        </p:nvSpPr>
        <p:spPr>
          <a:xfrm>
            <a:off x="4302252" y="2286000"/>
            <a:ext cx="768096" cy="768096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14" name="Image 1" descr="/home/claude/work/assets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957" y="2485705"/>
            <a:ext cx="368686" cy="36868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Flow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stay-related measures and readmission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965960"/>
            <a:ext cx="2606040" cy="73152"/>
          </a:xfrm>
          <a:prstGeom prst="rect">
            <a:avLst/>
          </a:prstGeom>
          <a:solidFill>
            <a:srgbClr val="12857C"/>
          </a:solidFill>
          <a:ln/>
        </p:spPr>
      </p:sp>
      <p:sp>
        <p:nvSpPr>
          <p:cNvPr id="19" name="Shape 15"/>
          <p:cNvSpPr/>
          <p:nvPr/>
        </p:nvSpPr>
        <p:spPr>
          <a:xfrm>
            <a:off x="7136892" y="2286000"/>
            <a:ext cx="768096" cy="768096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20" name="Image 2" descr="/home/claude/work/assets/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597" y="2485705"/>
            <a:ext cx="368686" cy="368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Analytics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0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volume, LOS and efficiency comparison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052560" y="19659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052560" y="1965960"/>
            <a:ext cx="2606040" cy="73152"/>
          </a:xfrm>
          <a:prstGeom prst="rect">
            <a:avLst/>
          </a:prstGeom>
          <a:solidFill>
            <a:srgbClr val="1E7A73"/>
          </a:solidFill>
          <a:ln/>
        </p:spPr>
      </p:sp>
      <p:sp>
        <p:nvSpPr>
          <p:cNvPr id="25" name="Shape 20"/>
          <p:cNvSpPr/>
          <p:nvPr/>
        </p:nvSpPr>
        <p:spPr>
          <a:xfrm>
            <a:off x="9971532" y="2286000"/>
            <a:ext cx="768096" cy="768096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26" name="Image 3" descr="/home/claude/work/assets/icon_b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1237" y="2485705"/>
            <a:ext cx="368686" cy="36868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897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Utilization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235440" y="36118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Beds, ward types, patient load and resource analysis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48640" y="5029200"/>
            <a:ext cx="10789920" cy="1188720"/>
          </a:xfrm>
          <a:prstGeom prst="roundRect">
            <a:avLst>
              <a:gd name="adj" fmla="val 6154"/>
            </a:avLst>
          </a:prstGeom>
          <a:solidFill>
            <a:srgbClr val="0B4F4C"/>
          </a:solidFill>
          <a:ln/>
        </p:spPr>
      </p:sp>
      <p:sp>
        <p:nvSpPr>
          <p:cNvPr id="30" name="Shape 24"/>
          <p:cNvSpPr/>
          <p:nvPr/>
        </p:nvSpPr>
        <p:spPr>
          <a:xfrm>
            <a:off x="868680" y="5257800"/>
            <a:ext cx="731520" cy="731520"/>
          </a:xfrm>
          <a:prstGeom prst="ellipse">
            <a:avLst/>
          </a:prstGeom>
          <a:solidFill>
            <a:srgbClr val="1E7A73"/>
          </a:solidFill>
          <a:ln/>
        </p:spPr>
      </p:sp>
      <p:pic>
        <p:nvPicPr>
          <p:cNvPr id="31" name="Image 4" descr="/home/claude/work/assets/icon_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875" y="5447995"/>
            <a:ext cx="351130" cy="3511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828800" y="502920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interactions carried into every dashboard: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range, hospital, department and region filters; cross-dashboard navigation and linking; parameter-driven comparisons.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·  FINAL IMPLEMENTATION (POWER BI)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Overview &amp; Patient Flow</a:t>
            </a:r>
            <a:endParaRPr lang="en-US" sz="2800" dirty="0"/>
          </a:p>
        </p:txBody>
      </p:sp>
      <p:pic>
        <p:nvPicPr>
          <p:cNvPr id="4" name="Image 0" descr="/home/claude/work/assets/dash_hospital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166360" cy="3520440"/>
          </a:xfrm>
          <a:prstGeom prst="rect">
            <a:avLst/>
          </a:prstGeom>
        </p:spPr>
      </p:pic>
      <p:pic>
        <p:nvPicPr>
          <p:cNvPr id="5" name="Image 1" descr="/home/claude/work/assets/dash_patient_flow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9320" y="1417320"/>
            <a:ext cx="5166360" cy="3520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417320"/>
            <a:ext cx="5166360" cy="3520440"/>
          </a:xfrm>
          <a:prstGeom prst="roundRect">
            <a:avLst>
              <a:gd name="adj" fmla="val 1558"/>
            </a:avLst>
          </a:prstGeom>
          <a:ln w="19050">
            <a:solidFill>
              <a:srgbClr val="D9EF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989320" y="1417320"/>
            <a:ext cx="5166360" cy="3520440"/>
          </a:xfrm>
          <a:prstGeom prst="roundRect">
            <a:avLst>
              <a:gd name="adj" fmla="val 1558"/>
            </a:avLst>
          </a:prstGeom>
          <a:ln w="19050">
            <a:solidFill>
              <a:srgbClr val="D9EF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501091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Overview — landing dashboard, carries filters &amp; navigation to the other three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989320" y="501091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— admission trends, length-of-stay distribution &amp; readmission status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MedTrack_DV.pbix / medtrack_dashboard_v1.pbix  ·  mirrored in Tableau (MedTrack_DV.twbx)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FINAL IMPLEMENTATION (POWER BI)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Analytics &amp; Resource Utilization</a:t>
            </a:r>
            <a:endParaRPr lang="en-US" sz="2800" dirty="0"/>
          </a:p>
        </p:txBody>
      </p:sp>
      <p:pic>
        <p:nvPicPr>
          <p:cNvPr id="4" name="Image 0" descr="/home/claude/work/assets/dash_department_analyt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5166360" cy="3520440"/>
          </a:xfrm>
          <a:prstGeom prst="rect">
            <a:avLst/>
          </a:prstGeom>
        </p:spPr>
      </p:pic>
      <p:pic>
        <p:nvPicPr>
          <p:cNvPr id="5" name="Image 1" descr="/home/claude/work/assets/dash_resource_utiliza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9320" y="1417320"/>
            <a:ext cx="5166360" cy="3520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417320"/>
            <a:ext cx="5166360" cy="3520440"/>
          </a:xfrm>
          <a:prstGeom prst="roundRect">
            <a:avLst>
              <a:gd name="adj" fmla="val 1558"/>
            </a:avLst>
          </a:prstGeom>
          <a:ln w="19050">
            <a:solidFill>
              <a:srgbClr val="D9EF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989320" y="1417320"/>
            <a:ext cx="5166360" cy="3520440"/>
          </a:xfrm>
          <a:prstGeom prst="roundRect">
            <a:avLst>
              <a:gd name="adj" fmla="val 1558"/>
            </a:avLst>
          </a:prstGeom>
          <a:ln w="19050">
            <a:solidFill>
              <a:srgbClr val="D9EF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501091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 — efficiency, admissions &amp; LOS by department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989320" y="501091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 — bed status, patient load &amp; capacity by ward type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dashboards share global filters and one-click navigation, unified into a single connected workbook.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0B4F4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CHECKLIST STATUS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16 QA checks verified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91840"/>
            <a:ext cx="3017520" cy="0"/>
          </a:xfrm>
          <a:prstGeom prst="line">
            <a:avLst/>
          </a:prstGeom>
          <a:noFill/>
          <a:ln w="12700">
            <a:solidFill>
              <a:srgbClr val="1E7A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at time of writing: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 Efficiency Score validation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Navigation between dashboards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3017520" cy="0"/>
          </a:xfrm>
          <a:prstGeom prst="line">
            <a:avLst/>
          </a:prstGeom>
          <a:noFill/>
          <a:ln w="12700">
            <a:solidFill>
              <a:srgbClr val="1E7A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 accuracy: above 95%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760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QA_Checklist.md &amp; Dashboard_Testing_Report.md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34840" y="1371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AREAS COVERED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37360"/>
            <a:ext cx="457200" cy="45720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16" name="Image 0" descr="/home/claude/work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856232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0" y="1709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29200" y="19751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checked against the final analytical dataset for the selected filters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434840" y="2450592"/>
            <a:ext cx="457200" cy="45720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20" name="Image 1" descr="/home/claude/work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2569464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0" y="2423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Metrics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029200" y="26883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and discharge metrics verified across filter combinations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434840" y="3163824"/>
            <a:ext cx="457200" cy="45720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24" name="Image 2" descr="/home/claude/work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328269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29200" y="3136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Interactions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029200" y="34015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range, hospital, department and region filters tested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434840" y="3877056"/>
            <a:ext cx="457200" cy="45720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28" name="Image 3" descr="/home/claude/work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3995928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029200" y="38496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Actions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029200" y="4114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Cross-dashboard navigation and parameter-driven actions tested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434840" y="4590288"/>
            <a:ext cx="457200" cy="45720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32" name="Image 4" descr="/home/claude/work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4709160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29200" y="456285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Patient-Flow Analytics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5029200" y="48280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trends, discharge tracking, stay and peak-load analysis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434840" y="5303520"/>
            <a:ext cx="457200" cy="457200"/>
          </a:xfrm>
          <a:prstGeom prst="ellipse">
            <a:avLst/>
          </a:prstGeom>
          <a:solidFill>
            <a:srgbClr val="D9EFEC"/>
          </a:solidFill>
          <a:ln/>
        </p:spPr>
      </p:sp>
      <p:pic>
        <p:nvPicPr>
          <p:cNvPr id="36" name="Image 5" descr="/home/claude/work/asset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5422392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029200" y="52760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&amp; Tableau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5029200" y="55412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PBIX and TWBX files open with visuals and interactions working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Project Delivery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organized for final submission and GitHub delivery, so the work can be understood without opening every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3093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40280" y="17830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data_collection.py, hospital_raw_data.csv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240280"/>
            <a:ext cx="6217920" cy="45720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40280" y="2240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hospital_cleaning.ipynb, hospital_cleaned.csv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40280" y="2697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generate_hospital_kpis.py, hospital_final_dataset.xlsx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154680"/>
            <a:ext cx="6217920" cy="45720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40280" y="31546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dashboard_Storyboard.pdf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611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40280" y="36118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medtrack_dashboard_v1.pbix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069080"/>
            <a:ext cx="6217920" cy="45720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69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240280" y="40690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dashboard files / screenshots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240280" y="45262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MedTrack_DV.pbix, MedTrack_DV.twbx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983480"/>
            <a:ext cx="6217920" cy="45720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240280" y="4983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&amp; milestone documentation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240280" y="54406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22402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246134" y="2510612"/>
            <a:ext cx="4251960" cy="2148840"/>
          </a:xfrm>
          <a:prstGeom prst="roundRect">
            <a:avLst>
              <a:gd name="adj" fmla="val 3404"/>
            </a:avLst>
          </a:prstGeom>
          <a:solidFill>
            <a:srgbClr val="D9EFEC"/>
          </a:solidFill>
          <a:ln/>
        </p:spPr>
      </p:sp>
      <p:sp>
        <p:nvSpPr>
          <p:cNvPr id="32" name="Text 30"/>
          <p:cNvSpPr/>
          <p:nvPr/>
        </p:nvSpPr>
        <p:spPr>
          <a:xfrm>
            <a:off x="7597140" y="29105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MODULE 8 CONTENTS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57614" y="2964991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README.md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project documentation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Milestone documentation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5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submission notes, if required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KPI Outputs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81812" y="1188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figures from the final analytical workbook (hospital_final_dataset.xlsx), covering 10,000 hospital records.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0B4F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391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0B4F4C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0391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5.175 days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17830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0B4F4C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0391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41080" y="178308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0B4F4C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20391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42.51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32520" y="2743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Efficiency Score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737360" y="374904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SHEETS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5394960"/>
            <a:ext cx="140360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2857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5394960"/>
            <a:ext cx="1403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Final_Dataset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089404" y="5394960"/>
            <a:ext cx="12298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2857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089404" y="5394960"/>
            <a:ext cx="12298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KPI_Summary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456432" y="5394960"/>
            <a:ext cx="15773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2857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56432" y="5394960"/>
            <a:ext cx="157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KPI_Definitions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170932" y="53949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2857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70932" y="5394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Department_Analytics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319772" y="5394960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2857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9772" y="539496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3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Monthly_KPIs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52AEBF-1DFD-E23D-96B1-6D9150D9123E}"/>
              </a:ext>
            </a:extLst>
          </p:cNvPr>
          <p:cNvSpPr txBox="1"/>
          <p:nvPr/>
        </p:nvSpPr>
        <p:spPr>
          <a:xfrm>
            <a:off x="2431915" y="4367719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 &amp;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observations from the submitted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7" name="Image 0" descr="/home/claude/work/assets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0866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Surgery leads admissions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has the highest number of admissions, with 2,291 admissions recorded.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6052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1920240"/>
            <a:ext cx="640080" cy="640080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12" name="Image 1" descr="/home/claude/work/assets/icon_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541" y="20866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ICU has the longest stays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3434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has the highest average length of stay, at approximately 10.08 days.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772400" y="1691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1920240"/>
            <a:ext cx="640080" cy="640080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17" name="Image 2" descr="/home/claude/work/assets/ico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421" y="20866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5528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Orthopedics readmits most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955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Orthopedics has the highest department readmission rate, at approximately 30.05%.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2" name="Image 3" descr="/home/claude/work/assets/icon_cal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1" y="43726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Admissions peaked in Mar 2025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1520" y="5394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monthly admission count in the submitted data is 162, in March 2025.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160520" y="3977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FEC"/>
            </a:solidFill>
            <a:prstDash val="solid"/>
          </a:ln>
          <a:effectLst>
            <a:outerShdw blurRad="63500" dist="25400" dir="5400000" algn="bl" rotWithShape="0">
              <a:srgbClr val="666666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89120" y="4206240"/>
            <a:ext cx="640080" cy="640080"/>
          </a:xfrm>
          <a:prstGeom prst="ellipse">
            <a:avLst/>
          </a:prstGeom>
          <a:solidFill>
            <a:srgbClr val="E0A458"/>
          </a:solidFill>
          <a:ln/>
        </p:spPr>
      </p:sp>
      <p:pic>
        <p:nvPicPr>
          <p:cNvPr id="27" name="Image 4" descr="/home/claude/work/assets/icon_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541" y="437266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43400" y="4983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Readmissions peaked in Mar 2023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343400" y="5394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monthly readmission rate in the submitted data is 36.36%, in March 2023.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772400" y="397764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0B4F4C"/>
          </a:solidFill>
          <a:ln/>
        </p:spPr>
      </p:sp>
      <p:sp>
        <p:nvSpPr>
          <p:cNvPr id="31" name="Text 24"/>
          <p:cNvSpPr/>
          <p:nvPr/>
        </p:nvSpPr>
        <p:spPr>
          <a:xfrm>
            <a:off x="795528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Result Summary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955280" y="45720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cleaned records · 6 KPIs generated · 4 dashboards · Power BI + Tableau delivered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4F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029200" cy="5029200"/>
          </a:xfrm>
          <a:prstGeom prst="ellipse">
            <a:avLst/>
          </a:prstGeom>
          <a:solidFill>
            <a:srgbClr val="1E7A7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663440"/>
            <a:ext cx="3840480" cy="3840480"/>
          </a:xfrm>
          <a:prstGeom prst="ellipse">
            <a:avLst/>
          </a:prstGeom>
          <a:solidFill>
            <a:srgbClr val="12857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594360"/>
            <a:ext cx="914400" cy="914400"/>
          </a:xfrm>
          <a:prstGeom prst="ellipse">
            <a:avLst/>
          </a:prstGeom>
          <a:solidFill>
            <a:srgbClr val="12857C"/>
          </a:solidFill>
          <a:ln/>
        </p:spPr>
      </p:sp>
      <p:pic>
        <p:nvPicPr>
          <p:cNvPr id="5" name="Image 0" descr="/home/claude/work/assets/icon_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020" y="8321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6916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20116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645920" y="292608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D9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carries hospital operations data through collection, cleaning, KPI engineering and storyboarding, into four fully interactive dashboards — delivered in both Power BI and Tableau, tested against the final analytical dataset and documented for GitHub delivery.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82396" y="4160520"/>
            <a:ext cx="3291840" cy="0"/>
          </a:xfrm>
          <a:prstGeom prst="line">
            <a:avLst/>
          </a:prstGeom>
          <a:noFill/>
          <a:ln w="12700">
            <a:solidFill>
              <a:srgbClr val="1E7A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82396" y="4599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MedTrack_DV.pbix &amp; MedTrack_DV.twbx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48556" y="4160520"/>
            <a:ext cx="3291840" cy="0"/>
          </a:xfrm>
          <a:prstGeom prst="line">
            <a:avLst/>
          </a:prstGeom>
          <a:noFill/>
          <a:ln w="12700">
            <a:solidFill>
              <a:srgbClr val="1E7A7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48556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448556" y="4599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pricillaabi905-cmyk  ·  Branch: Pricilla-G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14716" y="4160520"/>
            <a:ext cx="3291840" cy="0"/>
          </a:xfrm>
          <a:prstGeom prst="line">
            <a:avLst/>
          </a:prstGeom>
          <a:noFill/>
          <a:ln w="12700">
            <a:solidFill>
              <a:srgbClr val="1E7A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4716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014716" y="4599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Pricilla G — B.Tech AI &amp; Data Science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0" y="60807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portfolio-ready analytics suite, built module by module, milestone by milestone.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MedTrack_DV — Hospital Operations &amp; Patient Analytics Dashboard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0023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1855</Words>
  <Application>Microsoft Office PowerPoint</Application>
  <PresentationFormat>Widescreen</PresentationFormat>
  <Paragraphs>291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pricilla winter</cp:lastModifiedBy>
  <cp:revision>8</cp:revision>
  <dcterms:created xsi:type="dcterms:W3CDTF">2026-09-17T08:09:51Z</dcterms:created>
  <dcterms:modified xsi:type="dcterms:W3CDTF">2026-09-17T13:03:16Z</dcterms:modified>
</cp:coreProperties>
</file>